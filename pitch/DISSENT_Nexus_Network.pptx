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"Every bridge in America gets looked at about once every two years. In between, the only thing anyone consults is a file. Tonight I am going to show you the bridges whose file is 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years between looks. In between, the paperwork IS the bridge as far as any decision-maker is concerned. That is the gap this lives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both head on. Bridges because the record exists. America because that is the only place it exists publicly. Do not say anything is deployed in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Two accounts of the same bridge. The model is graded against the inspector rating but never gets to read one. The product is not a risk score. It is the contradiction.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surface. Left is the map, right is the ranked docket. Top row: the record says 7, physics says 4.7. That gap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scale land. The whole country, live in the browser, and this view does not even need our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in twenty seconds. Land the last line: graded against the rating, never allowed to read one. That is what makes it a second opinion and not an 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lets a technical judge relax. Frozen 2015, calibrated to 2018, everything from 2019 is holdout. And the coverage number is deliberately below its target because we refuse to retune on test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Say out loud that the dumb baseline beats us, 40 to 38, and that it is printed in our own product. Then turn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 sit for two seconds before you say anything. Then: 108 of the 166 were on bridges the paperwork still called fine, and a ranking based on the paperwork cannot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peak. Worst-first found zero of the 108. We found 25. And a failure on a bridge nobody was worried about is the only kind of failure that carries any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judge for a state and a year. Two seconds later the server has pulled two federal files and graded itself. Invite them to try a state where we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All four are enforced in the running product where a judge can check them, including the miss we display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verifiability. Every number is downloadable, nothing was simulated, both halves are live. Then open the console and run the Time Machine on whatever state they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18"/>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37744"/>
          </a:xfrm>
          <a:prstGeom prst="rect">
            <a:avLst/>
          </a:prstGeom>
          <a:noFill/>
          <a:ln/>
        </p:spPr>
        <p:txBody>
          <a:bodyPr wrap="square" lIns="0" tIns="0" rIns="0" bIns="0" rtlCol="0" anchor="t"/>
          <a:lstStyle/>
          <a:p>
            <a:pPr algn="l" indent="0" marL="0">
              <a:buNone/>
            </a:pPr>
            <a:r>
              <a:rPr lang="en-US" sz="1000" b="1" spc="180" kern="0" dirty="0">
                <a:solidFill>
                  <a:srgbClr val="6B7280"/>
                </a:solidFill>
                <a:latin typeface="Courier New" pitchFamily="34" charset="0"/>
                <a:ea typeface="Courier New" pitchFamily="34" charset="-122"/>
                <a:cs typeface="Courier New" pitchFamily="34" charset="-120"/>
              </a:rPr>
              <a:t>AI INNOVATION CHALLENGE 2026 · ROUND 3</a:t>
            </a:r>
            <a:endParaRPr lang="en-US" sz="1000" dirty="0"/>
          </a:p>
        </p:txBody>
      </p:sp>
      <p:sp>
        <p:nvSpPr>
          <p:cNvPr id="3" name="Text 1"/>
          <p:cNvSpPr txBox="1"/>
          <p:nvPr/>
        </p:nvSpPr>
        <p:spPr>
          <a:xfrm>
            <a:off x="768096" y="1298448"/>
            <a:ext cx="10058400" cy="1828800"/>
          </a:xfrm>
          <a:prstGeom prst="rect">
            <a:avLst/>
          </a:prstGeom>
          <a:noFill/>
          <a:ln/>
        </p:spPr>
        <p:txBody>
          <a:bodyPr wrap="square" lIns="0" tIns="0" rIns="0" bIns="0" rtlCol="0" anchor="ctr"/>
          <a:lstStyle/>
          <a:p>
            <a:pPr indent="0" marL="0">
              <a:buNone/>
            </a:pPr>
            <a:r>
              <a:rPr lang="en-US" sz="13000" b="1" spc="-300" kern="0" dirty="0">
                <a:solidFill>
                  <a:srgbClr val="FFFFFF"/>
                </a:solidFill>
                <a:latin typeface="Arial Black" pitchFamily="34" charset="0"/>
                <a:ea typeface="Arial Black" pitchFamily="34" charset="-122"/>
                <a:cs typeface="Arial Black" pitchFamily="34" charset="-120"/>
              </a:rPr>
              <a:t>DISSENT</a:t>
            </a:r>
            <a:endParaRPr lang="en-US" sz="13000" dirty="0"/>
          </a:p>
        </p:txBody>
      </p:sp>
      <p:sp>
        <p:nvSpPr>
          <p:cNvPr id="4" name="Shape 2"/>
          <p:cNvSpPr/>
          <p:nvPr/>
        </p:nvSpPr>
        <p:spPr>
          <a:xfrm>
            <a:off x="822960" y="3401568"/>
            <a:ext cx="2011680" cy="100584"/>
          </a:xfrm>
          <a:prstGeom prst="rect">
            <a:avLst/>
          </a:prstGeom>
          <a:solidFill>
            <a:srgbClr val="E8412F"/>
          </a:solidFill>
          <a:ln/>
        </p:spPr>
      </p:sp>
      <p:sp>
        <p:nvSpPr>
          <p:cNvPr id="5" name="Text 3"/>
          <p:cNvSpPr txBox="1"/>
          <p:nvPr/>
        </p:nvSpPr>
        <p:spPr>
          <a:xfrm>
            <a:off x="822960" y="3712464"/>
            <a:ext cx="9144000" cy="1371600"/>
          </a:xfrm>
          <a:prstGeom prst="rect">
            <a:avLst/>
          </a:prstGeom>
          <a:noFill/>
          <a:ln/>
        </p:spPr>
        <p:txBody>
          <a:bodyPr wrap="square" lIns="0" tIns="0" rIns="0" bIns="0" rtlCol="0" anchor="ctr"/>
          <a:lstStyle/>
          <a:p>
            <a:pPr indent="0" marL="0">
              <a:lnSpc>
                <a:spcPts val="4300"/>
              </a:lnSpc>
              <a:buNone/>
            </a:pPr>
            <a:r>
              <a:rPr lang="en-US" sz="3400" b="1" dirty="0">
                <a:solidFill>
                  <a:srgbClr val="FFFFFF"/>
                </a:solidFill>
                <a:latin typeface="Arial Black" pitchFamily="34" charset="0"/>
                <a:ea typeface="Arial Black" pitchFamily="34" charset="-122"/>
                <a:cs typeface="Arial Black" pitchFamily="34" charset="-120"/>
              </a:rPr>
              <a:t>We audit the paperwork,</a:t>
            </a:r>
            <a:endParaRPr lang="en-US" sz="3400" dirty="0"/>
          </a:p>
          <a:p>
            <a:pPr indent="0" marL="0">
              <a:lnSpc>
                <a:spcPts val="4300"/>
              </a:lnSpc>
              <a:buNone/>
            </a:pPr>
            <a:r>
              <a:rPr lang="en-US" sz="3400" b="1" dirty="0">
                <a:solidFill>
                  <a:srgbClr val="FFFFFF"/>
                </a:solidFill>
                <a:latin typeface="Arial Black" pitchFamily="34" charset="0"/>
                <a:ea typeface="Arial Black" pitchFamily="34" charset="-122"/>
                <a:cs typeface="Arial Black" pitchFamily="34" charset="-120"/>
              </a:rPr>
              <a:t>not the bridge.</a:t>
            </a:r>
            <a:endParaRPr lang="en-US" sz="3400" dirty="0"/>
          </a:p>
        </p:txBody>
      </p:sp>
      <p:sp>
        <p:nvSpPr>
          <p:cNvPr id="6" name="Text 4"/>
          <p:cNvSpPr txBox="1"/>
          <p:nvPr/>
        </p:nvSpPr>
        <p:spPr>
          <a:xfrm>
            <a:off x="822960" y="5742432"/>
            <a:ext cx="5486400" cy="274320"/>
          </a:xfrm>
          <a:prstGeom prst="rect">
            <a:avLst/>
          </a:prstGeom>
          <a:noFill/>
          <a:ln/>
        </p:spPr>
        <p:txBody>
          <a:bodyPr wrap="square" lIns="0" tIns="0" rIns="0" bIns="0" rtlCol="0" anchor="ctr"/>
          <a:lstStyle/>
          <a:p>
            <a:pPr indent="0" marL="0">
              <a:buNone/>
            </a:pPr>
            <a:r>
              <a:rPr lang="en-US" sz="1200" b="1" spc="180" kern="0" dirty="0">
                <a:solidFill>
                  <a:srgbClr val="FFFFFF"/>
                </a:solidFill>
                <a:latin typeface="Courier New" pitchFamily="34" charset="0"/>
                <a:ea typeface="Courier New" pitchFamily="34" charset="-122"/>
                <a:cs typeface="Courier New" pitchFamily="34" charset="-120"/>
              </a:rPr>
              <a:t>TEAM NEXUS NETWORK</a:t>
            </a:r>
            <a:endParaRPr lang="en-US" sz="1200" dirty="0"/>
          </a:p>
        </p:txBody>
      </p:sp>
      <p:sp>
        <p:nvSpPr>
          <p:cNvPr id="7" name="Text 5"/>
          <p:cNvSpPr txBox="1"/>
          <p:nvPr/>
        </p:nvSpPr>
        <p:spPr>
          <a:xfrm>
            <a:off x="822960" y="6053328"/>
            <a:ext cx="5486400" cy="274320"/>
          </a:xfrm>
          <a:prstGeom prst="rect">
            <a:avLst/>
          </a:prstGeom>
          <a:noFill/>
          <a:ln/>
        </p:spPr>
        <p:txBody>
          <a:bodyPr wrap="square" lIns="0" tIns="0" rIns="0" bIns="0" rtlCol="0" anchor="ctr"/>
          <a:lstStyle/>
          <a:p>
            <a:pPr indent="0" marL="0">
              <a:buNone/>
            </a:pPr>
            <a:r>
              <a:rPr lang="en-US" sz="1000" spc="150" kern="0" dirty="0">
                <a:solidFill>
                  <a:srgbClr val="6B7280"/>
                </a:solidFill>
                <a:latin typeface="Courier New" pitchFamily="34" charset="0"/>
                <a:ea typeface="Courier New" pitchFamily="34" charset="-122"/>
                <a:cs typeface="Courier New" pitchFamily="34" charset="-120"/>
              </a:rPr>
              <a:t>DEPT. OF CSE (CYBER SECURITY)</a:t>
            </a:r>
            <a:endParaRPr lang="en-US" sz="1000" dirty="0"/>
          </a:p>
        </p:txBody>
      </p:sp>
      <p:sp>
        <p:nvSpPr>
          <p:cNvPr id="8" name="Text 6"/>
          <p:cNvSpPr txBox="1"/>
          <p:nvPr/>
        </p:nvSpPr>
        <p:spPr>
          <a:xfrm>
            <a:off x="5882335" y="5742432"/>
            <a:ext cx="5486400" cy="274320"/>
          </a:xfrm>
          <a:prstGeom prst="rect">
            <a:avLst/>
          </a:prstGeom>
          <a:noFill/>
          <a:ln/>
        </p:spPr>
        <p:txBody>
          <a:bodyPr wrap="square" lIns="0" tIns="0" rIns="0" bIns="0" rtlCol="0" anchor="ctr"/>
          <a:lstStyle/>
          <a:p>
            <a:pPr algn="r" indent="0" marL="0">
              <a:buNone/>
            </a:pPr>
            <a:r>
              <a:rPr lang="en-US" sz="1200" b="1" spc="100" kern="0" dirty="0">
                <a:solidFill>
                  <a:srgbClr val="E8412F"/>
                </a:solidFill>
                <a:latin typeface="Courier New" pitchFamily="34" charset="0"/>
                <a:ea typeface="Courier New" pitchFamily="34" charset="-122"/>
                <a:cs typeface="Courier New" pitchFamily="34" charset="-120"/>
              </a:rPr>
              <a:t>dissent-nexus.netlify.app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418"/>
        </a:solidFill>
      </p:bgPr>
    </p:bg>
    <p:spTree>
      <p:nvGrpSpPr>
        <p:cNvPr id="1" name=""/>
        <p:cNvGrpSpPr/>
        <p:nvPr/>
      </p:nvGrpSpPr>
      <p:grpSpPr>
        <a:xfrm>
          <a:off x="0" y="0"/>
          <a:ext cx="0" cy="0"/>
          <a:chOff x="0" y="0"/>
          <a:chExt cx="0" cy="0"/>
        </a:xfrm>
      </p:grpSpPr>
      <p:sp>
        <p:nvSpPr>
          <p:cNvPr id="2" name="Text 0"/>
          <p:cNvSpPr txBox="1"/>
          <p:nvPr/>
        </p:nvSpPr>
        <p:spPr>
          <a:xfrm>
            <a:off x="822960" y="777240"/>
            <a:ext cx="5486400" cy="237744"/>
          </a:xfrm>
          <a:prstGeom prst="rect">
            <a:avLst/>
          </a:prstGeom>
          <a:noFill/>
          <a:ln/>
        </p:spPr>
        <p:txBody>
          <a:bodyPr wrap="square" lIns="0" tIns="0" rIns="0" bIns="0" rtlCol="0" anchor="t"/>
          <a:lstStyle/>
          <a:p>
            <a:pPr algn="l" indent="0" marL="0">
              <a:buNone/>
            </a:pPr>
            <a:r>
              <a:rPr lang="en-US" sz="1000" b="1" spc="180" kern="0" dirty="0">
                <a:solidFill>
                  <a:srgbClr val="E8412F"/>
                </a:solidFill>
                <a:latin typeface="Courier New" pitchFamily="34" charset="0"/>
                <a:ea typeface="Courier New" pitchFamily="34" charset="-122"/>
                <a:cs typeface="Courier New" pitchFamily="34" charset="-120"/>
              </a:rPr>
              <a:t>THE PROBLEM</a:t>
            </a:r>
            <a:endParaRPr lang="en-US" sz="1000" dirty="0"/>
          </a:p>
        </p:txBody>
      </p:sp>
      <p:sp>
        <p:nvSpPr>
          <p:cNvPr id="3" name="Text 1"/>
          <p:cNvSpPr txBox="1"/>
          <p:nvPr/>
        </p:nvSpPr>
        <p:spPr>
          <a:xfrm>
            <a:off x="658368" y="1188720"/>
            <a:ext cx="10515600" cy="2286000"/>
          </a:xfrm>
          <a:prstGeom prst="rect">
            <a:avLst/>
          </a:prstGeom>
          <a:noFill/>
          <a:ln/>
        </p:spPr>
        <p:txBody>
          <a:bodyPr wrap="square" lIns="0" tIns="0" rIns="0" bIns="0" rtlCol="0" anchor="ctr"/>
          <a:lstStyle/>
          <a:p>
            <a:pPr indent="0" marL="0">
              <a:buNone/>
            </a:pPr>
            <a:r>
              <a:rPr lang="en-US" sz="20000" b="1" spc="-600" kern="0" dirty="0">
                <a:solidFill>
                  <a:srgbClr val="FFFFFF"/>
                </a:solidFill>
                <a:latin typeface="Arial Black" pitchFamily="34" charset="0"/>
                <a:ea typeface="Arial Black" pitchFamily="34" charset="-122"/>
                <a:cs typeface="Arial Black" pitchFamily="34" charset="-120"/>
              </a:rPr>
              <a:t>730</a:t>
            </a:r>
            <a:pPr indent="0" marL="0">
              <a:buNone/>
            </a:pPr>
            <a:r>
              <a:rPr lang="en-US" sz="4800" b="1" dirty="0">
                <a:solidFill>
                  <a:srgbClr val="E8412F"/>
                </a:solidFill>
                <a:latin typeface="Arial Black" pitchFamily="34" charset="0"/>
                <a:ea typeface="Arial Black" pitchFamily="34" charset="-122"/>
                <a:cs typeface="Arial Black" pitchFamily="34" charset="-120"/>
              </a:rPr>
              <a:t>  days</a:t>
            </a:r>
            <a:endParaRPr lang="en-US" sz="20000" dirty="0"/>
          </a:p>
        </p:txBody>
      </p:sp>
      <p:sp>
        <p:nvSpPr>
          <p:cNvPr id="4" name="Text 2"/>
          <p:cNvSpPr txBox="1"/>
          <p:nvPr/>
        </p:nvSpPr>
        <p:spPr>
          <a:xfrm>
            <a:off x="822960" y="3794760"/>
            <a:ext cx="10058400" cy="731520"/>
          </a:xfrm>
          <a:prstGeom prst="rect">
            <a:avLst/>
          </a:prstGeom>
          <a:noFill/>
          <a:ln/>
        </p:spPr>
        <p:txBody>
          <a:bodyPr wrap="square" lIns="0" tIns="0" rIns="0" bIns="0" rtlCol="0" anchor="ctr"/>
          <a:lstStyle/>
          <a:p>
            <a:pPr indent="0" marL="0">
              <a:lnSpc>
                <a:spcPts val="4100"/>
              </a:lnSpc>
              <a:buNone/>
            </a:pPr>
            <a:r>
              <a:rPr lang="en-US" sz="3200" b="1" dirty="0">
                <a:solidFill>
                  <a:srgbClr val="FFFFFF"/>
                </a:solidFill>
                <a:latin typeface="Arial Black" pitchFamily="34" charset="0"/>
                <a:ea typeface="Arial Black" pitchFamily="34" charset="-122"/>
                <a:cs typeface="Arial Black" pitchFamily="34" charset="-120"/>
              </a:rPr>
              <a:t>between one look at a bridge and the next.</a:t>
            </a:r>
            <a:endParaRPr lang="en-US" sz="3200" dirty="0"/>
          </a:p>
        </p:txBody>
      </p:sp>
      <p:sp>
        <p:nvSpPr>
          <p:cNvPr id="5" name="Text 3"/>
          <p:cNvSpPr txBox="1"/>
          <p:nvPr/>
        </p:nvSpPr>
        <p:spPr>
          <a:xfrm>
            <a:off x="822960" y="4892040"/>
            <a:ext cx="9144000" cy="1005840"/>
          </a:xfrm>
          <a:prstGeom prst="rect">
            <a:avLst/>
          </a:prstGeom>
          <a:noFill/>
          <a:ln/>
        </p:spPr>
        <p:txBody>
          <a:bodyPr wrap="square" lIns="0" tIns="0" rIns="0" bIns="0" rtlCol="0" anchor="ctr"/>
          <a:lstStyle/>
          <a:p>
            <a:pPr indent="0" marL="0">
              <a:lnSpc>
                <a:spcPts val="2800"/>
              </a:lnSpc>
              <a:buNone/>
            </a:pPr>
            <a:r>
              <a:rPr lang="en-US" sz="1800" dirty="0">
                <a:solidFill>
                  <a:srgbClr val="8A8F98"/>
                </a:solidFill>
                <a:latin typeface="Arial" pitchFamily="34" charset="0"/>
                <a:ea typeface="Arial" pitchFamily="34" charset="-122"/>
                <a:cs typeface="Arial" pitchFamily="34" charset="-120"/>
              </a:rPr>
              <a:t>In between, the file is the only thing anyone consults.</a:t>
            </a:r>
            <a:endParaRPr lang="en-US" sz="1800" dirty="0"/>
          </a:p>
          <a:p>
            <a:pPr indent="0" marL="0">
              <a:lnSpc>
                <a:spcPts val="2800"/>
              </a:lnSpc>
              <a:buNone/>
            </a:pPr>
            <a:r>
              <a:rPr lang="en-US" sz="1800" dirty="0">
                <a:solidFill>
                  <a:srgbClr val="8A8F98"/>
                </a:solidFill>
                <a:latin typeface="Arial" pitchFamily="34" charset="0"/>
                <a:ea typeface="Arial" pitchFamily="34" charset="-122"/>
                <a:cs typeface="Arial" pitchFamily="34" charset="-120"/>
              </a:rPr>
              <a:t>The file is standing still. The bridge is not.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37744"/>
          </a:xfrm>
          <a:prstGeom prst="rect">
            <a:avLst/>
          </a:prstGeom>
          <a:noFill/>
          <a:ln/>
        </p:spPr>
        <p:txBody>
          <a:bodyPr wrap="square" lIns="0" tIns="0" rIns="0" bIns="0" rtlCol="0" anchor="t"/>
          <a:lstStyle/>
          <a:p>
            <a:pPr algn="l" indent="0" marL="0">
              <a:buNone/>
            </a:pPr>
            <a:r>
              <a:rPr lang="en-US" sz="1000" b="1" spc="180" kern="0" dirty="0">
                <a:solidFill>
                  <a:srgbClr val="767B84"/>
                </a:solidFill>
                <a:latin typeface="Courier New" pitchFamily="34" charset="0"/>
                <a:ea typeface="Courier New" pitchFamily="34" charset="-122"/>
                <a:cs typeface="Courier New" pitchFamily="34" charset="-120"/>
              </a:rPr>
              <a:t>TWO QUESTIONS YOU ARE ABOUT TO ASK</a:t>
            </a:r>
            <a:endParaRPr lang="en-US" sz="1000" dirty="0"/>
          </a:p>
        </p:txBody>
      </p:sp>
      <p:sp>
        <p:nvSpPr>
          <p:cNvPr id="3" name="Text 1"/>
          <p:cNvSpPr txBox="1"/>
          <p:nvPr/>
        </p:nvSpPr>
        <p:spPr>
          <a:xfrm>
            <a:off x="822960" y="1115568"/>
            <a:ext cx="10545775" cy="914400"/>
          </a:xfrm>
          <a:prstGeom prst="rect">
            <a:avLst/>
          </a:prstGeom>
          <a:noFill/>
          <a:ln/>
        </p:spPr>
        <p:txBody>
          <a:bodyPr wrap="square" lIns="0" tIns="0" rIns="0" bIns="0" rtlCol="0" anchor="t"/>
          <a:lstStyle/>
          <a:p>
            <a:pPr indent="0" marL="0">
              <a:lnSpc>
                <a:spcPts val="4928"/>
              </a:lnSpc>
              <a:buNone/>
            </a:pPr>
            <a:r>
              <a:rPr lang="en-US" sz="4400" b="1" dirty="0">
                <a:solidFill>
                  <a:srgbClr val="101418"/>
                </a:solidFill>
                <a:latin typeface="Arial Black" pitchFamily="34" charset="0"/>
                <a:ea typeface="Arial Black" pitchFamily="34" charset="-122"/>
                <a:cs typeface="Arial Black" pitchFamily="34" charset="-120"/>
              </a:rPr>
              <a:t>Why bridges? Why America?</a:t>
            </a:r>
            <a:endParaRPr lang="en-US" sz="4400" dirty="0"/>
          </a:p>
        </p:txBody>
      </p:sp>
      <p:sp>
        <p:nvSpPr>
          <p:cNvPr id="4" name="Text 2"/>
          <p:cNvSpPr txBox="1"/>
          <p:nvPr/>
        </p:nvSpPr>
        <p:spPr>
          <a:xfrm>
            <a:off x="822960" y="2697480"/>
            <a:ext cx="4892040" cy="274320"/>
          </a:xfrm>
          <a:prstGeom prst="rect">
            <a:avLst/>
          </a:prstGeom>
          <a:noFill/>
          <a:ln/>
        </p:spPr>
        <p:txBody>
          <a:bodyPr wrap="square" lIns="0" tIns="0" rIns="0" bIns="0" rtlCol="0" anchor="ctr"/>
          <a:lstStyle/>
          <a:p>
            <a:pPr indent="0" marL="0">
              <a:buNone/>
            </a:pPr>
            <a:r>
              <a:rPr lang="en-US" sz="1100" b="1" spc="160" kern="0" dirty="0">
                <a:solidFill>
                  <a:srgbClr val="E8412F"/>
                </a:solidFill>
                <a:latin typeface="Courier New" pitchFamily="34" charset="0"/>
                <a:ea typeface="Courier New" pitchFamily="34" charset="-122"/>
                <a:cs typeface="Courier New" pitchFamily="34" charset="-120"/>
              </a:rPr>
              <a:t>WHY BRIDGES</a:t>
            </a:r>
            <a:endParaRPr lang="en-US" sz="1100" dirty="0"/>
          </a:p>
        </p:txBody>
      </p:sp>
      <p:sp>
        <p:nvSpPr>
          <p:cNvPr id="5" name="Shape 3"/>
          <p:cNvSpPr/>
          <p:nvPr/>
        </p:nvSpPr>
        <p:spPr>
          <a:xfrm>
            <a:off x="822960" y="3081528"/>
            <a:ext cx="4892040" cy="50292"/>
          </a:xfrm>
          <a:prstGeom prst="rect">
            <a:avLst/>
          </a:prstGeom>
          <a:solidFill>
            <a:srgbClr val="101418"/>
          </a:solidFill>
          <a:ln/>
        </p:spPr>
      </p:sp>
      <p:sp>
        <p:nvSpPr>
          <p:cNvPr id="6" name="Text 4"/>
          <p:cNvSpPr txBox="1"/>
          <p:nvPr/>
        </p:nvSpPr>
        <p:spPr>
          <a:xfrm>
            <a:off x="822960" y="3319272"/>
            <a:ext cx="4892040" cy="1554480"/>
          </a:xfrm>
          <a:prstGeom prst="rect">
            <a:avLst/>
          </a:prstGeom>
          <a:noFill/>
          <a:ln/>
        </p:spPr>
        <p:txBody>
          <a:bodyPr wrap="square" lIns="0" tIns="0" rIns="0" bIns="0" rtlCol="0" anchor="t"/>
          <a:lstStyle/>
          <a:p>
            <a:pPr indent="0" marL="0">
              <a:lnSpc>
                <a:spcPts val="2500"/>
              </a:lnSpc>
              <a:buNone/>
            </a:pPr>
            <a:r>
              <a:rPr lang="en-US" sz="1600" dirty="0">
                <a:solidFill>
                  <a:srgbClr val="101418"/>
                </a:solidFill>
                <a:latin typeface="Arial" pitchFamily="34" charset="0"/>
                <a:ea typeface="Arial" pitchFamily="34" charset="-122"/>
                <a:cs typeface="Arial" pitchFamily="34" charset="-120"/>
              </a:rPr>
              <a:t>Because it is the one asset class with a record worth auditing: public, national, per-structure, numeric, and thirty-four years deep. You cannot audit a record that does not exist.</a:t>
            </a:r>
            <a:endParaRPr lang="en-US" sz="1600" dirty="0"/>
          </a:p>
        </p:txBody>
      </p:sp>
      <p:sp>
        <p:nvSpPr>
          <p:cNvPr id="7" name="Text 5"/>
          <p:cNvSpPr txBox="1"/>
          <p:nvPr/>
        </p:nvSpPr>
        <p:spPr>
          <a:xfrm>
            <a:off x="822960" y="4983480"/>
            <a:ext cx="4892040" cy="1005840"/>
          </a:xfrm>
          <a:prstGeom prst="rect">
            <a:avLst/>
          </a:prstGeom>
          <a:noFill/>
          <a:ln/>
        </p:spPr>
        <p:txBody>
          <a:bodyPr wrap="square" lIns="0" tIns="0" rIns="0" bIns="0" rtlCol="0" anchor="t"/>
          <a:lstStyle/>
          <a:p>
            <a:pPr indent="0" marL="0">
              <a:lnSpc>
                <a:spcPts val="2100"/>
              </a:lnSpc>
              <a:buNone/>
            </a:pPr>
            <a:r>
              <a:rPr lang="en-US" sz="1350" dirty="0">
                <a:solidFill>
                  <a:srgbClr val="767B84"/>
                </a:solidFill>
                <a:latin typeface="Arial" pitchFamily="34" charset="0"/>
                <a:ea typeface="Arial" pitchFamily="34" charset="-122"/>
                <a:cs typeface="Arial" pitchFamily="34" charset="-120"/>
              </a:rPr>
              <a:t>Buildings have no equivalent. Surfside cost 98 lives and there was nothing to check it against.</a:t>
            </a:r>
            <a:endParaRPr lang="en-US" sz="1350" dirty="0"/>
          </a:p>
        </p:txBody>
      </p:sp>
      <p:sp>
        <p:nvSpPr>
          <p:cNvPr id="8" name="Text 6"/>
          <p:cNvSpPr txBox="1"/>
          <p:nvPr/>
        </p:nvSpPr>
        <p:spPr>
          <a:xfrm>
            <a:off x="6492240" y="2697480"/>
            <a:ext cx="4892040" cy="274320"/>
          </a:xfrm>
          <a:prstGeom prst="rect">
            <a:avLst/>
          </a:prstGeom>
          <a:noFill/>
          <a:ln/>
        </p:spPr>
        <p:txBody>
          <a:bodyPr wrap="square" lIns="0" tIns="0" rIns="0" bIns="0" rtlCol="0" anchor="ctr"/>
          <a:lstStyle/>
          <a:p>
            <a:pPr indent="0" marL="0">
              <a:buNone/>
            </a:pPr>
            <a:r>
              <a:rPr lang="en-US" sz="1100" b="1" spc="160" kern="0" dirty="0">
                <a:solidFill>
                  <a:srgbClr val="E8412F"/>
                </a:solidFill>
                <a:latin typeface="Courier New" pitchFamily="34" charset="0"/>
                <a:ea typeface="Courier New" pitchFamily="34" charset="-122"/>
                <a:cs typeface="Courier New" pitchFamily="34" charset="-120"/>
              </a:rPr>
              <a:t>WHY AMERICA</a:t>
            </a:r>
            <a:endParaRPr lang="en-US" sz="1100" dirty="0"/>
          </a:p>
        </p:txBody>
      </p:sp>
      <p:sp>
        <p:nvSpPr>
          <p:cNvPr id="9" name="Shape 7"/>
          <p:cNvSpPr/>
          <p:nvPr/>
        </p:nvSpPr>
        <p:spPr>
          <a:xfrm>
            <a:off x="6492240" y="3081528"/>
            <a:ext cx="4892040" cy="50292"/>
          </a:xfrm>
          <a:prstGeom prst="rect">
            <a:avLst/>
          </a:prstGeom>
          <a:solidFill>
            <a:srgbClr val="101418"/>
          </a:solidFill>
          <a:ln/>
        </p:spPr>
      </p:sp>
      <p:sp>
        <p:nvSpPr>
          <p:cNvPr id="10" name="Text 8"/>
          <p:cNvSpPr txBox="1"/>
          <p:nvPr/>
        </p:nvSpPr>
        <p:spPr>
          <a:xfrm>
            <a:off x="6492240" y="3319272"/>
            <a:ext cx="4892040" cy="1554480"/>
          </a:xfrm>
          <a:prstGeom prst="rect">
            <a:avLst/>
          </a:prstGeom>
          <a:noFill/>
          <a:ln/>
        </p:spPr>
        <p:txBody>
          <a:bodyPr wrap="square" lIns="0" tIns="0" rIns="0" bIns="0" rtlCol="0" anchor="t"/>
          <a:lstStyle/>
          <a:p>
            <a:pPr indent="0" marL="0">
              <a:lnSpc>
                <a:spcPts val="2500"/>
              </a:lnSpc>
              <a:buNone/>
            </a:pPr>
            <a:r>
              <a:rPr lang="en-US" sz="1600" dirty="0">
                <a:solidFill>
                  <a:srgbClr val="101418"/>
                </a:solidFill>
                <a:latin typeface="Arial" pitchFamily="34" charset="0"/>
                <a:ea typeface="Arial" pitchFamily="34" charset="-122"/>
                <a:cs typeface="Arial" pitchFamily="34" charset="-120"/>
              </a:rPr>
              <a:t>Because that record only exists there. The FHWA publishes every state, every year, free. If you want to prove a model can catch a file drifting from reality, that is where the experiment can be run.</a:t>
            </a:r>
            <a:endParaRPr lang="en-US" sz="1600" dirty="0"/>
          </a:p>
        </p:txBody>
      </p:sp>
      <p:sp>
        <p:nvSpPr>
          <p:cNvPr id="11" name="Text 9"/>
          <p:cNvSpPr txBox="1"/>
          <p:nvPr/>
        </p:nvSpPr>
        <p:spPr>
          <a:xfrm>
            <a:off x="6492240" y="4983480"/>
            <a:ext cx="4892040" cy="1005840"/>
          </a:xfrm>
          <a:prstGeom prst="rect">
            <a:avLst/>
          </a:prstGeom>
          <a:noFill/>
          <a:ln/>
        </p:spPr>
        <p:txBody>
          <a:bodyPr wrap="square" lIns="0" tIns="0" rIns="0" bIns="0" rtlCol="0" anchor="t"/>
          <a:lstStyle/>
          <a:p>
            <a:pPr indent="0" marL="0">
              <a:lnSpc>
                <a:spcPts val="2100"/>
              </a:lnSpc>
              <a:buNone/>
            </a:pPr>
            <a:r>
              <a:rPr lang="en-US" sz="1350" dirty="0">
                <a:solidFill>
                  <a:srgbClr val="767B84"/>
                </a:solidFill>
                <a:latin typeface="Arial" pitchFamily="34" charset="0"/>
                <a:ea typeface="Arial" pitchFamily="34" charset="-122"/>
                <a:cs typeface="Arial" pitchFamily="34" charset="-120"/>
              </a:rPr>
              <a:t>India is building the same thing now: IBMS already inventories 172,517 structures on the same 0–9 idea.</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FD8"/>
        </a:solidFill>
      </p:bgPr>
    </p:bg>
    <p:spTree>
      <p:nvGrpSpPr>
        <p:cNvPr id="1" name=""/>
        <p:cNvGrpSpPr/>
        <p:nvPr/>
      </p:nvGrpSpPr>
      <p:grpSpPr>
        <a:xfrm>
          <a:off x="0" y="0"/>
          <a:ext cx="0" cy="0"/>
          <a:chOff x="0" y="0"/>
          <a:chExt cx="0" cy="0"/>
        </a:xfrm>
      </p:grpSpPr>
      <p:sp>
        <p:nvSpPr>
          <p:cNvPr id="2" name="Text 0"/>
          <p:cNvSpPr txBox="1"/>
          <p:nvPr/>
        </p:nvSpPr>
        <p:spPr>
          <a:xfrm>
            <a:off x="822960" y="777240"/>
            <a:ext cx="5486400" cy="237744"/>
          </a:xfrm>
          <a:prstGeom prst="rect">
            <a:avLst/>
          </a:prstGeom>
          <a:noFill/>
          <a:ln/>
        </p:spPr>
        <p:txBody>
          <a:bodyPr wrap="square" lIns="0" tIns="0" rIns="0" bIns="0" rtlCol="0" anchor="t"/>
          <a:lstStyle/>
          <a:p>
            <a:pPr algn="l" indent="0" marL="0">
              <a:buNone/>
            </a:pPr>
            <a:r>
              <a:rPr lang="en-US" sz="1000" b="1" spc="180" kern="0" dirty="0">
                <a:solidFill>
                  <a:srgbClr val="AFC2FF"/>
                </a:solidFill>
                <a:latin typeface="Courier New" pitchFamily="34" charset="0"/>
                <a:ea typeface="Courier New" pitchFamily="34" charset="-122"/>
                <a:cs typeface="Courier New" pitchFamily="34" charset="-120"/>
              </a:rPr>
              <a:t>THE IDEA</a:t>
            </a:r>
            <a:endParaRPr lang="en-US" sz="1000" dirty="0"/>
          </a:p>
        </p:txBody>
      </p:sp>
      <p:sp>
        <p:nvSpPr>
          <p:cNvPr id="3" name="Text 1"/>
          <p:cNvSpPr txBox="1"/>
          <p:nvPr/>
        </p:nvSpPr>
        <p:spPr>
          <a:xfrm>
            <a:off x="822960" y="1115568"/>
            <a:ext cx="10545775" cy="1737360"/>
          </a:xfrm>
          <a:prstGeom prst="rect">
            <a:avLst/>
          </a:prstGeom>
          <a:noFill/>
          <a:ln/>
        </p:spPr>
        <p:txBody>
          <a:bodyPr wrap="square" lIns="0" tIns="0" rIns="0" bIns="0" rtlCol="0" anchor="t"/>
          <a:lstStyle/>
          <a:p>
            <a:pPr indent="0" marL="0">
              <a:lnSpc>
                <a:spcPts val="4256"/>
              </a:lnSpc>
              <a:buNone/>
            </a:pPr>
            <a:r>
              <a:rPr lang="en-US" sz="3800" b="1" dirty="0">
                <a:solidFill>
                  <a:srgbClr val="FFFFFF"/>
                </a:solidFill>
                <a:latin typeface="Arial Black" pitchFamily="34" charset="0"/>
                <a:ea typeface="Arial Black" pitchFamily="34" charset="-122"/>
                <a:cs typeface="Arial Black" pitchFamily="34" charset="-120"/>
              </a:rPr>
              <a:t>Keep two accounts of every bridge.</a:t>
            </a:r>
            <a:endParaRPr lang="en-US" sz="3800" dirty="0"/>
          </a:p>
          <a:p>
            <a:pPr indent="0" marL="0">
              <a:lnSpc>
                <a:spcPts val="4256"/>
              </a:lnSpc>
              <a:buNone/>
            </a:pPr>
            <a:r>
              <a:rPr lang="en-US" sz="3800" b="1" dirty="0">
                <a:solidFill>
                  <a:srgbClr val="FFFFFF"/>
                </a:solidFill>
                <a:latin typeface="Arial Black" pitchFamily="34" charset="0"/>
                <a:ea typeface="Arial Black" pitchFamily="34" charset="-122"/>
                <a:cs typeface="Arial Black" pitchFamily="34" charset="-120"/>
              </a:rPr>
              <a:t>Sell the argument between them.</a:t>
            </a:r>
            <a:endParaRPr lang="en-US" sz="3800" dirty="0"/>
          </a:p>
        </p:txBody>
      </p:sp>
      <p:sp>
        <p:nvSpPr>
          <p:cNvPr id="4" name="Shape 2"/>
          <p:cNvSpPr/>
          <p:nvPr/>
        </p:nvSpPr>
        <p:spPr>
          <a:xfrm>
            <a:off x="822960" y="3200400"/>
            <a:ext cx="4892040" cy="1920240"/>
          </a:xfrm>
          <a:prstGeom prst="rect">
            <a:avLst/>
          </a:prstGeom>
          <a:solidFill>
            <a:srgbClr val="FFFFFF"/>
          </a:solidFill>
          <a:ln/>
        </p:spPr>
      </p:sp>
      <p:sp>
        <p:nvSpPr>
          <p:cNvPr id="5" name="Text 3"/>
          <p:cNvSpPr txBox="1"/>
          <p:nvPr/>
        </p:nvSpPr>
        <p:spPr>
          <a:xfrm>
            <a:off x="1133856" y="3493008"/>
            <a:ext cx="4270248" cy="274320"/>
          </a:xfrm>
          <a:prstGeom prst="rect">
            <a:avLst/>
          </a:prstGeom>
          <a:noFill/>
          <a:ln/>
        </p:spPr>
        <p:txBody>
          <a:bodyPr wrap="square" lIns="0" tIns="0" rIns="0" bIns="0" rtlCol="0" anchor="ctr"/>
          <a:lstStyle/>
          <a:p>
            <a:pPr indent="0" marL="0">
              <a:buNone/>
            </a:pPr>
            <a:r>
              <a:rPr lang="en-US" sz="1100" b="1" spc="150" kern="0" dirty="0">
                <a:solidFill>
                  <a:srgbClr val="767B84"/>
                </a:solidFill>
                <a:latin typeface="Courier New" pitchFamily="34" charset="0"/>
                <a:ea typeface="Courier New" pitchFamily="34" charset="-122"/>
                <a:cs typeface="Courier New" pitchFamily="34" charset="-120"/>
              </a:rPr>
              <a:t>THE RECORD</a:t>
            </a:r>
            <a:endParaRPr lang="en-US" sz="1100" dirty="0"/>
          </a:p>
        </p:txBody>
      </p:sp>
      <p:sp>
        <p:nvSpPr>
          <p:cNvPr id="6" name="Text 4"/>
          <p:cNvSpPr txBox="1"/>
          <p:nvPr/>
        </p:nvSpPr>
        <p:spPr>
          <a:xfrm>
            <a:off x="1133856" y="3858768"/>
            <a:ext cx="4270248" cy="822960"/>
          </a:xfrm>
          <a:prstGeom prst="rect">
            <a:avLst/>
          </a:prstGeom>
          <a:noFill/>
          <a:ln/>
        </p:spPr>
        <p:txBody>
          <a:bodyPr wrap="square" lIns="0" tIns="0" rIns="0" bIns="0" rtlCol="0" anchor="ctr"/>
          <a:lstStyle/>
          <a:p>
            <a:pPr indent="0" marL="0">
              <a:lnSpc>
                <a:spcPts val="3000"/>
              </a:lnSpc>
              <a:buNone/>
            </a:pPr>
            <a:r>
              <a:rPr lang="en-US" sz="2400" b="1" dirty="0">
                <a:solidFill>
                  <a:srgbClr val="101418"/>
                </a:solidFill>
                <a:latin typeface="Arial Black" pitchFamily="34" charset="0"/>
                <a:ea typeface="Arial Black" pitchFamily="34" charset="-122"/>
                <a:cs typeface="Arial Black" pitchFamily="34" charset="-120"/>
              </a:rPr>
              <a:t>What the</a:t>
            </a:r>
            <a:endParaRPr lang="en-US" sz="2400" dirty="0"/>
          </a:p>
          <a:p>
            <a:pPr indent="0" marL="0">
              <a:lnSpc>
                <a:spcPts val="3000"/>
              </a:lnSpc>
              <a:buNone/>
            </a:pPr>
            <a:r>
              <a:rPr lang="en-US" sz="2400" b="1" dirty="0">
                <a:solidFill>
                  <a:srgbClr val="101418"/>
                </a:solidFill>
                <a:latin typeface="Arial Black" pitchFamily="34" charset="0"/>
                <a:ea typeface="Arial Black" pitchFamily="34" charset="-122"/>
                <a:cs typeface="Arial Black" pitchFamily="34" charset="-120"/>
              </a:rPr>
              <a:t>institution filed</a:t>
            </a:r>
            <a:endParaRPr lang="en-US" sz="2400" dirty="0"/>
          </a:p>
        </p:txBody>
      </p:sp>
      <p:sp>
        <p:nvSpPr>
          <p:cNvPr id="7" name="Text 5"/>
          <p:cNvSpPr txBox="1"/>
          <p:nvPr/>
        </p:nvSpPr>
        <p:spPr>
          <a:xfrm>
            <a:off x="1133856" y="4681728"/>
            <a:ext cx="4270248" cy="365760"/>
          </a:xfrm>
          <a:prstGeom prst="rect">
            <a:avLst/>
          </a:prstGeom>
          <a:noFill/>
          <a:ln/>
        </p:spPr>
        <p:txBody>
          <a:bodyPr wrap="square" lIns="0" tIns="0" rIns="0" bIns="0" rtlCol="0" anchor="ctr"/>
          <a:lstStyle/>
          <a:p>
            <a:pPr indent="0" marL="0">
              <a:buNone/>
            </a:pPr>
            <a:r>
              <a:rPr lang="en-US" sz="1300" dirty="0">
                <a:solidFill>
                  <a:srgbClr val="767B84"/>
                </a:solidFill>
                <a:latin typeface="Arial" pitchFamily="34" charset="0"/>
                <a:ea typeface="Arial" pitchFamily="34" charset="-122"/>
                <a:cs typeface="Arial" pitchFamily="34" charset="-120"/>
              </a:rPr>
              <a:t>An inspector visits, and writes one number.</a:t>
            </a:r>
            <a:endParaRPr lang="en-US" sz="1300" dirty="0"/>
          </a:p>
        </p:txBody>
      </p:sp>
      <p:sp>
        <p:nvSpPr>
          <p:cNvPr id="8" name="Shape 6"/>
          <p:cNvSpPr/>
          <p:nvPr/>
        </p:nvSpPr>
        <p:spPr>
          <a:xfrm>
            <a:off x="6492240" y="3200400"/>
            <a:ext cx="4892040" cy="1920240"/>
          </a:xfrm>
          <a:prstGeom prst="rect">
            <a:avLst/>
          </a:prstGeom>
          <a:solidFill>
            <a:srgbClr val="101418"/>
          </a:solidFill>
          <a:ln/>
        </p:spPr>
      </p:sp>
      <p:sp>
        <p:nvSpPr>
          <p:cNvPr id="9" name="Text 7"/>
          <p:cNvSpPr txBox="1"/>
          <p:nvPr/>
        </p:nvSpPr>
        <p:spPr>
          <a:xfrm>
            <a:off x="6803136" y="3493008"/>
            <a:ext cx="4270248" cy="274320"/>
          </a:xfrm>
          <a:prstGeom prst="rect">
            <a:avLst/>
          </a:prstGeom>
          <a:noFill/>
          <a:ln/>
        </p:spPr>
        <p:txBody>
          <a:bodyPr wrap="square" lIns="0" tIns="0" rIns="0" bIns="0" rtlCol="0" anchor="ctr"/>
          <a:lstStyle/>
          <a:p>
            <a:pPr indent="0" marL="0">
              <a:buNone/>
            </a:pPr>
            <a:r>
              <a:rPr lang="en-US" sz="1100" b="1" spc="150" kern="0" dirty="0">
                <a:solidFill>
                  <a:srgbClr val="AFC2FF"/>
                </a:solidFill>
                <a:latin typeface="Courier New" pitchFamily="34" charset="0"/>
                <a:ea typeface="Courier New" pitchFamily="34" charset="-122"/>
                <a:cs typeface="Courier New" pitchFamily="34" charset="-120"/>
              </a:rPr>
              <a:t>THE PHYSICS</a:t>
            </a:r>
            <a:endParaRPr lang="en-US" sz="1100" dirty="0"/>
          </a:p>
        </p:txBody>
      </p:sp>
      <p:sp>
        <p:nvSpPr>
          <p:cNvPr id="10" name="Text 8"/>
          <p:cNvSpPr txBox="1"/>
          <p:nvPr/>
        </p:nvSpPr>
        <p:spPr>
          <a:xfrm>
            <a:off x="6803136" y="3858768"/>
            <a:ext cx="4270248" cy="822960"/>
          </a:xfrm>
          <a:prstGeom prst="rect">
            <a:avLst/>
          </a:prstGeom>
          <a:noFill/>
          <a:ln/>
        </p:spPr>
        <p:txBody>
          <a:bodyPr wrap="square" lIns="0" tIns="0" rIns="0" bIns="0" rtlCol="0" anchor="ctr"/>
          <a:lstStyle/>
          <a:p>
            <a:pPr indent="0" marL="0">
              <a:lnSpc>
                <a:spcPts val="3000"/>
              </a:lnSpc>
              <a:buNone/>
            </a:pPr>
            <a:r>
              <a:rPr lang="en-US" sz="2400" b="1" dirty="0">
                <a:solidFill>
                  <a:srgbClr val="FFFFFF"/>
                </a:solidFill>
                <a:latin typeface="Arial Black" pitchFamily="34" charset="0"/>
                <a:ea typeface="Arial Black" pitchFamily="34" charset="-122"/>
                <a:cs typeface="Arial Black" pitchFamily="34" charset="-120"/>
              </a:rPr>
              <a:t>What the</a:t>
            </a:r>
            <a:endParaRPr lang="en-US" sz="2400" dirty="0"/>
          </a:p>
          <a:p>
            <a:pPr indent="0" marL="0">
              <a:lnSpc>
                <a:spcPts val="3000"/>
              </a:lnSpc>
              <a:buNone/>
            </a:pPr>
            <a:r>
              <a:rPr lang="en-US" sz="2400" b="1" dirty="0">
                <a:solidFill>
                  <a:srgbClr val="FFFFFF"/>
                </a:solidFill>
                <a:latin typeface="Arial Black" pitchFamily="34" charset="0"/>
                <a:ea typeface="Arial Black" pitchFamily="34" charset="-122"/>
                <a:cs typeface="Arial Black" pitchFamily="34" charset="-120"/>
              </a:rPr>
              <a:t>evidence implies</a:t>
            </a:r>
            <a:endParaRPr lang="en-US" sz="2400" dirty="0"/>
          </a:p>
        </p:txBody>
      </p:sp>
      <p:sp>
        <p:nvSpPr>
          <p:cNvPr id="11" name="Text 9"/>
          <p:cNvSpPr txBox="1"/>
          <p:nvPr/>
        </p:nvSpPr>
        <p:spPr>
          <a:xfrm>
            <a:off x="6803136" y="4681728"/>
            <a:ext cx="4270248" cy="365760"/>
          </a:xfrm>
          <a:prstGeom prst="rect">
            <a:avLst/>
          </a:prstGeom>
          <a:noFill/>
          <a:ln/>
        </p:spPr>
        <p:txBody>
          <a:bodyPr wrap="square" lIns="0" tIns="0" rIns="0" bIns="0" rtlCol="0" anchor="ctr"/>
          <a:lstStyle/>
          <a:p>
            <a:pPr indent="0" marL="0">
              <a:buNone/>
            </a:pPr>
            <a:r>
              <a:rPr lang="en-US" sz="1300" dirty="0">
                <a:solidFill>
                  <a:srgbClr val="8A8F98"/>
                </a:solidFill>
                <a:latin typeface="Arial" pitchFamily="34" charset="0"/>
                <a:ea typeface="Arial" pitchFamily="34" charset="-122"/>
                <a:cs typeface="Arial" pitchFamily="34" charset="-120"/>
              </a:rPr>
              <a:t>Age, traffic, trucks, span, weather. No rating among them.</a:t>
            </a:r>
            <a:endParaRPr lang="en-US" sz="1300" dirty="0"/>
          </a:p>
        </p:txBody>
      </p:sp>
      <p:sp>
        <p:nvSpPr>
          <p:cNvPr id="12" name="Shape 10"/>
          <p:cNvSpPr/>
          <p:nvPr/>
        </p:nvSpPr>
        <p:spPr>
          <a:xfrm>
            <a:off x="822960" y="5504688"/>
            <a:ext cx="10545775" cy="658368"/>
          </a:xfrm>
          <a:prstGeom prst="rect">
            <a:avLst/>
          </a:prstGeom>
          <a:solidFill>
            <a:srgbClr val="E8412F"/>
          </a:solidFill>
          <a:ln/>
        </p:spPr>
      </p:sp>
      <p:sp>
        <p:nvSpPr>
          <p:cNvPr id="13" name="Text 11"/>
          <p:cNvSpPr txBox="1"/>
          <p:nvPr/>
        </p:nvSpPr>
        <p:spPr>
          <a:xfrm>
            <a:off x="822960" y="5669280"/>
            <a:ext cx="10545775"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Black" pitchFamily="34" charset="0"/>
                <a:ea typeface="Arial Black" pitchFamily="34" charset="-122"/>
                <a:cs typeface="Arial Black" pitchFamily="34" charset="-120"/>
              </a:rPr>
              <a:t>When they stop agreeing, that disagreement is the product.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418"/>
        </a:solidFill>
      </p:bgPr>
    </p:bg>
    <p:spTree>
      <p:nvGrpSpPr>
        <p:cNvPr id="1" name=""/>
        <p:cNvGrpSpPr/>
        <p:nvPr/>
      </p:nvGrpSpPr>
      <p:grpSpPr>
        <a:xfrm>
          <a:off x="0" y="0"/>
          <a:ext cx="0" cy="0"/>
          <a:chOff x="0" y="0"/>
          <a:chExt cx="0" cy="0"/>
        </a:xfrm>
      </p:grpSpPr>
      <p:sp>
        <p:nvSpPr>
          <p:cNvPr id="2" name="Text 0"/>
          <p:cNvSpPr txBox="1"/>
          <p:nvPr/>
        </p:nvSpPr>
        <p:spPr>
          <a:xfrm>
            <a:off x="822960" y="777240"/>
            <a:ext cx="5486400" cy="237744"/>
          </a:xfrm>
          <a:prstGeom prst="rect">
            <a:avLst/>
          </a:prstGeom>
          <a:noFill/>
          <a:ln/>
        </p:spPr>
        <p:txBody>
          <a:bodyPr wrap="square" lIns="0" tIns="0" rIns="0" bIns="0" rtlCol="0" anchor="t"/>
          <a:lstStyle/>
          <a:p>
            <a:pPr algn="l" indent="0" marL="0">
              <a:buNone/>
            </a:pPr>
            <a:r>
              <a:rPr lang="en-US" sz="1000" b="1" spc="180" kern="0" dirty="0">
                <a:solidFill>
                  <a:srgbClr val="E8412F"/>
                </a:solidFill>
                <a:latin typeface="Courier New" pitchFamily="34" charset="0"/>
                <a:ea typeface="Courier New" pitchFamily="34" charset="-122"/>
                <a:cs typeface="Courier New" pitchFamily="34" charset="-120"/>
              </a:rPr>
              <a:t>WHAT WE BUILT</a:t>
            </a:r>
            <a:endParaRPr lang="en-US" sz="1000" dirty="0"/>
          </a:p>
        </p:txBody>
      </p:sp>
      <p:sp>
        <p:nvSpPr>
          <p:cNvPr id="3" name="Text 1"/>
          <p:cNvSpPr txBox="1"/>
          <p:nvPr/>
        </p:nvSpPr>
        <p:spPr>
          <a:xfrm>
            <a:off x="822960" y="1143000"/>
            <a:ext cx="4206240" cy="1737360"/>
          </a:xfrm>
          <a:prstGeom prst="rect">
            <a:avLst/>
          </a:prstGeom>
          <a:noFill/>
          <a:ln/>
        </p:spPr>
        <p:txBody>
          <a:bodyPr wrap="square" lIns="0" tIns="0" rIns="0" bIns="0" rtlCol="0" anchor="t"/>
          <a:lstStyle/>
          <a:p>
            <a:pPr indent="0" marL="0">
              <a:lnSpc>
                <a:spcPts val="4928"/>
              </a:lnSpc>
              <a:buNone/>
            </a:pPr>
            <a:r>
              <a:rPr lang="en-US" sz="4400" b="1" dirty="0">
                <a:solidFill>
                  <a:srgbClr val="FFFFFF"/>
                </a:solidFill>
                <a:latin typeface="Arial Black" pitchFamily="34" charset="0"/>
                <a:ea typeface="Arial Black" pitchFamily="34" charset="-122"/>
                <a:cs typeface="Arial Black" pitchFamily="34" charset="-120"/>
              </a:rPr>
              <a:t>Not a dashboard.</a:t>
            </a:r>
            <a:endParaRPr lang="en-US" sz="4400" dirty="0"/>
          </a:p>
          <a:p>
            <a:pPr indent="0" marL="0">
              <a:lnSpc>
                <a:spcPts val="4928"/>
              </a:lnSpc>
              <a:buNone/>
            </a:pPr>
            <a:r>
              <a:rPr lang="en-US" sz="4400" b="1" dirty="0">
                <a:solidFill>
                  <a:srgbClr val="FFFFFF"/>
                </a:solidFill>
                <a:latin typeface="Arial Black" pitchFamily="34" charset="0"/>
                <a:ea typeface="Arial Black" pitchFamily="34" charset="-122"/>
                <a:cs typeface="Arial Black" pitchFamily="34" charset="-120"/>
              </a:rPr>
              <a:t>A docket.</a:t>
            </a:r>
            <a:endParaRPr lang="en-US" sz="4400" dirty="0"/>
          </a:p>
        </p:txBody>
      </p:sp>
      <p:sp>
        <p:nvSpPr>
          <p:cNvPr id="4" name="Text 2"/>
          <p:cNvSpPr txBox="1"/>
          <p:nvPr/>
        </p:nvSpPr>
        <p:spPr>
          <a:xfrm>
            <a:off x="822960" y="3200400"/>
            <a:ext cx="4023360" cy="1463040"/>
          </a:xfrm>
          <a:prstGeom prst="rect">
            <a:avLst/>
          </a:prstGeom>
          <a:noFill/>
          <a:ln/>
        </p:spPr>
        <p:txBody>
          <a:bodyPr wrap="square" lIns="0" tIns="0" rIns="0" bIns="0" rtlCol="0" anchor="ctr"/>
          <a:lstStyle/>
          <a:p>
            <a:pPr indent="0" marL="0">
              <a:lnSpc>
                <a:spcPts val="2400"/>
              </a:lnSpc>
              <a:buNone/>
            </a:pPr>
            <a:r>
              <a:rPr lang="en-US" sz="1500" dirty="0">
                <a:solidFill>
                  <a:srgbClr val="8A8F98"/>
                </a:solidFill>
                <a:latin typeface="Arial" pitchFamily="34" charset="0"/>
                <a:ea typeface="Arial" pitchFamily="34" charset="-122"/>
                <a:cs typeface="Arial" pitchFamily="34" charset="-120"/>
              </a:rPr>
              <a:t>A ranked list of the bridges whose file has drifted furthest from the evidence — capped to what an inspection team can actually visit in a quarter.</a:t>
            </a:r>
            <a:endParaRPr lang="en-US" sz="1500" dirty="0"/>
          </a:p>
        </p:txBody>
      </p:sp>
      <p:sp>
        <p:nvSpPr>
          <p:cNvPr id="5" name="Text 3"/>
          <p:cNvSpPr txBox="1"/>
          <p:nvPr/>
        </p:nvSpPr>
        <p:spPr>
          <a:xfrm>
            <a:off x="822960" y="5120640"/>
            <a:ext cx="4206240" cy="731520"/>
          </a:xfrm>
          <a:prstGeom prst="rect">
            <a:avLst/>
          </a:prstGeom>
          <a:noFill/>
          <a:ln/>
        </p:spPr>
        <p:txBody>
          <a:bodyPr wrap="square" lIns="0" tIns="0" rIns="0" bIns="0" rtlCol="0" anchor="ctr"/>
          <a:lstStyle/>
          <a:p>
            <a:pPr indent="0" marL="0">
              <a:lnSpc>
                <a:spcPts val="1700"/>
              </a:lnSpc>
              <a:buNone/>
            </a:pPr>
            <a:r>
              <a:rPr lang="en-US" sz="1050" spc="110" kern="0" dirty="0">
                <a:solidFill>
                  <a:srgbClr val="E8412F"/>
                </a:solidFill>
                <a:latin typeface="Courier New" pitchFamily="34" charset="0"/>
                <a:ea typeface="Courier New" pitchFamily="34" charset="-122"/>
                <a:cs typeface="Courier New" pitchFamily="34" charset="-120"/>
              </a:rPr>
              <a:t>RHODE ISLAND · 804 STRUCTURES</a:t>
            </a:r>
            <a:endParaRPr lang="en-US" sz="1050" dirty="0"/>
          </a:p>
          <a:p>
            <a:pPr indent="0" marL="0">
              <a:lnSpc>
                <a:spcPts val="1700"/>
              </a:lnSpc>
              <a:buNone/>
            </a:pPr>
            <a:r>
              <a:rPr lang="en-US" sz="1050" spc="110" kern="0" dirty="0">
                <a:solidFill>
                  <a:srgbClr val="E8412F"/>
                </a:solidFill>
                <a:latin typeface="Courier New" pitchFamily="34" charset="0"/>
                <a:ea typeface="Courier New" pitchFamily="34" charset="-122"/>
                <a:cs typeface="Courier New" pitchFamily="34" charset="-120"/>
              </a:rPr>
              <a:t>12 FLAGGED FOR IMMEDIATE INSPECTION</a:t>
            </a:r>
            <a:endParaRPr lang="en-US" sz="1050" dirty="0"/>
          </a:p>
        </p:txBody>
      </p:sp>
      <p:pic>
        <p:nvPicPr>
          <p:cNvPr id="6" name="Image 0" descr="/Users/arockia/Downloads/dissent/pitch/shots/flat/docket.png">    </p:cNvPr>
          <p:cNvPicPr>
            <a:picLocks noChangeAspect="1"/>
          </p:cNvPicPr>
          <p:nvPr/>
        </p:nvPicPr>
        <p:blipFill>
          <a:blip r:embed="rId1"/>
          <a:stretch>
            <a:fillRect/>
          </a:stretch>
        </p:blipFill>
        <p:spPr>
          <a:xfrm>
            <a:off x="5486400" y="1143000"/>
            <a:ext cx="7863840" cy="4914900"/>
          </a:xfrm>
          <a:prstGeom prst="rect">
            <a:avLst/>
          </a:prstGeom>
          <a:effectLst>
            <a:outerShdw sx="100000" sy="100000" kx="0" ky="0" algn="bl" rotWithShape="0" blurRad="330200" dist="101600" dir="5400000">
              <a:srgbClr val="000000">
                <a:alpha val="34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418"/>
        </a:solidFill>
      </p:bgPr>
    </p:bg>
    <p:spTree>
      <p:nvGrpSpPr>
        <p:cNvPr id="1" name=""/>
        <p:cNvGrpSpPr/>
        <p:nvPr/>
      </p:nvGrpSpPr>
      <p:grpSpPr>
        <a:xfrm>
          <a:off x="0" y="0"/>
          <a:ext cx="0" cy="0"/>
          <a:chOff x="0" y="0"/>
          <a:chExt cx="0" cy="0"/>
        </a:xfrm>
      </p:grpSpPr>
      <p:sp>
        <p:nvSpPr>
          <p:cNvPr id="2" name="Text 0"/>
          <p:cNvSpPr txBox="1"/>
          <p:nvPr/>
        </p:nvSpPr>
        <p:spPr>
          <a:xfrm>
            <a:off x="822960" y="713232"/>
            <a:ext cx="5486400" cy="237744"/>
          </a:xfrm>
          <a:prstGeom prst="rect">
            <a:avLst/>
          </a:prstGeom>
          <a:noFill/>
          <a:ln/>
        </p:spPr>
        <p:txBody>
          <a:bodyPr wrap="square" lIns="0" tIns="0" rIns="0" bIns="0" rtlCol="0" anchor="t"/>
          <a:lstStyle/>
          <a:p>
            <a:pPr algn="l" indent="0" marL="0">
              <a:buNone/>
            </a:pPr>
            <a:r>
              <a:rPr lang="en-US" sz="1000" b="1" spc="180" kern="0" dirty="0">
                <a:solidFill>
                  <a:srgbClr val="E8412F"/>
                </a:solidFill>
                <a:latin typeface="Courier New" pitchFamily="34" charset="0"/>
                <a:ea typeface="Courier New" pitchFamily="34" charset="-122"/>
                <a:cs typeface="Courier New" pitchFamily="34" charset="-120"/>
              </a:rPr>
              <a:t>COVERAGE</a:t>
            </a:r>
            <a:endParaRPr lang="en-US" sz="1000" dirty="0"/>
          </a:p>
        </p:txBody>
      </p:sp>
      <p:sp>
        <p:nvSpPr>
          <p:cNvPr id="3" name="Text 1"/>
          <p:cNvSpPr txBox="1"/>
          <p:nvPr/>
        </p:nvSpPr>
        <p:spPr>
          <a:xfrm>
            <a:off x="822960" y="1024128"/>
            <a:ext cx="10545775" cy="914400"/>
          </a:xfrm>
          <a:prstGeom prst="rect">
            <a:avLst/>
          </a:prstGeom>
          <a:noFill/>
          <a:ln/>
        </p:spPr>
        <p:txBody>
          <a:bodyPr wrap="square" lIns="0" tIns="0" rIns="0" bIns="0" rtlCol="0" anchor="ctr"/>
          <a:lstStyle/>
          <a:p>
            <a:pPr indent="0" marL="0">
              <a:buNone/>
            </a:pPr>
            <a:r>
              <a:rPr lang="en-US" sz="6200" b="1" spc="-100" kern="0" dirty="0">
                <a:solidFill>
                  <a:srgbClr val="FFFFFF"/>
                </a:solidFill>
                <a:latin typeface="Arial Black" pitchFamily="34" charset="0"/>
                <a:ea typeface="Arial Black" pitchFamily="34" charset="-122"/>
                <a:cs typeface="Arial Black" pitchFamily="34" charset="-120"/>
              </a:rPr>
              <a:t>621,137</a:t>
            </a:r>
            <a:pPr indent="0" marL="0">
              <a:buNone/>
            </a:pPr>
            <a:r>
              <a:rPr lang="en-US" sz="3000" b="1" dirty="0">
                <a:solidFill>
                  <a:srgbClr val="8A8F98"/>
                </a:solidFill>
                <a:latin typeface="Arial Black" pitchFamily="34" charset="0"/>
                <a:ea typeface="Arial Black" pitchFamily="34" charset="-122"/>
                <a:cs typeface="Arial Black" pitchFamily="34" charset="-120"/>
              </a:rPr>
              <a:t>   bridges. Zero sensors installed.</a:t>
            </a:r>
            <a:endParaRPr lang="en-US" sz="6200" dirty="0"/>
          </a:p>
        </p:txBody>
      </p:sp>
      <p:sp>
        <p:nvSpPr>
          <p:cNvPr id="4" name="Text 2"/>
          <p:cNvSpPr txBox="1"/>
          <p:nvPr/>
        </p:nvSpPr>
        <p:spPr>
          <a:xfrm>
            <a:off x="822960" y="1965960"/>
            <a:ext cx="9966960" cy="640080"/>
          </a:xfrm>
          <a:prstGeom prst="rect">
            <a:avLst/>
          </a:prstGeom>
          <a:noFill/>
          <a:ln/>
        </p:spPr>
        <p:txBody>
          <a:bodyPr wrap="square" lIns="0" tIns="0" rIns="0" bIns="0" rtlCol="0" anchor="ctr"/>
          <a:lstStyle/>
          <a:p>
            <a:pPr indent="0" marL="0">
              <a:lnSpc>
                <a:spcPts val="2300"/>
              </a:lnSpc>
              <a:buNone/>
            </a:pPr>
            <a:r>
              <a:rPr lang="en-US" sz="1500" dirty="0">
                <a:solidFill>
                  <a:srgbClr val="8A8F98"/>
                </a:solidFill>
                <a:latin typeface="Arial" pitchFamily="34" charset="0"/>
                <a:ea typeface="Arial" pitchFamily="34" charset="-122"/>
                <a:cs typeface="Arial" pitchFamily="34" charset="-120"/>
              </a:rPr>
              <a:t>Every rated structure in the country, drawn in the browser from a 10MB file. 41,319 are rated poor by their own inspectors. This view does not even need our server.</a:t>
            </a:r>
            <a:endParaRPr lang="en-US" sz="1500" dirty="0"/>
          </a:p>
        </p:txBody>
      </p:sp>
      <p:pic>
        <p:nvPicPr>
          <p:cNvPr id="5" name="Image 0" descr="/Users/arockia/Downloads/dissent/pitch/shots/flat/world.png">    </p:cNvPr>
          <p:cNvPicPr>
            <a:picLocks noChangeAspect="1"/>
          </p:cNvPicPr>
          <p:nvPr/>
        </p:nvPicPr>
        <p:blipFill>
          <a:blip r:embed="rId1"/>
          <a:stretch>
            <a:fillRect/>
          </a:stretch>
        </p:blipFill>
        <p:spPr>
          <a:xfrm>
            <a:off x="822960" y="2834640"/>
            <a:ext cx="11155680" cy="6344793"/>
          </a:xfrm>
          <a:prstGeom prst="rect">
            <a:avLst/>
          </a:prstGeom>
          <a:effectLst>
            <a:outerShdw sx="100000" sy="100000" kx="0" ky="0" algn="bl" rotWithShape="0" blurRad="330200" dist="101600" dir="5400000">
              <a:srgbClr val="000000">
                <a:alpha val="34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txBox="1"/>
          <p:nvPr/>
        </p:nvSpPr>
        <p:spPr>
          <a:xfrm>
            <a:off x="822960" y="777240"/>
            <a:ext cx="5486400" cy="237744"/>
          </a:xfrm>
          <a:prstGeom prst="rect">
            <a:avLst/>
          </a:prstGeom>
          <a:noFill/>
          <a:ln/>
        </p:spPr>
        <p:txBody>
          <a:bodyPr wrap="square" lIns="0" tIns="0" rIns="0" bIns="0" rtlCol="0" anchor="t"/>
          <a:lstStyle/>
          <a:p>
            <a:pPr algn="l" indent="0" marL="0">
              <a:buNone/>
            </a:pPr>
            <a:r>
              <a:rPr lang="en-US" sz="1000" b="1" spc="180" kern="0" dirty="0">
                <a:solidFill>
                  <a:srgbClr val="767B84"/>
                </a:solidFill>
                <a:latin typeface="Courier New" pitchFamily="34" charset="0"/>
                <a:ea typeface="Courier New" pitchFamily="34" charset="-122"/>
                <a:cs typeface="Courier New" pitchFamily="34" charset="-120"/>
              </a:rPr>
              <a:t>HOW IT WORKS</a:t>
            </a:r>
            <a:endParaRPr lang="en-US" sz="1000" dirty="0"/>
          </a:p>
        </p:txBody>
      </p:sp>
      <p:sp>
        <p:nvSpPr>
          <p:cNvPr id="3" name="Text 1"/>
          <p:cNvSpPr txBox="1"/>
          <p:nvPr/>
        </p:nvSpPr>
        <p:spPr>
          <a:xfrm>
            <a:off x="822960" y="1115568"/>
            <a:ext cx="10545775" cy="822960"/>
          </a:xfrm>
          <a:prstGeom prst="rect">
            <a:avLst/>
          </a:prstGeom>
          <a:noFill/>
          <a:ln/>
        </p:spPr>
        <p:txBody>
          <a:bodyPr wrap="square" lIns="0" tIns="0" rIns="0" bIns="0" rtlCol="0" anchor="t"/>
          <a:lstStyle/>
          <a:p>
            <a:pPr indent="0" marL="0">
              <a:lnSpc>
                <a:spcPts val="4704"/>
              </a:lnSpc>
              <a:buNone/>
            </a:pPr>
            <a:r>
              <a:rPr lang="en-US" sz="4200" b="1" dirty="0">
                <a:solidFill>
                  <a:srgbClr val="101418"/>
                </a:solidFill>
                <a:latin typeface="Arial Black" pitchFamily="34" charset="0"/>
                <a:ea typeface="Arial Black" pitchFamily="34" charset="-122"/>
                <a:cs typeface="Arial Black" pitchFamily="34" charset="-120"/>
              </a:rPr>
              <a:t>Public data in. A work order out.</a:t>
            </a:r>
            <a:endParaRPr lang="en-US" sz="4200" dirty="0"/>
          </a:p>
        </p:txBody>
      </p:sp>
      <p:sp>
        <p:nvSpPr>
          <p:cNvPr id="4" name="Text 2"/>
          <p:cNvSpPr txBox="1"/>
          <p:nvPr/>
        </p:nvSpPr>
        <p:spPr>
          <a:xfrm>
            <a:off x="822960" y="2606040"/>
            <a:ext cx="2362124" cy="640080"/>
          </a:xfrm>
          <a:prstGeom prst="rect">
            <a:avLst/>
          </a:prstGeom>
          <a:noFill/>
          <a:ln/>
        </p:spPr>
        <p:txBody>
          <a:bodyPr wrap="square" lIns="0" tIns="0" rIns="0" bIns="0" rtlCol="0" anchor="ctr"/>
          <a:lstStyle/>
          <a:p>
            <a:pPr indent="0" marL="0">
              <a:buNone/>
            </a:pPr>
            <a:r>
              <a:rPr lang="en-US" sz="4600" b="1" spc="-100" kern="0" dirty="0">
                <a:solidFill>
                  <a:srgbClr val="C9C4BA"/>
                </a:solidFill>
                <a:latin typeface="Arial Black" pitchFamily="34" charset="0"/>
                <a:ea typeface="Arial Black" pitchFamily="34" charset="-122"/>
                <a:cs typeface="Arial Black" pitchFamily="34" charset="-120"/>
              </a:rPr>
              <a:t>01</a:t>
            </a:r>
            <a:endParaRPr lang="en-US" sz="4600" dirty="0"/>
          </a:p>
        </p:txBody>
      </p:sp>
      <p:sp>
        <p:nvSpPr>
          <p:cNvPr id="5" name="Shape 3"/>
          <p:cNvSpPr/>
          <p:nvPr/>
        </p:nvSpPr>
        <p:spPr>
          <a:xfrm>
            <a:off x="822960" y="3392424"/>
            <a:ext cx="2362124" cy="45720"/>
          </a:xfrm>
          <a:prstGeom prst="rect">
            <a:avLst/>
          </a:prstGeom>
          <a:solidFill>
            <a:srgbClr val="101418"/>
          </a:solidFill>
          <a:ln/>
        </p:spPr>
      </p:sp>
      <p:sp>
        <p:nvSpPr>
          <p:cNvPr id="6" name="Text 4"/>
          <p:cNvSpPr txBox="1"/>
          <p:nvPr/>
        </p:nvSpPr>
        <p:spPr>
          <a:xfrm>
            <a:off x="822960" y="3575304"/>
            <a:ext cx="2362124" cy="274320"/>
          </a:xfrm>
          <a:prstGeom prst="rect">
            <a:avLst/>
          </a:prstGeom>
          <a:noFill/>
          <a:ln/>
        </p:spPr>
        <p:txBody>
          <a:bodyPr wrap="square" lIns="0" tIns="0" rIns="0" bIns="0" rtlCol="0" anchor="ctr"/>
          <a:lstStyle/>
          <a:p>
            <a:pPr indent="0" marL="0">
              <a:buNone/>
            </a:pPr>
            <a:r>
              <a:rPr lang="en-US" sz="1050" b="1" spc="130" kern="0" dirty="0">
                <a:solidFill>
                  <a:srgbClr val="101418"/>
                </a:solidFill>
                <a:latin typeface="Courier New" pitchFamily="34" charset="0"/>
                <a:ea typeface="Courier New" pitchFamily="34" charset="-122"/>
                <a:cs typeface="Courier New" pitchFamily="34" charset="-120"/>
              </a:rPr>
              <a:t>PUBLIC FILES</a:t>
            </a:r>
            <a:endParaRPr lang="en-US" sz="1050" dirty="0"/>
          </a:p>
        </p:txBody>
      </p:sp>
      <p:sp>
        <p:nvSpPr>
          <p:cNvPr id="7" name="Text 5"/>
          <p:cNvSpPr txBox="1"/>
          <p:nvPr/>
        </p:nvSpPr>
        <p:spPr>
          <a:xfrm>
            <a:off x="822960" y="3922776"/>
            <a:ext cx="2362124" cy="1188720"/>
          </a:xfrm>
          <a:prstGeom prst="rect">
            <a:avLst/>
          </a:prstGeom>
          <a:noFill/>
          <a:ln/>
        </p:spPr>
        <p:txBody>
          <a:bodyPr wrap="square" lIns="0" tIns="0" rIns="0" bIns="0" rtlCol="0" anchor="t"/>
          <a:lstStyle/>
          <a:p>
            <a:pPr indent="0" marL="0">
              <a:lnSpc>
                <a:spcPts val="2100"/>
              </a:lnSpc>
              <a:buNone/>
            </a:pPr>
            <a:r>
              <a:rPr lang="en-US" sz="1400" dirty="0">
                <a:solidFill>
                  <a:srgbClr val="767B84"/>
                </a:solidFill>
                <a:latin typeface="Arial" pitchFamily="34" charset="0"/>
                <a:ea typeface="Arial" pitchFamily="34" charset="-122"/>
                <a:cs typeface="Arial" pitchFamily="34" charset="-120"/>
              </a:rPr>
              <a:t>The federal inspection file and the weather history. Both free.</a:t>
            </a:r>
            <a:endParaRPr lang="en-US" sz="1400" dirty="0"/>
          </a:p>
        </p:txBody>
      </p:sp>
      <p:sp>
        <p:nvSpPr>
          <p:cNvPr id="8" name="Text 6"/>
          <p:cNvSpPr txBox="1"/>
          <p:nvPr/>
        </p:nvSpPr>
        <p:spPr>
          <a:xfrm>
            <a:off x="3550844" y="2606040"/>
            <a:ext cx="2362124" cy="640080"/>
          </a:xfrm>
          <a:prstGeom prst="rect">
            <a:avLst/>
          </a:prstGeom>
          <a:noFill/>
          <a:ln/>
        </p:spPr>
        <p:txBody>
          <a:bodyPr wrap="square" lIns="0" tIns="0" rIns="0" bIns="0" rtlCol="0" anchor="ctr"/>
          <a:lstStyle/>
          <a:p>
            <a:pPr indent="0" marL="0">
              <a:buNone/>
            </a:pPr>
            <a:r>
              <a:rPr lang="en-US" sz="4600" b="1" spc="-100" kern="0" dirty="0">
                <a:solidFill>
                  <a:srgbClr val="C9C4BA"/>
                </a:solidFill>
                <a:latin typeface="Arial Black" pitchFamily="34" charset="0"/>
                <a:ea typeface="Arial Black" pitchFamily="34" charset="-122"/>
                <a:cs typeface="Arial Black" pitchFamily="34" charset="-120"/>
              </a:rPr>
              <a:t>02</a:t>
            </a:r>
            <a:endParaRPr lang="en-US" sz="4600" dirty="0"/>
          </a:p>
        </p:txBody>
      </p:sp>
      <p:sp>
        <p:nvSpPr>
          <p:cNvPr id="9" name="Shape 7"/>
          <p:cNvSpPr/>
          <p:nvPr/>
        </p:nvSpPr>
        <p:spPr>
          <a:xfrm>
            <a:off x="3550844" y="3392424"/>
            <a:ext cx="2362124" cy="45720"/>
          </a:xfrm>
          <a:prstGeom prst="rect">
            <a:avLst/>
          </a:prstGeom>
          <a:solidFill>
            <a:srgbClr val="101418"/>
          </a:solidFill>
          <a:ln/>
        </p:spPr>
      </p:sp>
      <p:sp>
        <p:nvSpPr>
          <p:cNvPr id="10" name="Text 8"/>
          <p:cNvSpPr txBox="1"/>
          <p:nvPr/>
        </p:nvSpPr>
        <p:spPr>
          <a:xfrm>
            <a:off x="3550844" y="3575304"/>
            <a:ext cx="2362124" cy="274320"/>
          </a:xfrm>
          <a:prstGeom prst="rect">
            <a:avLst/>
          </a:prstGeom>
          <a:noFill/>
          <a:ln/>
        </p:spPr>
        <p:txBody>
          <a:bodyPr wrap="square" lIns="0" tIns="0" rIns="0" bIns="0" rtlCol="0" anchor="ctr"/>
          <a:lstStyle/>
          <a:p>
            <a:pPr indent="0" marL="0">
              <a:buNone/>
            </a:pPr>
            <a:r>
              <a:rPr lang="en-US" sz="1050" b="1" spc="130" kern="0" dirty="0">
                <a:solidFill>
                  <a:srgbClr val="101418"/>
                </a:solidFill>
                <a:latin typeface="Courier New" pitchFamily="34" charset="0"/>
                <a:ea typeface="Courier New" pitchFamily="34" charset="-122"/>
                <a:cs typeface="Courier New" pitchFamily="34" charset="-120"/>
              </a:rPr>
              <a:t>PHYSICS ONLY</a:t>
            </a:r>
            <a:endParaRPr lang="en-US" sz="1050" dirty="0"/>
          </a:p>
        </p:txBody>
      </p:sp>
      <p:sp>
        <p:nvSpPr>
          <p:cNvPr id="11" name="Text 9"/>
          <p:cNvSpPr txBox="1"/>
          <p:nvPr/>
        </p:nvSpPr>
        <p:spPr>
          <a:xfrm>
            <a:off x="3550844" y="3922776"/>
            <a:ext cx="2362124" cy="1188720"/>
          </a:xfrm>
          <a:prstGeom prst="rect">
            <a:avLst/>
          </a:prstGeom>
          <a:noFill/>
          <a:ln/>
        </p:spPr>
        <p:txBody>
          <a:bodyPr wrap="square" lIns="0" tIns="0" rIns="0" bIns="0" rtlCol="0" anchor="t"/>
          <a:lstStyle/>
          <a:p>
            <a:pPr indent="0" marL="0">
              <a:lnSpc>
                <a:spcPts val="2100"/>
              </a:lnSpc>
              <a:buNone/>
            </a:pPr>
            <a:r>
              <a:rPr lang="en-US" sz="1400" dirty="0">
                <a:solidFill>
                  <a:srgbClr val="767B84"/>
                </a:solidFill>
                <a:latin typeface="Arial" pitchFamily="34" charset="0"/>
                <a:ea typeface="Arial" pitchFamily="34" charset="-122"/>
                <a:cs typeface="Arial" pitchFamily="34" charset="-120"/>
              </a:rPr>
              <a:t>18 features about the structure itself. No filed rating among them.</a:t>
            </a:r>
            <a:endParaRPr lang="en-US" sz="1400" dirty="0"/>
          </a:p>
        </p:txBody>
      </p:sp>
      <p:sp>
        <p:nvSpPr>
          <p:cNvPr id="12" name="Text 10"/>
          <p:cNvSpPr txBox="1"/>
          <p:nvPr/>
        </p:nvSpPr>
        <p:spPr>
          <a:xfrm>
            <a:off x="6278728" y="2606040"/>
            <a:ext cx="2362124" cy="640080"/>
          </a:xfrm>
          <a:prstGeom prst="rect">
            <a:avLst/>
          </a:prstGeom>
          <a:noFill/>
          <a:ln/>
        </p:spPr>
        <p:txBody>
          <a:bodyPr wrap="square" lIns="0" tIns="0" rIns="0" bIns="0" rtlCol="0" anchor="ctr"/>
          <a:lstStyle/>
          <a:p>
            <a:pPr indent="0" marL="0">
              <a:buNone/>
            </a:pPr>
            <a:r>
              <a:rPr lang="en-US" sz="4600" b="1" spc="-100" kern="0" dirty="0">
                <a:solidFill>
                  <a:srgbClr val="C9C4BA"/>
                </a:solidFill>
                <a:latin typeface="Arial Black" pitchFamily="34" charset="0"/>
                <a:ea typeface="Arial Black" pitchFamily="34" charset="-122"/>
                <a:cs typeface="Arial Black" pitchFamily="34" charset="-120"/>
              </a:rPr>
              <a:t>03</a:t>
            </a:r>
            <a:endParaRPr lang="en-US" sz="4600" dirty="0"/>
          </a:p>
        </p:txBody>
      </p:sp>
      <p:sp>
        <p:nvSpPr>
          <p:cNvPr id="13" name="Shape 11"/>
          <p:cNvSpPr/>
          <p:nvPr/>
        </p:nvSpPr>
        <p:spPr>
          <a:xfrm>
            <a:off x="6278728" y="3392424"/>
            <a:ext cx="2362124" cy="45720"/>
          </a:xfrm>
          <a:prstGeom prst="rect">
            <a:avLst/>
          </a:prstGeom>
          <a:solidFill>
            <a:srgbClr val="101418"/>
          </a:solidFill>
          <a:ln/>
        </p:spPr>
      </p:sp>
      <p:sp>
        <p:nvSpPr>
          <p:cNvPr id="14" name="Text 12"/>
          <p:cNvSpPr txBox="1"/>
          <p:nvPr/>
        </p:nvSpPr>
        <p:spPr>
          <a:xfrm>
            <a:off x="6278728" y="3575304"/>
            <a:ext cx="2362124" cy="274320"/>
          </a:xfrm>
          <a:prstGeom prst="rect">
            <a:avLst/>
          </a:prstGeom>
          <a:noFill/>
          <a:ln/>
        </p:spPr>
        <p:txBody>
          <a:bodyPr wrap="square" lIns="0" tIns="0" rIns="0" bIns="0" rtlCol="0" anchor="ctr"/>
          <a:lstStyle/>
          <a:p>
            <a:pPr indent="0" marL="0">
              <a:buNone/>
            </a:pPr>
            <a:r>
              <a:rPr lang="en-US" sz="1050" b="1" spc="130" kern="0" dirty="0">
                <a:solidFill>
                  <a:srgbClr val="101418"/>
                </a:solidFill>
                <a:latin typeface="Courier New" pitchFamily="34" charset="0"/>
                <a:ea typeface="Courier New" pitchFamily="34" charset="-122"/>
                <a:cs typeface="Courier New" pitchFamily="34" charset="-120"/>
              </a:rPr>
              <a:t>FROZEN MODEL</a:t>
            </a:r>
            <a:endParaRPr lang="en-US" sz="1050" dirty="0"/>
          </a:p>
        </p:txBody>
      </p:sp>
      <p:sp>
        <p:nvSpPr>
          <p:cNvPr id="15" name="Text 13"/>
          <p:cNvSpPr txBox="1"/>
          <p:nvPr/>
        </p:nvSpPr>
        <p:spPr>
          <a:xfrm>
            <a:off x="6278728" y="3922776"/>
            <a:ext cx="2362124" cy="1188720"/>
          </a:xfrm>
          <a:prstGeom prst="rect">
            <a:avLst/>
          </a:prstGeom>
          <a:noFill/>
          <a:ln/>
        </p:spPr>
        <p:txBody>
          <a:bodyPr wrap="square" lIns="0" tIns="0" rIns="0" bIns="0" rtlCol="0" anchor="t"/>
          <a:lstStyle/>
          <a:p>
            <a:pPr indent="0" marL="0">
              <a:lnSpc>
                <a:spcPts val="2100"/>
              </a:lnSpc>
              <a:buNone/>
            </a:pPr>
            <a:r>
              <a:rPr lang="en-US" sz="1400" dirty="0">
                <a:solidFill>
                  <a:srgbClr val="767B84"/>
                </a:solidFill>
                <a:latin typeface="Arial" pitchFamily="34" charset="0"/>
                <a:ea typeface="Arial" pitchFamily="34" charset="-122"/>
                <a:cs typeface="Arial" pitchFamily="34" charset="-120"/>
              </a:rPr>
              <a:t>Trained to 2015 and never updated. It has never seen a later year.</a:t>
            </a:r>
            <a:endParaRPr lang="en-US" sz="1400" dirty="0"/>
          </a:p>
        </p:txBody>
      </p:sp>
      <p:sp>
        <p:nvSpPr>
          <p:cNvPr id="16" name="Text 14"/>
          <p:cNvSpPr txBox="1"/>
          <p:nvPr/>
        </p:nvSpPr>
        <p:spPr>
          <a:xfrm>
            <a:off x="9006611" y="2606040"/>
            <a:ext cx="2362124" cy="640080"/>
          </a:xfrm>
          <a:prstGeom prst="rect">
            <a:avLst/>
          </a:prstGeom>
          <a:noFill/>
          <a:ln/>
        </p:spPr>
        <p:txBody>
          <a:bodyPr wrap="square" lIns="0" tIns="0" rIns="0" bIns="0" rtlCol="0" anchor="ctr"/>
          <a:lstStyle/>
          <a:p>
            <a:pPr indent="0" marL="0">
              <a:buNone/>
            </a:pPr>
            <a:r>
              <a:rPr lang="en-US" sz="4600" b="1" spc="-100" kern="0" dirty="0">
                <a:solidFill>
                  <a:srgbClr val="E8412F"/>
                </a:solidFill>
                <a:latin typeface="Arial Black" pitchFamily="34" charset="0"/>
                <a:ea typeface="Arial Black" pitchFamily="34" charset="-122"/>
                <a:cs typeface="Arial Black" pitchFamily="34" charset="-120"/>
              </a:rPr>
              <a:t>04</a:t>
            </a:r>
            <a:endParaRPr lang="en-US" sz="4600" dirty="0"/>
          </a:p>
        </p:txBody>
      </p:sp>
      <p:sp>
        <p:nvSpPr>
          <p:cNvPr id="17" name="Shape 15"/>
          <p:cNvSpPr/>
          <p:nvPr/>
        </p:nvSpPr>
        <p:spPr>
          <a:xfrm>
            <a:off x="9006611" y="3392424"/>
            <a:ext cx="2362124" cy="45720"/>
          </a:xfrm>
          <a:prstGeom prst="rect">
            <a:avLst/>
          </a:prstGeom>
          <a:solidFill>
            <a:srgbClr val="E8412F"/>
          </a:solidFill>
          <a:ln/>
        </p:spPr>
      </p:sp>
      <p:sp>
        <p:nvSpPr>
          <p:cNvPr id="18" name="Text 16"/>
          <p:cNvSpPr txBox="1"/>
          <p:nvPr/>
        </p:nvSpPr>
        <p:spPr>
          <a:xfrm>
            <a:off x="9006611" y="3575304"/>
            <a:ext cx="2362124" cy="274320"/>
          </a:xfrm>
          <a:prstGeom prst="rect">
            <a:avLst/>
          </a:prstGeom>
          <a:noFill/>
          <a:ln/>
        </p:spPr>
        <p:txBody>
          <a:bodyPr wrap="square" lIns="0" tIns="0" rIns="0" bIns="0" rtlCol="0" anchor="ctr"/>
          <a:lstStyle/>
          <a:p>
            <a:pPr indent="0" marL="0">
              <a:buNone/>
            </a:pPr>
            <a:r>
              <a:rPr lang="en-US" sz="1050" b="1" spc="130" kern="0" dirty="0">
                <a:solidFill>
                  <a:srgbClr val="101418"/>
                </a:solidFill>
                <a:latin typeface="Courier New" pitchFamily="34" charset="0"/>
                <a:ea typeface="Courier New" pitchFamily="34" charset="-122"/>
                <a:cs typeface="Courier New" pitchFamily="34" charset="-120"/>
              </a:rPr>
              <a:t>THE GAP</a:t>
            </a:r>
            <a:endParaRPr lang="en-US" sz="1050" dirty="0"/>
          </a:p>
        </p:txBody>
      </p:sp>
      <p:sp>
        <p:nvSpPr>
          <p:cNvPr id="19" name="Text 17"/>
          <p:cNvSpPr txBox="1"/>
          <p:nvPr/>
        </p:nvSpPr>
        <p:spPr>
          <a:xfrm>
            <a:off x="9006611" y="3922776"/>
            <a:ext cx="2362124" cy="1188720"/>
          </a:xfrm>
          <a:prstGeom prst="rect">
            <a:avLst/>
          </a:prstGeom>
          <a:noFill/>
          <a:ln/>
        </p:spPr>
        <p:txBody>
          <a:bodyPr wrap="square" lIns="0" tIns="0" rIns="0" bIns="0" rtlCol="0" anchor="t"/>
          <a:lstStyle/>
          <a:p>
            <a:pPr indent="0" marL="0">
              <a:lnSpc>
                <a:spcPts val="2100"/>
              </a:lnSpc>
              <a:buNone/>
            </a:pPr>
            <a:r>
              <a:rPr lang="en-US" sz="1400" dirty="0">
                <a:solidFill>
                  <a:srgbClr val="767B84"/>
                </a:solidFill>
                <a:latin typeface="Arial" pitchFamily="34" charset="0"/>
                <a:ea typeface="Arial" pitchFamily="34" charset="-122"/>
                <a:cs typeface="Arial" pitchFamily="34" charset="-120"/>
              </a:rPr>
              <a:t>Record minus physics, with a calibrated interval on every verdict.</a:t>
            </a:r>
            <a:endParaRPr lang="en-US" sz="1400" dirty="0"/>
          </a:p>
        </p:txBody>
      </p:sp>
      <p:sp>
        <p:nvSpPr>
          <p:cNvPr id="20" name="Text 18"/>
          <p:cNvSpPr txBox="1"/>
          <p:nvPr/>
        </p:nvSpPr>
        <p:spPr>
          <a:xfrm>
            <a:off x="822960" y="5532120"/>
            <a:ext cx="10545775" cy="640080"/>
          </a:xfrm>
          <a:prstGeom prst="rect">
            <a:avLst/>
          </a:prstGeom>
          <a:noFill/>
          <a:ln/>
        </p:spPr>
        <p:txBody>
          <a:bodyPr wrap="square" lIns="0" tIns="0" rIns="0" bIns="0" rtlCol="0" anchor="ctr"/>
          <a:lstStyle/>
          <a:p>
            <a:pPr indent="0" marL="0">
              <a:lnSpc>
                <a:spcPts val="2500"/>
              </a:lnSpc>
              <a:buNone/>
            </a:pPr>
            <a:r>
              <a:rPr lang="en-US" sz="1600" b="1" dirty="0">
                <a:solidFill>
                  <a:srgbClr val="101418"/>
                </a:solidFill>
                <a:latin typeface="Arial" pitchFamily="34" charset="0"/>
                <a:ea typeface="Arial" pitchFamily="34" charset="-122"/>
                <a:cs typeface="Arial" pitchFamily="34" charset="-120"/>
              </a:rPr>
              <a:t>The whole design is one refusal: no inspector rating is ever one of its inputs. It is graded against that rating. It never gets to read one.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37744"/>
          </a:xfrm>
          <a:prstGeom prst="rect">
            <a:avLst/>
          </a:prstGeom>
          <a:noFill/>
          <a:ln/>
        </p:spPr>
        <p:txBody>
          <a:bodyPr wrap="square" lIns="0" tIns="0" rIns="0" bIns="0" rtlCol="0" anchor="t"/>
          <a:lstStyle/>
          <a:p>
            <a:pPr algn="l" indent="0" marL="0">
              <a:buNone/>
            </a:pPr>
            <a:r>
              <a:rPr lang="en-US" sz="1000" b="1" spc="180" kern="0" dirty="0">
                <a:solidFill>
                  <a:srgbClr val="767B84"/>
                </a:solidFill>
                <a:latin typeface="Courier New" pitchFamily="34" charset="0"/>
                <a:ea typeface="Courier New" pitchFamily="34" charset="-122"/>
                <a:cs typeface="Courier New" pitchFamily="34" charset="-120"/>
              </a:rPr>
              <a:t>HOW YOU KNOW IT DID NOT CHEAT</a:t>
            </a:r>
            <a:endParaRPr lang="en-US" sz="1000" dirty="0"/>
          </a:p>
        </p:txBody>
      </p:sp>
      <p:sp>
        <p:nvSpPr>
          <p:cNvPr id="3" name="Text 1"/>
          <p:cNvSpPr txBox="1"/>
          <p:nvPr/>
        </p:nvSpPr>
        <p:spPr>
          <a:xfrm>
            <a:off x="822960" y="1115568"/>
            <a:ext cx="10545775" cy="822960"/>
          </a:xfrm>
          <a:prstGeom prst="rect">
            <a:avLst/>
          </a:prstGeom>
          <a:noFill/>
          <a:ln/>
        </p:spPr>
        <p:txBody>
          <a:bodyPr wrap="square" lIns="0" tIns="0" rIns="0" bIns="0" rtlCol="0" anchor="t"/>
          <a:lstStyle/>
          <a:p>
            <a:pPr indent="0" marL="0">
              <a:lnSpc>
                <a:spcPts val="4704"/>
              </a:lnSpc>
              <a:buNone/>
            </a:pPr>
            <a:r>
              <a:rPr lang="en-US" sz="4200" b="1" dirty="0">
                <a:solidFill>
                  <a:srgbClr val="101418"/>
                </a:solidFill>
                <a:latin typeface="Arial Black" pitchFamily="34" charset="0"/>
                <a:ea typeface="Arial Black" pitchFamily="34" charset="-122"/>
                <a:cs typeface="Arial Black" pitchFamily="34" charset="-120"/>
              </a:rPr>
              <a:t>Frozen in 2015. The rest is hidden.</a:t>
            </a:r>
            <a:endParaRPr lang="en-US" sz="4200" dirty="0"/>
          </a:p>
        </p:txBody>
      </p:sp>
      <p:sp>
        <p:nvSpPr>
          <p:cNvPr id="4" name="Shape 2"/>
          <p:cNvSpPr/>
          <p:nvPr/>
        </p:nvSpPr>
        <p:spPr>
          <a:xfrm>
            <a:off x="822960" y="2743200"/>
            <a:ext cx="5483803" cy="1051560"/>
          </a:xfrm>
          <a:prstGeom prst="rect">
            <a:avLst/>
          </a:prstGeom>
          <a:solidFill>
            <a:srgbClr val="C9C4BA"/>
          </a:solidFill>
          <a:ln/>
        </p:spPr>
      </p:sp>
      <p:sp>
        <p:nvSpPr>
          <p:cNvPr id="5" name="Text 3"/>
          <p:cNvSpPr txBox="1"/>
          <p:nvPr/>
        </p:nvSpPr>
        <p:spPr>
          <a:xfrm>
            <a:off x="1042416" y="2944368"/>
            <a:ext cx="5044891" cy="274320"/>
          </a:xfrm>
          <a:prstGeom prst="rect">
            <a:avLst/>
          </a:prstGeom>
          <a:noFill/>
          <a:ln/>
        </p:spPr>
        <p:txBody>
          <a:bodyPr wrap="square" lIns="0" tIns="0" rIns="0" bIns="0" rtlCol="0" anchor="ctr"/>
          <a:lstStyle/>
          <a:p>
            <a:pPr indent="0" marL="0">
              <a:buNone/>
            </a:pPr>
            <a:r>
              <a:rPr lang="en-US" sz="1100" b="1" spc="140" kern="0" dirty="0">
                <a:solidFill>
                  <a:srgbClr val="101418"/>
                </a:solidFill>
                <a:latin typeface="Courier New" pitchFamily="34" charset="0"/>
                <a:ea typeface="Courier New" pitchFamily="34" charset="-122"/>
                <a:cs typeface="Courier New" pitchFamily="34" charset="-120"/>
              </a:rPr>
              <a:t>TRAINED</a:t>
            </a:r>
            <a:endParaRPr lang="en-US" sz="1100" dirty="0"/>
          </a:p>
        </p:txBody>
      </p:sp>
      <p:sp>
        <p:nvSpPr>
          <p:cNvPr id="6" name="Text 4"/>
          <p:cNvSpPr txBox="1"/>
          <p:nvPr/>
        </p:nvSpPr>
        <p:spPr>
          <a:xfrm>
            <a:off x="1042416" y="3273552"/>
            <a:ext cx="5044891" cy="365760"/>
          </a:xfrm>
          <a:prstGeom prst="rect">
            <a:avLst/>
          </a:prstGeom>
          <a:noFill/>
          <a:ln/>
        </p:spPr>
        <p:txBody>
          <a:bodyPr wrap="square" lIns="0" tIns="0" rIns="0" bIns="0" rtlCol="0" anchor="ctr"/>
          <a:lstStyle/>
          <a:p>
            <a:pPr indent="0" marL="0">
              <a:buNone/>
            </a:pPr>
            <a:r>
              <a:rPr lang="en-US" sz="1300" dirty="0">
                <a:solidFill>
                  <a:srgbClr val="101418"/>
                </a:solidFill>
                <a:latin typeface="Arial" pitchFamily="34" charset="0"/>
                <a:ea typeface="Arial" pitchFamily="34" charset="-122"/>
                <a:cs typeface="Arial" pitchFamily="34" charset="-120"/>
              </a:rPr>
              <a:t>168,864 filings it learned from</a:t>
            </a:r>
            <a:endParaRPr lang="en-US" sz="1300" dirty="0"/>
          </a:p>
        </p:txBody>
      </p:sp>
      <p:sp>
        <p:nvSpPr>
          <p:cNvPr id="7" name="Text 5"/>
          <p:cNvSpPr txBox="1"/>
          <p:nvPr/>
        </p:nvSpPr>
        <p:spPr>
          <a:xfrm>
            <a:off x="822960" y="3941064"/>
            <a:ext cx="5483803" cy="274320"/>
          </a:xfrm>
          <a:prstGeom prst="rect">
            <a:avLst/>
          </a:prstGeom>
          <a:noFill/>
          <a:ln/>
        </p:spPr>
        <p:txBody>
          <a:bodyPr wrap="square" lIns="0" tIns="0" rIns="0" bIns="0" rtlCol="0" anchor="ctr"/>
          <a:lstStyle/>
          <a:p>
            <a:pPr indent="0" marL="0">
              <a:buNone/>
            </a:pPr>
            <a:r>
              <a:rPr lang="en-US" sz="1050" spc="80" kern="0" dirty="0">
                <a:solidFill>
                  <a:srgbClr val="767B84"/>
                </a:solidFill>
                <a:latin typeface="Courier New" pitchFamily="34" charset="0"/>
                <a:ea typeface="Courier New" pitchFamily="34" charset="-122"/>
                <a:cs typeface="Courier New" pitchFamily="34" charset="-120"/>
              </a:rPr>
              <a:t>1992 – 2015</a:t>
            </a:r>
            <a:endParaRPr lang="en-US" sz="1050" dirty="0"/>
          </a:p>
        </p:txBody>
      </p:sp>
      <p:sp>
        <p:nvSpPr>
          <p:cNvPr id="8" name="Shape 6"/>
          <p:cNvSpPr/>
          <p:nvPr/>
        </p:nvSpPr>
        <p:spPr>
          <a:xfrm>
            <a:off x="6306763" y="2743200"/>
            <a:ext cx="1687324" cy="1051560"/>
          </a:xfrm>
          <a:prstGeom prst="rect">
            <a:avLst/>
          </a:prstGeom>
          <a:solidFill>
            <a:srgbClr val="8E8A80"/>
          </a:solidFill>
          <a:ln/>
        </p:spPr>
      </p:sp>
      <p:sp>
        <p:nvSpPr>
          <p:cNvPr id="9" name="Text 7"/>
          <p:cNvSpPr txBox="1"/>
          <p:nvPr/>
        </p:nvSpPr>
        <p:spPr>
          <a:xfrm>
            <a:off x="6526219" y="2944368"/>
            <a:ext cx="1248412" cy="274320"/>
          </a:xfrm>
          <a:prstGeom prst="rect">
            <a:avLst/>
          </a:prstGeom>
          <a:noFill/>
          <a:ln/>
        </p:spPr>
        <p:txBody>
          <a:bodyPr wrap="square" lIns="0" tIns="0" rIns="0" bIns="0" rtlCol="0" anchor="ctr"/>
          <a:lstStyle/>
          <a:p>
            <a:pPr indent="0" marL="0">
              <a:buNone/>
            </a:pPr>
            <a:r>
              <a:rPr lang="en-US" sz="1100" b="1" spc="140" kern="0" dirty="0">
                <a:solidFill>
                  <a:srgbClr val="FFFFFF"/>
                </a:solidFill>
                <a:latin typeface="Courier New" pitchFamily="34" charset="0"/>
                <a:ea typeface="Courier New" pitchFamily="34" charset="-122"/>
                <a:cs typeface="Courier New" pitchFamily="34" charset="-120"/>
              </a:rPr>
              <a:t>CALIBRATED</a:t>
            </a:r>
            <a:endParaRPr lang="en-US" sz="1100" dirty="0"/>
          </a:p>
        </p:txBody>
      </p:sp>
      <p:sp>
        <p:nvSpPr>
          <p:cNvPr id="10" name="Text 8"/>
          <p:cNvSpPr txBox="1"/>
          <p:nvPr/>
        </p:nvSpPr>
        <p:spPr>
          <a:xfrm>
            <a:off x="6526219" y="3273552"/>
            <a:ext cx="1248412" cy="3657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interval set here</a:t>
            </a:r>
            <a:endParaRPr lang="en-US" sz="1300" dirty="0"/>
          </a:p>
        </p:txBody>
      </p:sp>
      <p:sp>
        <p:nvSpPr>
          <p:cNvPr id="11" name="Text 9"/>
          <p:cNvSpPr txBox="1"/>
          <p:nvPr/>
        </p:nvSpPr>
        <p:spPr>
          <a:xfrm>
            <a:off x="6306763" y="3941064"/>
            <a:ext cx="1687324" cy="274320"/>
          </a:xfrm>
          <a:prstGeom prst="rect">
            <a:avLst/>
          </a:prstGeom>
          <a:noFill/>
          <a:ln/>
        </p:spPr>
        <p:txBody>
          <a:bodyPr wrap="square" lIns="0" tIns="0" rIns="0" bIns="0" rtlCol="0" anchor="ctr"/>
          <a:lstStyle/>
          <a:p>
            <a:pPr indent="0" marL="0">
              <a:buNone/>
            </a:pPr>
            <a:r>
              <a:rPr lang="en-US" sz="1050" spc="80" kern="0" dirty="0">
                <a:solidFill>
                  <a:srgbClr val="767B84"/>
                </a:solidFill>
                <a:latin typeface="Courier New" pitchFamily="34" charset="0"/>
                <a:ea typeface="Courier New" pitchFamily="34" charset="-122"/>
                <a:cs typeface="Courier New" pitchFamily="34" charset="-120"/>
              </a:rPr>
              <a:t>2016 – 2018</a:t>
            </a:r>
            <a:endParaRPr lang="en-US" sz="1050" dirty="0"/>
          </a:p>
        </p:txBody>
      </p:sp>
      <p:sp>
        <p:nvSpPr>
          <p:cNvPr id="12" name="Shape 10"/>
          <p:cNvSpPr/>
          <p:nvPr/>
        </p:nvSpPr>
        <p:spPr>
          <a:xfrm>
            <a:off x="7994087" y="2743200"/>
            <a:ext cx="3374648" cy="1051560"/>
          </a:xfrm>
          <a:prstGeom prst="rect">
            <a:avLst/>
          </a:prstGeom>
          <a:solidFill>
            <a:srgbClr val="E8412F"/>
          </a:solidFill>
          <a:ln/>
        </p:spPr>
      </p:sp>
      <p:sp>
        <p:nvSpPr>
          <p:cNvPr id="13" name="Text 11"/>
          <p:cNvSpPr txBox="1"/>
          <p:nvPr/>
        </p:nvSpPr>
        <p:spPr>
          <a:xfrm>
            <a:off x="8213543" y="2944368"/>
            <a:ext cx="2935736" cy="274320"/>
          </a:xfrm>
          <a:prstGeom prst="rect">
            <a:avLst/>
          </a:prstGeom>
          <a:noFill/>
          <a:ln/>
        </p:spPr>
        <p:txBody>
          <a:bodyPr wrap="square" lIns="0" tIns="0" rIns="0" bIns="0" rtlCol="0" anchor="ctr"/>
          <a:lstStyle/>
          <a:p>
            <a:pPr indent="0" marL="0">
              <a:buNone/>
            </a:pPr>
            <a:r>
              <a:rPr lang="en-US" sz="1100" b="1" spc="140" kern="0" dirty="0">
                <a:solidFill>
                  <a:srgbClr val="FFFFFF"/>
                </a:solidFill>
                <a:latin typeface="Courier New" pitchFamily="34" charset="0"/>
                <a:ea typeface="Courier New" pitchFamily="34" charset="-122"/>
                <a:cs typeface="Courier New" pitchFamily="34" charset="-120"/>
              </a:rPr>
              <a:t>NEVER SEEN</a:t>
            </a:r>
            <a:endParaRPr lang="en-US" sz="1100" dirty="0"/>
          </a:p>
        </p:txBody>
      </p:sp>
      <p:sp>
        <p:nvSpPr>
          <p:cNvPr id="14" name="Text 12"/>
          <p:cNvSpPr txBox="1"/>
          <p:nvPr/>
        </p:nvSpPr>
        <p:spPr>
          <a:xfrm>
            <a:off x="8213543" y="3273552"/>
            <a:ext cx="2935736" cy="3657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46,541 rows of pure holdout</a:t>
            </a:r>
            <a:endParaRPr lang="en-US" sz="1300" dirty="0"/>
          </a:p>
        </p:txBody>
      </p:sp>
      <p:sp>
        <p:nvSpPr>
          <p:cNvPr id="15" name="Text 13"/>
          <p:cNvSpPr txBox="1"/>
          <p:nvPr/>
        </p:nvSpPr>
        <p:spPr>
          <a:xfrm>
            <a:off x="7994087" y="3941064"/>
            <a:ext cx="3374648" cy="274320"/>
          </a:xfrm>
          <a:prstGeom prst="rect">
            <a:avLst/>
          </a:prstGeom>
          <a:noFill/>
          <a:ln/>
        </p:spPr>
        <p:txBody>
          <a:bodyPr wrap="square" lIns="0" tIns="0" rIns="0" bIns="0" rtlCol="0" anchor="ctr"/>
          <a:lstStyle/>
          <a:p>
            <a:pPr indent="0" marL="0">
              <a:buNone/>
            </a:pPr>
            <a:r>
              <a:rPr lang="en-US" sz="1050" spc="80" kern="0" dirty="0">
                <a:solidFill>
                  <a:srgbClr val="767B84"/>
                </a:solidFill>
                <a:latin typeface="Courier New" pitchFamily="34" charset="0"/>
                <a:ea typeface="Courier New" pitchFamily="34" charset="-122"/>
                <a:cs typeface="Courier New" pitchFamily="34" charset="-120"/>
              </a:rPr>
              <a:t>2019 – 2025</a:t>
            </a:r>
            <a:endParaRPr lang="en-US" sz="1050" dirty="0"/>
          </a:p>
        </p:txBody>
      </p:sp>
      <p:sp>
        <p:nvSpPr>
          <p:cNvPr id="16" name="Text 14"/>
          <p:cNvSpPr txBox="1"/>
          <p:nvPr/>
        </p:nvSpPr>
        <p:spPr>
          <a:xfrm>
            <a:off x="822960" y="4846320"/>
            <a:ext cx="9692640" cy="731520"/>
          </a:xfrm>
          <a:prstGeom prst="rect">
            <a:avLst/>
          </a:prstGeom>
          <a:noFill/>
          <a:ln/>
        </p:spPr>
        <p:txBody>
          <a:bodyPr wrap="square" lIns="0" tIns="0" rIns="0" bIns="0" rtlCol="0" anchor="ctr"/>
          <a:lstStyle/>
          <a:p>
            <a:pPr indent="0" marL="0">
              <a:lnSpc>
                <a:spcPts val="2500"/>
              </a:lnSpc>
              <a:buNone/>
            </a:pPr>
            <a:r>
              <a:rPr lang="en-US" sz="1600" dirty="0">
                <a:solidFill>
                  <a:srgbClr val="101418"/>
                </a:solidFill>
                <a:latin typeface="Arial" pitchFamily="34" charset="0"/>
                <a:ea typeface="Arial" pitchFamily="34" charset="-122"/>
                <a:cs typeface="Arial" pitchFamily="34" charset="-120"/>
              </a:rPr>
              <a:t>Every number we quote comes from the red block. It is data the model has never been shown, and we did not go back and retune anything to make it look better.</a:t>
            </a:r>
            <a:endParaRPr lang="en-US" sz="1600" dirty="0"/>
          </a:p>
        </p:txBody>
      </p:sp>
      <p:sp>
        <p:nvSpPr>
          <p:cNvPr id="17" name="Text 15"/>
          <p:cNvSpPr txBox="1"/>
          <p:nvPr/>
        </p:nvSpPr>
        <p:spPr>
          <a:xfrm>
            <a:off x="822960" y="5760720"/>
            <a:ext cx="9692640" cy="365760"/>
          </a:xfrm>
          <a:prstGeom prst="rect">
            <a:avLst/>
          </a:prstGeom>
          <a:noFill/>
          <a:ln/>
        </p:spPr>
        <p:txBody>
          <a:bodyPr wrap="square" lIns="0" tIns="0" rIns="0" bIns="0" rtlCol="0" anchor="ctr"/>
          <a:lstStyle/>
          <a:p>
            <a:pPr indent="0" marL="0">
              <a:buNone/>
            </a:pPr>
            <a:r>
              <a:rPr lang="en-US" sz="1200" dirty="0">
                <a:solidFill>
                  <a:srgbClr val="767B84"/>
                </a:solidFill>
                <a:latin typeface="Courier New" pitchFamily="34" charset="0"/>
                <a:ea typeface="Courier New" pitchFamily="34" charset="-122"/>
                <a:cs typeface="Courier New" pitchFamily="34" charset="-120"/>
              </a:rPr>
              <a:t>Conformal coverage 89% against a 90% target — reported short, not retuned.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418"/>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237744"/>
          </a:xfrm>
          <a:prstGeom prst="rect">
            <a:avLst/>
          </a:prstGeom>
          <a:noFill/>
          <a:ln/>
        </p:spPr>
        <p:txBody>
          <a:bodyPr wrap="square" lIns="0" tIns="0" rIns="0" bIns="0" rtlCol="0" anchor="t"/>
          <a:lstStyle/>
          <a:p>
            <a:pPr algn="l" indent="0" marL="0">
              <a:buNone/>
            </a:pPr>
            <a:r>
              <a:rPr lang="en-US" sz="1000" b="1" spc="180" kern="0" dirty="0">
                <a:solidFill>
                  <a:srgbClr val="E8412F"/>
                </a:solidFill>
                <a:latin typeface="Courier New" pitchFamily="34" charset="0"/>
                <a:ea typeface="Courier New" pitchFamily="34" charset="-122"/>
                <a:cs typeface="Courier New" pitchFamily="34" charset="-120"/>
              </a:rPr>
              <a:t>THE OBVIOUS OBJECTION</a:t>
            </a:r>
            <a:endParaRPr lang="en-US" sz="1000" dirty="0"/>
          </a:p>
        </p:txBody>
      </p:sp>
      <p:sp>
        <p:nvSpPr>
          <p:cNvPr id="3" name="Text 1"/>
          <p:cNvSpPr txBox="1"/>
          <p:nvPr/>
        </p:nvSpPr>
        <p:spPr>
          <a:xfrm>
            <a:off x="822960" y="1115568"/>
            <a:ext cx="10545775" cy="822960"/>
          </a:xfrm>
          <a:prstGeom prst="rect">
            <a:avLst/>
          </a:prstGeom>
          <a:noFill/>
          <a:ln/>
        </p:spPr>
        <p:txBody>
          <a:bodyPr wrap="square" lIns="0" tIns="0" rIns="0" bIns="0" rtlCol="0" anchor="t"/>
          <a:lstStyle/>
          <a:p>
            <a:pPr indent="0" marL="0">
              <a:lnSpc>
                <a:spcPts val="4704"/>
              </a:lnSpc>
              <a:buNone/>
            </a:pPr>
            <a:r>
              <a:rPr lang="en-US" sz="4200" b="1" dirty="0">
                <a:solidFill>
                  <a:srgbClr val="FFFFFF"/>
                </a:solidFill>
                <a:latin typeface="Arial Black" pitchFamily="34" charset="0"/>
                <a:ea typeface="Arial Black" pitchFamily="34" charset="-122"/>
                <a:cs typeface="Arial Black" pitchFamily="34" charset="-120"/>
              </a:rPr>
              <a:t>Just sort by the worst rating.</a:t>
            </a:r>
            <a:endParaRPr lang="en-US" sz="4200" dirty="0"/>
          </a:p>
        </p:txBody>
      </p:sp>
      <p:sp>
        <p:nvSpPr>
          <p:cNvPr id="4" name="Text 2"/>
          <p:cNvSpPr txBox="1"/>
          <p:nvPr/>
        </p:nvSpPr>
        <p:spPr>
          <a:xfrm>
            <a:off x="822960" y="2212848"/>
            <a:ext cx="9509760" cy="731520"/>
          </a:xfrm>
          <a:prstGeom prst="rect">
            <a:avLst/>
          </a:prstGeom>
          <a:noFill/>
          <a:ln/>
        </p:spPr>
        <p:txBody>
          <a:bodyPr wrap="square" lIns="0" tIns="0" rIns="0" bIns="0" rtlCol="0" anchor="ctr"/>
          <a:lstStyle/>
          <a:p>
            <a:pPr indent="0" marL="0">
              <a:lnSpc>
                <a:spcPts val="2500"/>
              </a:lnSpc>
              <a:buNone/>
            </a:pPr>
            <a:r>
              <a:rPr lang="en-US" sz="1600" dirty="0">
                <a:solidFill>
                  <a:srgbClr val="8A8F98"/>
                </a:solidFill>
                <a:latin typeface="Arial" pitchFamily="34" charset="0"/>
                <a:ea typeface="Arial" pitchFamily="34" charset="-122"/>
                <a:cs typeface="Arial" pitchFamily="34" charset="-120"/>
              </a:rPr>
              <a:t>No machine learning at all. Take the bridges the file already rates worst, inspect the top 15%, and count how many of the 166 real failures you catch.</a:t>
            </a:r>
            <a:endParaRPr lang="en-US" sz="1600" dirty="0"/>
          </a:p>
        </p:txBody>
      </p:sp>
      <p:sp>
        <p:nvSpPr>
          <p:cNvPr id="5" name="Text 3"/>
          <p:cNvSpPr txBox="1"/>
          <p:nvPr/>
        </p:nvSpPr>
        <p:spPr>
          <a:xfrm>
            <a:off x="822960" y="3246120"/>
            <a:ext cx="4937760" cy="640080"/>
          </a:xfrm>
          <a:prstGeom prst="rect">
            <a:avLst/>
          </a:prstGeom>
          <a:noFill/>
          <a:ln/>
        </p:spPr>
        <p:txBody>
          <a:bodyPr wrap="square" lIns="0" tIns="0" rIns="0" bIns="0" rtlCol="0" anchor="ctr"/>
          <a:lstStyle/>
          <a:p>
            <a:pPr indent="0" marL="0">
              <a:buNone/>
            </a:pPr>
            <a:r>
              <a:rPr lang="en-US" sz="2000" dirty="0">
                <a:solidFill>
                  <a:srgbClr val="9AA0A8"/>
                </a:solidFill>
                <a:latin typeface="Arial" pitchFamily="34" charset="0"/>
                <a:ea typeface="Arial" pitchFamily="34" charset="-122"/>
                <a:cs typeface="Arial" pitchFamily="34" charset="-120"/>
              </a:rPr>
              <a:t>Sort by worst rating</a:t>
            </a:r>
            <a:endParaRPr lang="en-US" sz="2000" dirty="0"/>
          </a:p>
        </p:txBody>
      </p:sp>
      <p:sp>
        <p:nvSpPr>
          <p:cNvPr id="6" name="Text 4"/>
          <p:cNvSpPr txBox="1"/>
          <p:nvPr/>
        </p:nvSpPr>
        <p:spPr>
          <a:xfrm>
            <a:off x="5943600" y="3154680"/>
            <a:ext cx="1463040" cy="822960"/>
          </a:xfrm>
          <a:prstGeom prst="rect">
            <a:avLst/>
          </a:prstGeom>
          <a:noFill/>
          <a:ln/>
        </p:spPr>
        <p:txBody>
          <a:bodyPr wrap="square" lIns="0" tIns="0" rIns="0" bIns="0" rtlCol="0" anchor="ctr"/>
          <a:lstStyle/>
          <a:p>
            <a:pPr algn="r" indent="0" marL="0">
              <a:buNone/>
            </a:pPr>
            <a:r>
              <a:rPr lang="en-US" sz="5400" b="1" spc="-100" kern="0" dirty="0">
                <a:solidFill>
                  <a:srgbClr val="9AA0A8"/>
                </a:solidFill>
                <a:latin typeface="Arial Black" pitchFamily="34" charset="0"/>
                <a:ea typeface="Arial Black" pitchFamily="34" charset="-122"/>
                <a:cs typeface="Arial Black" pitchFamily="34" charset="-120"/>
              </a:rPr>
              <a:t>40</a:t>
            </a:r>
            <a:endParaRPr lang="en-US" sz="5400" dirty="0"/>
          </a:p>
        </p:txBody>
      </p:sp>
      <p:sp>
        <p:nvSpPr>
          <p:cNvPr id="7" name="Text 5"/>
          <p:cNvSpPr txBox="1"/>
          <p:nvPr/>
        </p:nvSpPr>
        <p:spPr>
          <a:xfrm>
            <a:off x="7543800" y="3246120"/>
            <a:ext cx="1828800" cy="640080"/>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of 166</a:t>
            </a:r>
            <a:endParaRPr lang="en-US" sz="1500" dirty="0"/>
          </a:p>
        </p:txBody>
      </p:sp>
      <p:sp>
        <p:nvSpPr>
          <p:cNvPr id="8" name="Text 6"/>
          <p:cNvSpPr txBox="1"/>
          <p:nvPr/>
        </p:nvSpPr>
        <p:spPr>
          <a:xfrm>
            <a:off x="822960" y="4206240"/>
            <a:ext cx="493776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DISSENT</a:t>
            </a:r>
            <a:endParaRPr lang="en-US" sz="2000" dirty="0"/>
          </a:p>
        </p:txBody>
      </p:sp>
      <p:sp>
        <p:nvSpPr>
          <p:cNvPr id="9" name="Text 7"/>
          <p:cNvSpPr txBox="1"/>
          <p:nvPr/>
        </p:nvSpPr>
        <p:spPr>
          <a:xfrm>
            <a:off x="5943600" y="4114800"/>
            <a:ext cx="1463040" cy="822960"/>
          </a:xfrm>
          <a:prstGeom prst="rect">
            <a:avLst/>
          </a:prstGeom>
          <a:noFill/>
          <a:ln/>
        </p:spPr>
        <p:txBody>
          <a:bodyPr wrap="square" lIns="0" tIns="0" rIns="0" bIns="0" rtlCol="0" anchor="ctr"/>
          <a:lstStyle/>
          <a:p>
            <a:pPr algn="r" indent="0" marL="0">
              <a:buNone/>
            </a:pPr>
            <a:r>
              <a:rPr lang="en-US" sz="5400" b="1" spc="-100" kern="0" dirty="0">
                <a:solidFill>
                  <a:srgbClr val="FFFFFF"/>
                </a:solidFill>
                <a:latin typeface="Arial Black" pitchFamily="34" charset="0"/>
                <a:ea typeface="Arial Black" pitchFamily="34" charset="-122"/>
                <a:cs typeface="Arial Black" pitchFamily="34" charset="-120"/>
              </a:rPr>
              <a:t>38</a:t>
            </a:r>
            <a:endParaRPr lang="en-US" sz="5400" dirty="0"/>
          </a:p>
        </p:txBody>
      </p:sp>
      <p:sp>
        <p:nvSpPr>
          <p:cNvPr id="10" name="Text 8"/>
          <p:cNvSpPr txBox="1"/>
          <p:nvPr/>
        </p:nvSpPr>
        <p:spPr>
          <a:xfrm>
            <a:off x="7543800" y="4206240"/>
            <a:ext cx="1828800" cy="640080"/>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of 166</a:t>
            </a:r>
            <a:endParaRPr lang="en-US" sz="1500" dirty="0"/>
          </a:p>
        </p:txBody>
      </p:sp>
      <p:sp>
        <p:nvSpPr>
          <p:cNvPr id="11" name="Shape 9"/>
          <p:cNvSpPr/>
          <p:nvPr/>
        </p:nvSpPr>
        <p:spPr>
          <a:xfrm>
            <a:off x="822960" y="5349240"/>
            <a:ext cx="7589520" cy="45720"/>
          </a:xfrm>
          <a:prstGeom prst="rect">
            <a:avLst/>
          </a:prstGeom>
          <a:solidFill>
            <a:srgbClr val="E8412F"/>
          </a:solidFill>
          <a:ln/>
        </p:spPr>
      </p:sp>
      <p:sp>
        <p:nvSpPr>
          <p:cNvPr id="12" name="Text 10"/>
          <p:cNvSpPr txBox="1"/>
          <p:nvPr/>
        </p:nvSpPr>
        <p:spPr>
          <a:xfrm>
            <a:off x="822960" y="5532120"/>
            <a:ext cx="9692640" cy="411480"/>
          </a:xfrm>
          <a:prstGeom prst="rect">
            <a:avLst/>
          </a:prstGeom>
          <a:noFill/>
          <a:ln/>
        </p:spPr>
        <p:txBody>
          <a:bodyPr wrap="square" lIns="0" tIns="0" rIns="0" bIns="0" rtlCol="0" anchor="ctr"/>
          <a:lstStyle/>
          <a:p>
            <a:pPr indent="0" marL="0">
              <a:buNone/>
            </a:pPr>
            <a:r>
              <a:rPr lang="en-US" sz="2100" b="1" dirty="0">
                <a:solidFill>
                  <a:srgbClr val="E8412F"/>
                </a:solidFill>
                <a:latin typeface="Arial Black" pitchFamily="34" charset="0"/>
                <a:ea typeface="Arial Black" pitchFamily="34" charset="-122"/>
                <a:cs typeface="Arial Black" pitchFamily="34" charset="-120"/>
              </a:rPr>
              <a:t>On the raw count, the version with no model in it wins.</a:t>
            </a:r>
            <a:endParaRPr lang="en-US" sz="2100" dirty="0"/>
          </a:p>
        </p:txBody>
      </p:sp>
      <p:sp>
        <p:nvSpPr>
          <p:cNvPr id="13" name="Text 11"/>
          <p:cNvSpPr txBox="1"/>
          <p:nvPr/>
        </p:nvSpPr>
        <p:spPr>
          <a:xfrm>
            <a:off x="822960" y="6016752"/>
            <a:ext cx="9692640" cy="365760"/>
          </a:xfrm>
          <a:prstGeom prst="rect">
            <a:avLst/>
          </a:prstGeom>
          <a:noFill/>
          <a:ln/>
        </p:spPr>
        <p:txBody>
          <a:bodyPr wrap="square" lIns="0" tIns="0" rIns="0" bIns="0" rtlCol="0" anchor="ctr"/>
          <a:lstStyle/>
          <a:p>
            <a:pPr indent="0" marL="0">
              <a:buNone/>
            </a:pPr>
            <a:r>
              <a:rPr lang="en-US" sz="1500" dirty="0">
                <a:solidFill>
                  <a:srgbClr val="8A8F98"/>
                </a:solidFill>
                <a:latin typeface="Arial" pitchFamily="34" charset="0"/>
                <a:ea typeface="Arial" pitchFamily="34" charset="-122"/>
                <a:cs typeface="Arial" pitchFamily="34" charset="-120"/>
              </a:rPr>
              <a:t>That is printed in our own product, not buried in an appendix.</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412F"/>
        </a:solidFill>
      </p:bgPr>
    </p:bg>
    <p:spTree>
      <p:nvGrpSpPr>
        <p:cNvPr id="1" name=""/>
        <p:cNvGrpSpPr/>
        <p:nvPr/>
      </p:nvGrpSpPr>
      <p:grpSpPr>
        <a:xfrm>
          <a:off x="0" y="0"/>
          <a:ext cx="0" cy="0"/>
          <a:chOff x="0" y="0"/>
          <a:chExt cx="0" cy="0"/>
        </a:xfrm>
      </p:grpSpPr>
      <p:sp>
        <p:nvSpPr>
          <p:cNvPr id="2" name="Text 0"/>
          <p:cNvSpPr txBox="1"/>
          <p:nvPr/>
        </p:nvSpPr>
        <p:spPr>
          <a:xfrm>
            <a:off x="822960" y="777240"/>
            <a:ext cx="8229600" cy="237744"/>
          </a:xfrm>
          <a:prstGeom prst="rect">
            <a:avLst/>
          </a:prstGeom>
          <a:noFill/>
          <a:ln/>
        </p:spPr>
        <p:txBody>
          <a:bodyPr wrap="square" lIns="0" tIns="0" rIns="0" bIns="0" rtlCol="0" anchor="t"/>
          <a:lstStyle/>
          <a:p>
            <a:pPr algn="l" indent="0" marL="0">
              <a:buNone/>
            </a:pPr>
            <a:r>
              <a:rPr lang="en-US" sz="1000" b="1" spc="180" kern="0" dirty="0">
                <a:solidFill>
                  <a:srgbClr val="FFD9D4"/>
                </a:solidFill>
                <a:latin typeface="Courier New" pitchFamily="34" charset="0"/>
                <a:ea typeface="Courier New" pitchFamily="34" charset="-122"/>
                <a:cs typeface="Courier New" pitchFamily="34" charset="-120"/>
              </a:rPr>
              <a:t>SO WHY DOES THE MODEL EARN ITS PLACE</a:t>
            </a:r>
            <a:endParaRPr lang="en-US" sz="1000" dirty="0"/>
          </a:p>
        </p:txBody>
      </p:sp>
      <p:sp>
        <p:nvSpPr>
          <p:cNvPr id="3" name="Text 1"/>
          <p:cNvSpPr txBox="1"/>
          <p:nvPr/>
        </p:nvSpPr>
        <p:spPr>
          <a:xfrm>
            <a:off x="603504" y="1188720"/>
            <a:ext cx="8229600" cy="2834640"/>
          </a:xfrm>
          <a:prstGeom prst="rect">
            <a:avLst/>
          </a:prstGeom>
          <a:noFill/>
          <a:ln/>
        </p:spPr>
        <p:txBody>
          <a:bodyPr wrap="square" lIns="0" tIns="0" rIns="0" bIns="0" rtlCol="0" anchor="ctr"/>
          <a:lstStyle/>
          <a:p>
            <a:pPr algn="l" indent="0" marL="0">
              <a:buNone/>
            </a:pPr>
            <a:r>
              <a:rPr lang="en-US" sz="25000" b="1" spc="-900" kern="0" dirty="0">
                <a:solidFill>
                  <a:srgbClr val="FFFFFF"/>
                </a:solidFill>
                <a:latin typeface="Arial Black" pitchFamily="34" charset="0"/>
                <a:ea typeface="Arial Black" pitchFamily="34" charset="-122"/>
                <a:cs typeface="Arial Black" pitchFamily="34" charset="-120"/>
              </a:rPr>
              <a:t>108</a:t>
            </a:r>
            <a:endParaRPr lang="en-US" sz="25000" dirty="0"/>
          </a:p>
        </p:txBody>
      </p:sp>
      <p:sp>
        <p:nvSpPr>
          <p:cNvPr id="4" name="Text 2"/>
          <p:cNvSpPr txBox="1"/>
          <p:nvPr/>
        </p:nvSpPr>
        <p:spPr>
          <a:xfrm>
            <a:off x="822960" y="4206240"/>
            <a:ext cx="10058400" cy="1188720"/>
          </a:xfrm>
          <a:prstGeom prst="rect">
            <a:avLst/>
          </a:prstGeom>
          <a:noFill/>
          <a:ln/>
        </p:spPr>
        <p:txBody>
          <a:bodyPr wrap="square" lIns="0" tIns="0" rIns="0" bIns="0" rtlCol="0" anchor="ctr"/>
          <a:lstStyle/>
          <a:p>
            <a:pPr indent="0" marL="0">
              <a:lnSpc>
                <a:spcPts val="4000"/>
              </a:lnSpc>
              <a:buNone/>
            </a:pPr>
            <a:r>
              <a:rPr lang="en-US" sz="3100" b="1" dirty="0">
                <a:solidFill>
                  <a:srgbClr val="FFFFFF"/>
                </a:solidFill>
                <a:latin typeface="Arial Black" pitchFamily="34" charset="0"/>
                <a:ea typeface="Arial Black" pitchFamily="34" charset="-122"/>
                <a:cs typeface="Arial Black" pitchFamily="34" charset="-120"/>
              </a:rPr>
              <a:t>of those 166 failures were on bridges</a:t>
            </a:r>
            <a:endParaRPr lang="en-US" sz="3100" dirty="0"/>
          </a:p>
          <a:p>
            <a:pPr indent="0" marL="0">
              <a:lnSpc>
                <a:spcPts val="4000"/>
              </a:lnSpc>
              <a:buNone/>
            </a:pPr>
            <a:r>
              <a:rPr lang="en-US" sz="3100" b="1" dirty="0">
                <a:solidFill>
                  <a:srgbClr val="FFFFFF"/>
                </a:solidFill>
                <a:latin typeface="Arial Black" pitchFamily="34" charset="0"/>
                <a:ea typeface="Arial Black" pitchFamily="34" charset="-122"/>
                <a:cs typeface="Arial Black" pitchFamily="34" charset="-120"/>
              </a:rPr>
              <a:t>the record still called FINE.</a:t>
            </a:r>
            <a:endParaRPr lang="en-US" sz="3100" dirty="0"/>
          </a:p>
        </p:txBody>
      </p:sp>
      <p:sp>
        <p:nvSpPr>
          <p:cNvPr id="5" name="Text 3"/>
          <p:cNvSpPr txBox="1"/>
          <p:nvPr/>
        </p:nvSpPr>
        <p:spPr>
          <a:xfrm>
            <a:off x="822960" y="5623560"/>
            <a:ext cx="9692640" cy="731520"/>
          </a:xfrm>
          <a:prstGeom prst="rect">
            <a:avLst/>
          </a:prstGeom>
          <a:noFill/>
          <a:ln/>
        </p:spPr>
        <p:txBody>
          <a:bodyPr wrap="square" lIns="0" tIns="0" rIns="0" bIns="0" rtlCol="0" anchor="ctr"/>
          <a:lstStyle/>
          <a:p>
            <a:pPr indent="0" marL="0">
              <a:lnSpc>
                <a:spcPts val="2400"/>
              </a:lnSpc>
              <a:buNone/>
            </a:pPr>
            <a:r>
              <a:rPr lang="en-US" sz="1600" dirty="0">
                <a:solidFill>
                  <a:srgbClr val="FFD9D4"/>
                </a:solidFill>
                <a:latin typeface="Arial" pitchFamily="34" charset="0"/>
                <a:ea typeface="Arial" pitchFamily="34" charset="-122"/>
                <a:cs typeface="Arial" pitchFamily="34" charset="-120"/>
              </a:rPr>
              <a:t>Sorting by the worst rating is blind to every one of them, by construction. It can only point at bridges you already worry about.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txBox="1"/>
          <p:nvPr/>
        </p:nvSpPr>
        <p:spPr>
          <a:xfrm>
            <a:off x="822960" y="777240"/>
            <a:ext cx="8229600" cy="237744"/>
          </a:xfrm>
          <a:prstGeom prst="rect">
            <a:avLst/>
          </a:prstGeom>
          <a:noFill/>
          <a:ln/>
        </p:spPr>
        <p:txBody>
          <a:bodyPr wrap="square" lIns="0" tIns="0" rIns="0" bIns="0" rtlCol="0" anchor="t"/>
          <a:lstStyle/>
          <a:p>
            <a:pPr algn="l" indent="0" marL="0">
              <a:buNone/>
            </a:pPr>
            <a:r>
              <a:rPr lang="en-US" sz="1000" b="1" spc="180" kern="0" dirty="0">
                <a:solidFill>
                  <a:srgbClr val="767B84"/>
                </a:solidFill>
                <a:latin typeface="Courier New" pitchFamily="34" charset="0"/>
                <a:ea typeface="Courier New" pitchFamily="34" charset="-122"/>
                <a:cs typeface="Courier New" pitchFamily="34" charset="-120"/>
              </a:rPr>
              <a:t>THE SAME 108 FAILURES, TWO WAYS OF CHOOSING</a:t>
            </a:r>
            <a:endParaRPr lang="en-US" sz="1000" dirty="0"/>
          </a:p>
        </p:txBody>
      </p:sp>
      <p:sp>
        <p:nvSpPr>
          <p:cNvPr id="3" name="Text 1"/>
          <p:cNvSpPr txBox="1"/>
          <p:nvPr/>
        </p:nvSpPr>
        <p:spPr>
          <a:xfrm>
            <a:off x="822960" y="1115568"/>
            <a:ext cx="10545775" cy="822960"/>
          </a:xfrm>
          <a:prstGeom prst="rect">
            <a:avLst/>
          </a:prstGeom>
          <a:noFill/>
          <a:ln/>
        </p:spPr>
        <p:txBody>
          <a:bodyPr wrap="square" lIns="0" tIns="0" rIns="0" bIns="0" rtlCol="0" anchor="t"/>
          <a:lstStyle/>
          <a:p>
            <a:pPr indent="0" marL="0">
              <a:lnSpc>
                <a:spcPts val="4704"/>
              </a:lnSpc>
              <a:buNone/>
            </a:pPr>
            <a:r>
              <a:rPr lang="en-US" sz="4200" b="1" dirty="0">
                <a:solidFill>
                  <a:srgbClr val="101418"/>
                </a:solidFill>
                <a:latin typeface="Arial Black" pitchFamily="34" charset="0"/>
                <a:ea typeface="Arial Black" pitchFamily="34" charset="-122"/>
                <a:cs typeface="Arial Black" pitchFamily="34" charset="-120"/>
              </a:rPr>
              <a:t>One of them found none.</a:t>
            </a:r>
            <a:endParaRPr lang="en-US" sz="4200" dirty="0"/>
          </a:p>
        </p:txBody>
      </p:sp>
      <p:sp>
        <p:nvSpPr>
          <p:cNvPr id="4" name="Text 2"/>
          <p:cNvSpPr txBox="1"/>
          <p:nvPr/>
        </p:nvSpPr>
        <p:spPr>
          <a:xfrm>
            <a:off x="822960" y="2514600"/>
            <a:ext cx="4892040" cy="274320"/>
          </a:xfrm>
          <a:prstGeom prst="rect">
            <a:avLst/>
          </a:prstGeom>
          <a:noFill/>
          <a:ln/>
        </p:spPr>
        <p:txBody>
          <a:bodyPr wrap="square" lIns="0" tIns="0" rIns="0" bIns="0" rtlCol="0" anchor="ctr"/>
          <a:lstStyle/>
          <a:p>
            <a:pPr indent="0" marL="0">
              <a:buNone/>
            </a:pPr>
            <a:r>
              <a:rPr lang="en-US" sz="1100" b="1" spc="150" kern="0" dirty="0">
                <a:solidFill>
                  <a:srgbClr val="767B84"/>
                </a:solidFill>
                <a:latin typeface="Courier New" pitchFamily="34" charset="0"/>
                <a:ea typeface="Courier New" pitchFamily="34" charset="-122"/>
                <a:cs typeface="Courier New" pitchFamily="34" charset="-120"/>
              </a:rPr>
              <a:t>SORT BY WORST RATING</a:t>
            </a:r>
            <a:endParaRPr lang="en-US" sz="1100" dirty="0"/>
          </a:p>
        </p:txBody>
      </p:sp>
      <p:sp>
        <p:nvSpPr>
          <p:cNvPr id="5" name="Text 3"/>
          <p:cNvSpPr txBox="1"/>
          <p:nvPr/>
        </p:nvSpPr>
        <p:spPr>
          <a:xfrm>
            <a:off x="731520" y="2898648"/>
            <a:ext cx="4892040" cy="1920240"/>
          </a:xfrm>
          <a:prstGeom prst="rect">
            <a:avLst/>
          </a:prstGeom>
          <a:noFill/>
          <a:ln/>
        </p:spPr>
        <p:txBody>
          <a:bodyPr wrap="square" lIns="0" tIns="0" rIns="0" bIns="0" rtlCol="0" anchor="ctr"/>
          <a:lstStyle/>
          <a:p>
            <a:pPr indent="0" marL="0">
              <a:buNone/>
            </a:pPr>
            <a:r>
              <a:rPr lang="en-US" sz="16800" b="1" spc="-600" kern="0" dirty="0">
                <a:solidFill>
                  <a:srgbClr val="9AA0A8"/>
                </a:solidFill>
                <a:latin typeface="Arial Black" pitchFamily="34" charset="0"/>
                <a:ea typeface="Arial Black" pitchFamily="34" charset="-122"/>
                <a:cs typeface="Arial Black" pitchFamily="34" charset="-120"/>
              </a:rPr>
              <a:t>0</a:t>
            </a:r>
            <a:endParaRPr lang="en-US" sz="16800" dirty="0"/>
          </a:p>
        </p:txBody>
      </p:sp>
      <p:sp>
        <p:nvSpPr>
          <p:cNvPr id="6" name="Shape 4"/>
          <p:cNvSpPr/>
          <p:nvPr/>
        </p:nvSpPr>
        <p:spPr>
          <a:xfrm>
            <a:off x="822960" y="4983480"/>
            <a:ext cx="4892040" cy="36576"/>
          </a:xfrm>
          <a:prstGeom prst="rect">
            <a:avLst/>
          </a:prstGeom>
          <a:solidFill>
            <a:srgbClr val="C9C4BA"/>
          </a:solidFill>
          <a:ln/>
        </p:spPr>
      </p:sp>
      <p:sp>
        <p:nvSpPr>
          <p:cNvPr id="7" name="Text 5"/>
          <p:cNvSpPr txBox="1"/>
          <p:nvPr/>
        </p:nvSpPr>
        <p:spPr>
          <a:xfrm>
            <a:off x="822960" y="5184648"/>
            <a:ext cx="4709160" cy="914400"/>
          </a:xfrm>
          <a:prstGeom prst="rect">
            <a:avLst/>
          </a:prstGeom>
          <a:noFill/>
          <a:ln/>
        </p:spPr>
        <p:txBody>
          <a:bodyPr wrap="square" lIns="0" tIns="0" rIns="0" bIns="0" rtlCol="0" anchor="t"/>
          <a:lstStyle/>
          <a:p>
            <a:pPr indent="0" marL="0">
              <a:lnSpc>
                <a:spcPts val="2400"/>
              </a:lnSpc>
              <a:buNone/>
            </a:pPr>
            <a:r>
              <a:rPr lang="en-US" sz="1550" dirty="0">
                <a:solidFill>
                  <a:srgbClr val="767B84"/>
                </a:solidFill>
                <a:latin typeface="Arial" pitchFamily="34" charset="0"/>
                <a:ea typeface="Arial" pitchFamily="34" charset="-122"/>
                <a:cs typeface="Arial" pitchFamily="34" charset="-120"/>
              </a:rPr>
              <a:t>It only ever looks at bridges the file already calls bad, so it never arrives.</a:t>
            </a:r>
            <a:endParaRPr lang="en-US" sz="1550" dirty="0"/>
          </a:p>
        </p:txBody>
      </p:sp>
      <p:sp>
        <p:nvSpPr>
          <p:cNvPr id="8" name="Text 6"/>
          <p:cNvSpPr txBox="1"/>
          <p:nvPr/>
        </p:nvSpPr>
        <p:spPr>
          <a:xfrm>
            <a:off x="6492240" y="2514600"/>
            <a:ext cx="4892040" cy="274320"/>
          </a:xfrm>
          <a:prstGeom prst="rect">
            <a:avLst/>
          </a:prstGeom>
          <a:noFill/>
          <a:ln/>
        </p:spPr>
        <p:txBody>
          <a:bodyPr wrap="square" lIns="0" tIns="0" rIns="0" bIns="0" rtlCol="0" anchor="ctr"/>
          <a:lstStyle/>
          <a:p>
            <a:pPr indent="0" marL="0">
              <a:buNone/>
            </a:pPr>
            <a:r>
              <a:rPr lang="en-US" sz="1100" b="1" spc="150" kern="0" dirty="0">
                <a:solidFill>
                  <a:srgbClr val="E8412F"/>
                </a:solidFill>
                <a:latin typeface="Courier New" pitchFamily="34" charset="0"/>
                <a:ea typeface="Courier New" pitchFamily="34" charset="-122"/>
                <a:cs typeface="Courier New" pitchFamily="34" charset="-120"/>
              </a:rPr>
              <a:t>DISSENT</a:t>
            </a:r>
            <a:endParaRPr lang="en-US" sz="1100" dirty="0"/>
          </a:p>
        </p:txBody>
      </p:sp>
      <p:sp>
        <p:nvSpPr>
          <p:cNvPr id="9" name="Text 7"/>
          <p:cNvSpPr txBox="1"/>
          <p:nvPr/>
        </p:nvSpPr>
        <p:spPr>
          <a:xfrm>
            <a:off x="6400800" y="2898648"/>
            <a:ext cx="4892040" cy="1920240"/>
          </a:xfrm>
          <a:prstGeom prst="rect">
            <a:avLst/>
          </a:prstGeom>
          <a:noFill/>
          <a:ln/>
        </p:spPr>
        <p:txBody>
          <a:bodyPr wrap="square" lIns="0" tIns="0" rIns="0" bIns="0" rtlCol="0" anchor="ctr"/>
          <a:lstStyle/>
          <a:p>
            <a:pPr indent="0" marL="0">
              <a:buNone/>
            </a:pPr>
            <a:r>
              <a:rPr lang="en-US" sz="16800" b="1" spc="-600" kern="0" dirty="0">
                <a:solidFill>
                  <a:srgbClr val="E8412F"/>
                </a:solidFill>
                <a:latin typeface="Arial Black" pitchFamily="34" charset="0"/>
                <a:ea typeface="Arial Black" pitchFamily="34" charset="-122"/>
                <a:cs typeface="Arial Black" pitchFamily="34" charset="-120"/>
              </a:rPr>
              <a:t>25</a:t>
            </a:r>
            <a:endParaRPr lang="en-US" sz="16800" dirty="0"/>
          </a:p>
        </p:txBody>
      </p:sp>
      <p:sp>
        <p:nvSpPr>
          <p:cNvPr id="10" name="Shape 8"/>
          <p:cNvSpPr/>
          <p:nvPr/>
        </p:nvSpPr>
        <p:spPr>
          <a:xfrm>
            <a:off x="6492240" y="4983480"/>
            <a:ext cx="4892040" cy="64008"/>
          </a:xfrm>
          <a:prstGeom prst="rect">
            <a:avLst/>
          </a:prstGeom>
          <a:solidFill>
            <a:srgbClr val="E8412F"/>
          </a:solidFill>
          <a:ln/>
        </p:spPr>
      </p:sp>
      <p:sp>
        <p:nvSpPr>
          <p:cNvPr id="11" name="Text 9"/>
          <p:cNvSpPr txBox="1"/>
          <p:nvPr/>
        </p:nvSpPr>
        <p:spPr>
          <a:xfrm>
            <a:off x="6492240" y="5184648"/>
            <a:ext cx="4709160" cy="914400"/>
          </a:xfrm>
          <a:prstGeom prst="rect">
            <a:avLst/>
          </a:prstGeom>
          <a:noFill/>
          <a:ln/>
        </p:spPr>
        <p:txBody>
          <a:bodyPr wrap="square" lIns="0" tIns="0" rIns="0" bIns="0" rtlCol="0" anchor="t"/>
          <a:lstStyle/>
          <a:p>
            <a:pPr indent="0" marL="0">
              <a:lnSpc>
                <a:spcPts val="2400"/>
              </a:lnSpc>
              <a:buNone/>
            </a:pPr>
            <a:r>
              <a:rPr lang="en-US" sz="1550" dirty="0">
                <a:solidFill>
                  <a:srgbClr val="101418"/>
                </a:solidFill>
                <a:latin typeface="Arial" pitchFamily="34" charset="0"/>
                <a:ea typeface="Arial" pitchFamily="34" charset="-122"/>
                <a:cs typeface="Arial" pitchFamily="34" charset="-120"/>
              </a:rPr>
              <a:t>It reads the physical evidence, so a good-looking file does not hide anything from it.</a:t>
            </a:r>
            <a:endParaRPr lang="en-US" sz="1550" dirty="0"/>
          </a:p>
        </p:txBody>
      </p:sp>
      <p:sp>
        <p:nvSpPr>
          <p:cNvPr id="12" name="Text 10"/>
          <p:cNvSpPr txBox="1"/>
          <p:nvPr/>
        </p:nvSpPr>
        <p:spPr>
          <a:xfrm>
            <a:off x="822960" y="5943600"/>
            <a:ext cx="10545775" cy="457200"/>
          </a:xfrm>
          <a:prstGeom prst="rect">
            <a:avLst/>
          </a:prstGeom>
          <a:noFill/>
          <a:ln/>
        </p:spPr>
        <p:txBody>
          <a:bodyPr wrap="square" lIns="0" tIns="0" rIns="0" bIns="0" rtlCol="0" anchor="ctr"/>
          <a:lstStyle/>
          <a:p>
            <a:pPr indent="0" marL="0">
              <a:buNone/>
            </a:pPr>
            <a:r>
              <a:rPr lang="en-US" sz="1500" b="1" dirty="0">
                <a:solidFill>
                  <a:srgbClr val="101418"/>
                </a:solidFill>
                <a:latin typeface="Arial" pitchFamily="34" charset="0"/>
                <a:ea typeface="Arial" pitchFamily="34" charset="-122"/>
                <a:cs typeface="Arial" pitchFamily="34" charset="-120"/>
              </a:rPr>
              <a:t>A failure on a bridge the file still calls fine is the only kind that carries a warning. That column is the product.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418"/>
        </a:solidFill>
      </p:bgPr>
    </p:bg>
    <p:spTree>
      <p:nvGrpSpPr>
        <p:cNvPr id="1" name=""/>
        <p:cNvGrpSpPr/>
        <p:nvPr/>
      </p:nvGrpSpPr>
      <p:grpSpPr>
        <a:xfrm>
          <a:off x="0" y="0"/>
          <a:ext cx="0" cy="0"/>
          <a:chOff x="0" y="0"/>
          <a:chExt cx="0" cy="0"/>
        </a:xfrm>
      </p:grpSpPr>
      <p:sp>
        <p:nvSpPr>
          <p:cNvPr id="2" name="Text 0"/>
          <p:cNvSpPr txBox="1"/>
          <p:nvPr/>
        </p:nvSpPr>
        <p:spPr>
          <a:xfrm>
            <a:off x="822960" y="777240"/>
            <a:ext cx="8229600" cy="237744"/>
          </a:xfrm>
          <a:prstGeom prst="rect">
            <a:avLst/>
          </a:prstGeom>
          <a:noFill/>
          <a:ln/>
        </p:spPr>
        <p:txBody>
          <a:bodyPr wrap="square" lIns="0" tIns="0" rIns="0" bIns="0" rtlCol="0" anchor="t"/>
          <a:lstStyle/>
          <a:p>
            <a:pPr algn="l" indent="0" marL="0">
              <a:buNone/>
            </a:pPr>
            <a:r>
              <a:rPr lang="en-US" sz="1000" b="1" spc="180" kern="0" dirty="0">
                <a:solidFill>
                  <a:srgbClr val="E8412F"/>
                </a:solidFill>
                <a:latin typeface="Courier New" pitchFamily="34" charset="0"/>
                <a:ea typeface="Courier New" pitchFamily="34" charset="-122"/>
                <a:cs typeface="Courier New" pitchFamily="34" charset="-120"/>
              </a:rPr>
              <a:t>AND YOU CAN TEST IT YOURSELF, RIGHT NOW</a:t>
            </a:r>
            <a:endParaRPr lang="en-US" sz="1000" dirty="0"/>
          </a:p>
        </p:txBody>
      </p:sp>
      <p:sp>
        <p:nvSpPr>
          <p:cNvPr id="3" name="Text 1"/>
          <p:cNvSpPr txBox="1"/>
          <p:nvPr/>
        </p:nvSpPr>
        <p:spPr>
          <a:xfrm>
            <a:off x="822960" y="1115568"/>
            <a:ext cx="5577840" cy="1463040"/>
          </a:xfrm>
          <a:prstGeom prst="rect">
            <a:avLst/>
          </a:prstGeom>
          <a:noFill/>
          <a:ln/>
        </p:spPr>
        <p:txBody>
          <a:bodyPr wrap="square" lIns="0" tIns="0" rIns="0" bIns="0" rtlCol="0" anchor="t"/>
          <a:lstStyle/>
          <a:p>
            <a:pPr indent="0" marL="0">
              <a:lnSpc>
                <a:spcPts val="3360"/>
              </a:lnSpc>
              <a:buNone/>
            </a:pPr>
            <a:r>
              <a:rPr lang="en-US" sz="3000" b="1" dirty="0">
                <a:solidFill>
                  <a:srgbClr val="FFFFFF"/>
                </a:solidFill>
                <a:latin typeface="Arial Black" pitchFamily="34" charset="0"/>
                <a:ea typeface="Arial Black" pitchFamily="34" charset="-122"/>
                <a:cs typeface="Arial Black" pitchFamily="34" charset="-120"/>
              </a:rPr>
              <a:t>Pick a state and a year.</a:t>
            </a:r>
            <a:endParaRPr lang="en-US" sz="3000" dirty="0"/>
          </a:p>
          <a:p>
            <a:pPr indent="0" marL="0">
              <a:lnSpc>
                <a:spcPts val="3360"/>
              </a:lnSpc>
              <a:buNone/>
            </a:pPr>
            <a:r>
              <a:rPr lang="en-US" sz="3000" b="1" dirty="0">
                <a:solidFill>
                  <a:srgbClr val="FFFFFF"/>
                </a:solidFill>
                <a:latin typeface="Arial Black" pitchFamily="34" charset="0"/>
                <a:ea typeface="Arial Black" pitchFamily="34" charset="-122"/>
                <a:cs typeface="Arial Black" pitchFamily="34" charset="-120"/>
              </a:rPr>
              <a:t>It grades itself.</a:t>
            </a:r>
            <a:endParaRPr lang="en-US" sz="3000" dirty="0"/>
          </a:p>
        </p:txBody>
      </p:sp>
      <p:sp>
        <p:nvSpPr>
          <p:cNvPr id="4" name="Text 2"/>
          <p:cNvSpPr txBox="1"/>
          <p:nvPr/>
        </p:nvSpPr>
        <p:spPr>
          <a:xfrm>
            <a:off x="822960" y="2788920"/>
            <a:ext cx="5394960" cy="1005840"/>
          </a:xfrm>
          <a:prstGeom prst="rect">
            <a:avLst/>
          </a:prstGeom>
          <a:noFill/>
          <a:ln/>
        </p:spPr>
        <p:txBody>
          <a:bodyPr wrap="square" lIns="0" tIns="0" rIns="0" bIns="0" rtlCol="0" anchor="ctr"/>
          <a:lstStyle/>
          <a:p>
            <a:pPr indent="0" marL="0">
              <a:lnSpc>
                <a:spcPts val="2200"/>
              </a:lnSpc>
              <a:buNone/>
            </a:pPr>
            <a:r>
              <a:rPr lang="en-US" sz="1450" dirty="0">
                <a:solidFill>
                  <a:srgbClr val="8A8F98"/>
                </a:solidFill>
                <a:latin typeface="Arial" pitchFamily="34" charset="0"/>
                <a:ea typeface="Arial" pitchFamily="34" charset="-122"/>
                <a:cs typeface="Arial" pitchFamily="34" charset="-120"/>
              </a:rPr>
              <a:t>The server pulls that year’s federal file, scores every bridge with the 2015 model, ranks them — then pulls the 2025 file and checks what actually happened.</a:t>
            </a:r>
            <a:endParaRPr lang="en-US" sz="1450" dirty="0"/>
          </a:p>
        </p:txBody>
      </p:sp>
      <p:pic>
        <p:nvPicPr>
          <p:cNvPr id="5" name="Image 0" descr="/Users/arockia/Downloads/dissent/pitch/shots/flat/timemachine.png">    </p:cNvPr>
          <p:cNvPicPr>
            <a:picLocks noChangeAspect="1"/>
          </p:cNvPicPr>
          <p:nvPr/>
        </p:nvPicPr>
        <p:blipFill>
          <a:blip r:embed="rId1"/>
          <a:stretch>
            <a:fillRect/>
          </a:stretch>
        </p:blipFill>
        <p:spPr>
          <a:xfrm>
            <a:off x="6537960" y="1188720"/>
            <a:ext cx="6309360" cy="4278493"/>
          </a:xfrm>
          <a:prstGeom prst="rect">
            <a:avLst/>
          </a:prstGeom>
          <a:effectLst>
            <a:outerShdw sx="100000" sy="100000" kx="0" ky="0" algn="bl" rotWithShape="0" blurRad="330200" dist="101600" dir="5400000">
              <a:srgbClr val="000000">
                <a:alpha val="34000"/>
              </a:srgbClr>
            </a:outerShdw>
          </a:effectLst>
        </p:spPr>
      </p:pic>
      <p:sp>
        <p:nvSpPr>
          <p:cNvPr id="6" name="Text 3"/>
          <p:cNvSpPr txBox="1"/>
          <p:nvPr/>
        </p:nvSpPr>
        <p:spPr>
          <a:xfrm>
            <a:off x="822960" y="3977640"/>
            <a:ext cx="5120640" cy="274320"/>
          </a:xfrm>
          <a:prstGeom prst="rect">
            <a:avLst/>
          </a:prstGeom>
          <a:noFill/>
          <a:ln/>
        </p:spPr>
        <p:txBody>
          <a:bodyPr wrap="square" lIns="0" tIns="0" rIns="0" bIns="0" rtlCol="0" anchor="ctr"/>
          <a:lstStyle/>
          <a:p>
            <a:pPr indent="0" marL="0">
              <a:buNone/>
            </a:pPr>
            <a:r>
              <a:rPr lang="en-US" sz="1100" b="1" spc="150" kern="0" dirty="0">
                <a:solidFill>
                  <a:srgbClr val="E8412F"/>
                </a:solidFill>
                <a:latin typeface="Courier New" pitchFamily="34" charset="0"/>
                <a:ea typeface="Courier New" pitchFamily="34" charset="-122"/>
                <a:cs typeface="Courier New" pitchFamily="34" charset="-120"/>
              </a:rPr>
              <a:t>VERMONT, 2019</a:t>
            </a:r>
            <a:endParaRPr lang="en-US" sz="1100" dirty="0"/>
          </a:p>
        </p:txBody>
      </p:sp>
      <p:sp>
        <p:nvSpPr>
          <p:cNvPr id="7" name="Text 4"/>
          <p:cNvSpPr txBox="1"/>
          <p:nvPr/>
        </p:nvSpPr>
        <p:spPr>
          <a:xfrm>
            <a:off x="822960" y="4379976"/>
            <a:ext cx="1325880" cy="438912"/>
          </a:xfrm>
          <a:prstGeom prst="rect">
            <a:avLst/>
          </a:prstGeom>
          <a:noFill/>
          <a:ln/>
        </p:spPr>
        <p:txBody>
          <a:bodyPr wrap="square" lIns="0" tIns="0" rIns="0" bIns="0" rtlCol="0" anchor="ctr"/>
          <a:lstStyle/>
          <a:p>
            <a:pPr algn="r" indent="0" marL="0">
              <a:buNone/>
            </a:pPr>
            <a:r>
              <a:rPr lang="en-US" sz="2700" b="1" dirty="0">
                <a:solidFill>
                  <a:srgbClr val="FFFFFF"/>
                </a:solidFill>
                <a:latin typeface="Arial Black" pitchFamily="34" charset="0"/>
                <a:ea typeface="Arial Black" pitchFamily="34" charset="-122"/>
                <a:cs typeface="Arial Black" pitchFamily="34" charset="-120"/>
              </a:rPr>
              <a:t>93</a:t>
            </a:r>
            <a:endParaRPr lang="en-US" sz="2700" dirty="0"/>
          </a:p>
        </p:txBody>
      </p:sp>
      <p:sp>
        <p:nvSpPr>
          <p:cNvPr id="8" name="Text 5"/>
          <p:cNvSpPr txBox="1"/>
          <p:nvPr/>
        </p:nvSpPr>
        <p:spPr>
          <a:xfrm>
            <a:off x="2359152" y="4379976"/>
            <a:ext cx="4023360" cy="438912"/>
          </a:xfrm>
          <a:prstGeom prst="rect">
            <a:avLst/>
          </a:prstGeom>
          <a:noFill/>
          <a:ln/>
        </p:spPr>
        <p:txBody>
          <a:bodyPr wrap="square" lIns="0" tIns="0" rIns="0" bIns="0" rtlCol="0" anchor="ctr"/>
          <a:lstStyle/>
          <a:p>
            <a:pPr indent="0" marL="0">
              <a:buNone/>
            </a:pPr>
            <a:r>
              <a:rPr lang="en-US" sz="1350" dirty="0">
                <a:solidFill>
                  <a:srgbClr val="8A8F98"/>
                </a:solidFill>
                <a:latin typeface="Arial" pitchFamily="34" charset="0"/>
                <a:ea typeface="Arial" pitchFamily="34" charset="-122"/>
                <a:cs typeface="Arial" pitchFamily="34" charset="-120"/>
              </a:rPr>
              <a:t>bridges crossed into POOR by 2025</a:t>
            </a:r>
            <a:endParaRPr lang="en-US" sz="1350" dirty="0"/>
          </a:p>
        </p:txBody>
      </p:sp>
      <p:sp>
        <p:nvSpPr>
          <p:cNvPr id="9" name="Text 6"/>
          <p:cNvSpPr txBox="1"/>
          <p:nvPr/>
        </p:nvSpPr>
        <p:spPr>
          <a:xfrm>
            <a:off x="822960" y="4946904"/>
            <a:ext cx="1325880" cy="438912"/>
          </a:xfrm>
          <a:prstGeom prst="rect">
            <a:avLst/>
          </a:prstGeom>
          <a:noFill/>
          <a:ln/>
        </p:spPr>
        <p:txBody>
          <a:bodyPr wrap="square" lIns="0" tIns="0" rIns="0" bIns="0" rtlCol="0" anchor="ctr"/>
          <a:lstStyle/>
          <a:p>
            <a:pPr algn="r" indent="0" marL="0">
              <a:buNone/>
            </a:pPr>
            <a:r>
              <a:rPr lang="en-US" sz="2700" b="1" dirty="0">
                <a:solidFill>
                  <a:srgbClr val="FFFFFF"/>
                </a:solidFill>
                <a:latin typeface="Arial Black" pitchFamily="34" charset="0"/>
                <a:ea typeface="Arial Black" pitchFamily="34" charset="-122"/>
                <a:cs typeface="Arial Black" pitchFamily="34" charset="-120"/>
              </a:rPr>
              <a:t>35</a:t>
            </a:r>
            <a:endParaRPr lang="en-US" sz="2700" dirty="0"/>
          </a:p>
        </p:txBody>
      </p:sp>
      <p:sp>
        <p:nvSpPr>
          <p:cNvPr id="10" name="Text 7"/>
          <p:cNvSpPr txBox="1"/>
          <p:nvPr/>
        </p:nvSpPr>
        <p:spPr>
          <a:xfrm>
            <a:off x="2359152" y="4946904"/>
            <a:ext cx="4023360" cy="438912"/>
          </a:xfrm>
          <a:prstGeom prst="rect">
            <a:avLst/>
          </a:prstGeom>
          <a:noFill/>
          <a:ln/>
        </p:spPr>
        <p:txBody>
          <a:bodyPr wrap="square" lIns="0" tIns="0" rIns="0" bIns="0" rtlCol="0" anchor="ctr"/>
          <a:lstStyle/>
          <a:p>
            <a:pPr indent="0" marL="0">
              <a:buNone/>
            </a:pPr>
            <a:r>
              <a:rPr lang="en-US" sz="1350" dirty="0">
                <a:solidFill>
                  <a:srgbClr val="8A8F98"/>
                </a:solidFill>
                <a:latin typeface="Arial" pitchFamily="34" charset="0"/>
                <a:ea typeface="Arial" pitchFamily="34" charset="-122"/>
                <a:cs typeface="Arial" pitchFamily="34" charset="-120"/>
              </a:rPr>
              <a:t>of those the 2019 file still called fine</a:t>
            </a:r>
            <a:endParaRPr lang="en-US" sz="1350" dirty="0"/>
          </a:p>
        </p:txBody>
      </p:sp>
      <p:sp>
        <p:nvSpPr>
          <p:cNvPr id="11" name="Text 8"/>
          <p:cNvSpPr txBox="1"/>
          <p:nvPr/>
        </p:nvSpPr>
        <p:spPr>
          <a:xfrm>
            <a:off x="822960" y="5513832"/>
            <a:ext cx="1325880" cy="438912"/>
          </a:xfrm>
          <a:prstGeom prst="rect">
            <a:avLst/>
          </a:prstGeom>
          <a:noFill/>
          <a:ln/>
        </p:spPr>
        <p:txBody>
          <a:bodyPr wrap="square" lIns="0" tIns="0" rIns="0" bIns="0" rtlCol="0" anchor="ctr"/>
          <a:lstStyle/>
          <a:p>
            <a:pPr algn="r" indent="0" marL="0">
              <a:buNone/>
            </a:pPr>
            <a:r>
              <a:rPr lang="en-US" sz="2100" b="1" dirty="0">
                <a:solidFill>
                  <a:srgbClr val="E8412F"/>
                </a:solidFill>
                <a:latin typeface="Arial Black" pitchFamily="34" charset="0"/>
                <a:ea typeface="Arial Black" pitchFamily="34" charset="-122"/>
                <a:cs typeface="Arial Black" pitchFamily="34" charset="-120"/>
              </a:rPr>
              <a:t>9 vs 1</a:t>
            </a:r>
            <a:endParaRPr lang="en-US" sz="2100" dirty="0"/>
          </a:p>
        </p:txBody>
      </p:sp>
      <p:sp>
        <p:nvSpPr>
          <p:cNvPr id="12" name="Text 9"/>
          <p:cNvSpPr txBox="1"/>
          <p:nvPr/>
        </p:nvSpPr>
        <p:spPr>
          <a:xfrm>
            <a:off x="2359152" y="5513832"/>
            <a:ext cx="4023360" cy="438912"/>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dissent found 9. Worst-first found 1.</a:t>
            </a:r>
            <a:endParaRPr lang="en-US" sz="1350" dirty="0"/>
          </a:p>
        </p:txBody>
      </p:sp>
      <p:sp>
        <p:nvSpPr>
          <p:cNvPr id="13" name="Text 10"/>
          <p:cNvSpPr txBox="1"/>
          <p:nvPr/>
        </p:nvSpPr>
        <p:spPr>
          <a:xfrm>
            <a:off x="822960" y="5897880"/>
            <a:ext cx="5577840" cy="731520"/>
          </a:xfrm>
          <a:prstGeom prst="rect">
            <a:avLst/>
          </a:prstGeom>
          <a:noFill/>
          <a:ln/>
        </p:spPr>
        <p:txBody>
          <a:bodyPr wrap="square" lIns="0" tIns="0" rIns="0" bIns="0" rtlCol="0" anchor="ctr"/>
          <a:lstStyle/>
          <a:p>
            <a:pPr indent="0" marL="0">
              <a:lnSpc>
                <a:spcPts val="2000"/>
              </a:lnSpc>
              <a:buNone/>
            </a:pPr>
            <a:r>
              <a:rPr lang="en-US" sz="1300" b="1" dirty="0">
                <a:solidFill>
                  <a:srgbClr val="E8412F"/>
                </a:solidFill>
                <a:latin typeface="Arial" pitchFamily="34" charset="0"/>
                <a:ea typeface="Arial" pitchFamily="34" charset="-122"/>
                <a:cs typeface="Arial" pitchFamily="34" charset="-120"/>
              </a:rPr>
              <a:t>The base rate and the baseline that beats us are printed on screen every time — including on the states where we lose.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txBox="1"/>
          <p:nvPr/>
        </p:nvSpPr>
        <p:spPr>
          <a:xfrm>
            <a:off x="822960" y="777240"/>
            <a:ext cx="5486400" cy="237744"/>
          </a:xfrm>
          <a:prstGeom prst="rect">
            <a:avLst/>
          </a:prstGeom>
          <a:noFill/>
          <a:ln/>
        </p:spPr>
        <p:txBody>
          <a:bodyPr wrap="square" lIns="0" tIns="0" rIns="0" bIns="0" rtlCol="0" anchor="t"/>
          <a:lstStyle/>
          <a:p>
            <a:pPr algn="l" indent="0" marL="0">
              <a:buNone/>
            </a:pPr>
            <a:r>
              <a:rPr lang="en-US" sz="1000" b="1" spc="180" kern="0" dirty="0">
                <a:solidFill>
                  <a:srgbClr val="767B84"/>
                </a:solidFill>
                <a:latin typeface="Courier New" pitchFamily="34" charset="0"/>
                <a:ea typeface="Courier New" pitchFamily="34" charset="-122"/>
                <a:cs typeface="Courier New" pitchFamily="34" charset="-120"/>
              </a:rPr>
              <a:t>WHAT IT CANNOT DO</a:t>
            </a:r>
            <a:endParaRPr lang="en-US" sz="1000" dirty="0"/>
          </a:p>
        </p:txBody>
      </p:sp>
      <p:sp>
        <p:nvSpPr>
          <p:cNvPr id="3" name="Text 1"/>
          <p:cNvSpPr txBox="1"/>
          <p:nvPr/>
        </p:nvSpPr>
        <p:spPr>
          <a:xfrm>
            <a:off x="822960" y="1115568"/>
            <a:ext cx="10545775" cy="822960"/>
          </a:xfrm>
          <a:prstGeom prst="rect">
            <a:avLst/>
          </a:prstGeom>
          <a:noFill/>
          <a:ln/>
        </p:spPr>
        <p:txBody>
          <a:bodyPr wrap="square" lIns="0" tIns="0" rIns="0" bIns="0" rtlCol="0" anchor="t"/>
          <a:lstStyle/>
          <a:p>
            <a:pPr indent="0" marL="0">
              <a:lnSpc>
                <a:spcPts val="4480"/>
              </a:lnSpc>
              <a:buNone/>
            </a:pPr>
            <a:r>
              <a:rPr lang="en-US" sz="4000" b="1" dirty="0">
                <a:solidFill>
                  <a:srgbClr val="101418"/>
                </a:solidFill>
                <a:latin typeface="Arial Black" pitchFamily="34" charset="0"/>
                <a:ea typeface="Arial Black" pitchFamily="34" charset="-122"/>
                <a:cs typeface="Arial Black" pitchFamily="34" charset="-120"/>
              </a:rPr>
              <a:t>The limits are in the product.</a:t>
            </a:r>
            <a:endParaRPr lang="en-US" sz="4000" dirty="0"/>
          </a:p>
        </p:txBody>
      </p:sp>
      <p:sp>
        <p:nvSpPr>
          <p:cNvPr id="4" name="Shape 2"/>
          <p:cNvSpPr/>
          <p:nvPr/>
        </p:nvSpPr>
        <p:spPr>
          <a:xfrm>
            <a:off x="822960" y="2651760"/>
            <a:ext cx="2348408" cy="54864"/>
          </a:xfrm>
          <a:prstGeom prst="rect">
            <a:avLst/>
          </a:prstGeom>
          <a:solidFill>
            <a:srgbClr val="101418"/>
          </a:solidFill>
          <a:ln/>
        </p:spPr>
      </p:sp>
      <p:sp>
        <p:nvSpPr>
          <p:cNvPr id="5" name="Text 3"/>
          <p:cNvSpPr txBox="1"/>
          <p:nvPr/>
        </p:nvSpPr>
        <p:spPr>
          <a:xfrm>
            <a:off x="822960" y="2889504"/>
            <a:ext cx="2348408" cy="274320"/>
          </a:xfrm>
          <a:prstGeom prst="rect">
            <a:avLst/>
          </a:prstGeom>
          <a:noFill/>
          <a:ln/>
        </p:spPr>
        <p:txBody>
          <a:bodyPr wrap="square" lIns="0" tIns="0" rIns="0" bIns="0" rtlCol="0" anchor="ctr"/>
          <a:lstStyle/>
          <a:p>
            <a:pPr indent="0" marL="0">
              <a:buNone/>
            </a:pPr>
            <a:r>
              <a:rPr lang="en-US" sz="1100" b="1" spc="140" kern="0" dirty="0">
                <a:solidFill>
                  <a:srgbClr val="101418"/>
                </a:solidFill>
                <a:latin typeface="Courier New" pitchFamily="34" charset="0"/>
                <a:ea typeface="Courier New" pitchFamily="34" charset="-122"/>
                <a:cs typeface="Courier New" pitchFamily="34" charset="-120"/>
              </a:rPr>
              <a:t>IT ABSTAINS</a:t>
            </a:r>
            <a:endParaRPr lang="en-US" sz="1100" dirty="0"/>
          </a:p>
        </p:txBody>
      </p:sp>
      <p:sp>
        <p:nvSpPr>
          <p:cNvPr id="6" name="Text 4"/>
          <p:cNvSpPr txBox="1"/>
          <p:nvPr/>
        </p:nvSpPr>
        <p:spPr>
          <a:xfrm>
            <a:off x="822960" y="3255264"/>
            <a:ext cx="2348408" cy="1920240"/>
          </a:xfrm>
          <a:prstGeom prst="rect">
            <a:avLst/>
          </a:prstGeom>
          <a:noFill/>
          <a:ln/>
        </p:spPr>
        <p:txBody>
          <a:bodyPr wrap="square" lIns="0" tIns="0" rIns="0" bIns="0" rtlCol="0" anchor="t"/>
          <a:lstStyle/>
          <a:p>
            <a:pPr indent="0" marL="0">
              <a:lnSpc>
                <a:spcPts val="2200"/>
              </a:lnSpc>
              <a:buNone/>
            </a:pPr>
            <a:r>
              <a:rPr lang="en-US" sz="1450" dirty="0">
                <a:solidFill>
                  <a:srgbClr val="767B84"/>
                </a:solidFill>
                <a:latin typeface="Arial" pitchFamily="34" charset="0"/>
                <a:ea typeface="Arial" pitchFamily="34" charset="-122"/>
                <a:cs typeface="Arial" pitchFamily="34" charset="-120"/>
              </a:rPr>
              <a:t>On any bridge under five years old. Nothing to calibrate against yet.</a:t>
            </a:r>
            <a:endParaRPr lang="en-US" sz="1450" dirty="0"/>
          </a:p>
        </p:txBody>
      </p:sp>
      <p:sp>
        <p:nvSpPr>
          <p:cNvPr id="7" name="Shape 5"/>
          <p:cNvSpPr/>
          <p:nvPr/>
        </p:nvSpPr>
        <p:spPr>
          <a:xfrm>
            <a:off x="3555416" y="2651760"/>
            <a:ext cx="2348408" cy="54864"/>
          </a:xfrm>
          <a:prstGeom prst="rect">
            <a:avLst/>
          </a:prstGeom>
          <a:solidFill>
            <a:srgbClr val="101418"/>
          </a:solidFill>
          <a:ln/>
        </p:spPr>
      </p:sp>
      <p:sp>
        <p:nvSpPr>
          <p:cNvPr id="8" name="Text 6"/>
          <p:cNvSpPr txBox="1"/>
          <p:nvPr/>
        </p:nvSpPr>
        <p:spPr>
          <a:xfrm>
            <a:off x="3555416" y="2889504"/>
            <a:ext cx="2348408" cy="274320"/>
          </a:xfrm>
          <a:prstGeom prst="rect">
            <a:avLst/>
          </a:prstGeom>
          <a:noFill/>
          <a:ln/>
        </p:spPr>
        <p:txBody>
          <a:bodyPr wrap="square" lIns="0" tIns="0" rIns="0" bIns="0" rtlCol="0" anchor="ctr"/>
          <a:lstStyle/>
          <a:p>
            <a:pPr indent="0" marL="0">
              <a:buNone/>
            </a:pPr>
            <a:r>
              <a:rPr lang="en-US" sz="1100" b="1" spc="140" kern="0" dirty="0">
                <a:solidFill>
                  <a:srgbClr val="101418"/>
                </a:solidFill>
                <a:latin typeface="Courier New" pitchFamily="34" charset="0"/>
                <a:ea typeface="Courier New" pitchFamily="34" charset="-122"/>
                <a:cs typeface="Courier New" pitchFamily="34" charset="-120"/>
              </a:rPr>
              <a:t>IT UNDER-COVERS</a:t>
            </a:r>
            <a:endParaRPr lang="en-US" sz="1100" dirty="0"/>
          </a:p>
        </p:txBody>
      </p:sp>
      <p:sp>
        <p:nvSpPr>
          <p:cNvPr id="9" name="Text 7"/>
          <p:cNvSpPr txBox="1"/>
          <p:nvPr/>
        </p:nvSpPr>
        <p:spPr>
          <a:xfrm>
            <a:off x="3555416" y="3255264"/>
            <a:ext cx="2348408" cy="1920240"/>
          </a:xfrm>
          <a:prstGeom prst="rect">
            <a:avLst/>
          </a:prstGeom>
          <a:noFill/>
          <a:ln/>
        </p:spPr>
        <p:txBody>
          <a:bodyPr wrap="square" lIns="0" tIns="0" rIns="0" bIns="0" rtlCol="0" anchor="t"/>
          <a:lstStyle/>
          <a:p>
            <a:pPr indent="0" marL="0">
              <a:lnSpc>
                <a:spcPts val="2200"/>
              </a:lnSpc>
              <a:buNone/>
            </a:pPr>
            <a:r>
              <a:rPr lang="en-US" sz="1450" dirty="0">
                <a:solidFill>
                  <a:srgbClr val="767B84"/>
                </a:solidFill>
                <a:latin typeface="Arial" pitchFamily="34" charset="0"/>
                <a:ea typeface="Arial" pitchFamily="34" charset="-122"/>
                <a:cs typeface="Arial" pitchFamily="34" charset="-120"/>
              </a:rPr>
              <a:t>Intervals cover 89% against a 90% target. We report the shortfall.</a:t>
            </a:r>
            <a:endParaRPr lang="en-US" sz="1450" dirty="0"/>
          </a:p>
        </p:txBody>
      </p:sp>
      <p:sp>
        <p:nvSpPr>
          <p:cNvPr id="10" name="Shape 8"/>
          <p:cNvSpPr/>
          <p:nvPr/>
        </p:nvSpPr>
        <p:spPr>
          <a:xfrm>
            <a:off x="6287872" y="2651760"/>
            <a:ext cx="2348408" cy="54864"/>
          </a:xfrm>
          <a:prstGeom prst="rect">
            <a:avLst/>
          </a:prstGeom>
          <a:solidFill>
            <a:srgbClr val="101418"/>
          </a:solidFill>
          <a:ln/>
        </p:spPr>
      </p:sp>
      <p:sp>
        <p:nvSpPr>
          <p:cNvPr id="11" name="Text 9"/>
          <p:cNvSpPr txBox="1"/>
          <p:nvPr/>
        </p:nvSpPr>
        <p:spPr>
          <a:xfrm>
            <a:off x="6287872" y="2889504"/>
            <a:ext cx="2348408" cy="274320"/>
          </a:xfrm>
          <a:prstGeom prst="rect">
            <a:avLst/>
          </a:prstGeom>
          <a:noFill/>
          <a:ln/>
        </p:spPr>
        <p:txBody>
          <a:bodyPr wrap="square" lIns="0" tIns="0" rIns="0" bIns="0" rtlCol="0" anchor="ctr"/>
          <a:lstStyle/>
          <a:p>
            <a:pPr indent="0" marL="0">
              <a:buNone/>
            </a:pPr>
            <a:r>
              <a:rPr lang="en-US" sz="1100" b="1" spc="140" kern="0" dirty="0">
                <a:solidFill>
                  <a:srgbClr val="101418"/>
                </a:solidFill>
                <a:latin typeface="Courier New" pitchFamily="34" charset="0"/>
                <a:ea typeface="Courier New" pitchFamily="34" charset="-122"/>
                <a:cs typeface="Courier New" pitchFamily="34" charset="-120"/>
              </a:rPr>
              <a:t>IT WITHHOLDS</a:t>
            </a:r>
            <a:endParaRPr lang="en-US" sz="1100" dirty="0"/>
          </a:p>
        </p:txBody>
      </p:sp>
      <p:sp>
        <p:nvSpPr>
          <p:cNvPr id="12" name="Text 10"/>
          <p:cNvSpPr txBox="1"/>
          <p:nvPr/>
        </p:nvSpPr>
        <p:spPr>
          <a:xfrm>
            <a:off x="6287872" y="3255264"/>
            <a:ext cx="2348408" cy="1920240"/>
          </a:xfrm>
          <a:prstGeom prst="rect">
            <a:avLst/>
          </a:prstGeom>
          <a:noFill/>
          <a:ln/>
        </p:spPr>
        <p:txBody>
          <a:bodyPr wrap="square" lIns="0" tIns="0" rIns="0" bIns="0" rtlCol="0" anchor="t"/>
          <a:lstStyle/>
          <a:p>
            <a:pPr indent="0" marL="0">
              <a:lnSpc>
                <a:spcPts val="2200"/>
              </a:lnSpc>
              <a:buNone/>
            </a:pPr>
            <a:r>
              <a:rPr lang="en-US" sz="1450" dirty="0">
                <a:solidFill>
                  <a:srgbClr val="767B84"/>
                </a:solidFill>
                <a:latin typeface="Arial" pitchFamily="34" charset="0"/>
                <a:ea typeface="Arial" pitchFamily="34" charset="-122"/>
                <a:cs typeface="Arial" pitchFamily="34" charset="-120"/>
              </a:rPr>
              <a:t>27 of 51 states get no ranking at all. Outside our calibration climate we cannot tell their optimism from our own error.</a:t>
            </a:r>
            <a:endParaRPr lang="en-US" sz="1450" dirty="0"/>
          </a:p>
        </p:txBody>
      </p:sp>
      <p:sp>
        <p:nvSpPr>
          <p:cNvPr id="13" name="Shape 11"/>
          <p:cNvSpPr/>
          <p:nvPr/>
        </p:nvSpPr>
        <p:spPr>
          <a:xfrm>
            <a:off x="9020327" y="2651760"/>
            <a:ext cx="2348408" cy="54864"/>
          </a:xfrm>
          <a:prstGeom prst="rect">
            <a:avLst/>
          </a:prstGeom>
          <a:solidFill>
            <a:srgbClr val="E8412F"/>
          </a:solidFill>
          <a:ln/>
        </p:spPr>
      </p:sp>
      <p:sp>
        <p:nvSpPr>
          <p:cNvPr id="14" name="Text 12"/>
          <p:cNvSpPr txBox="1"/>
          <p:nvPr/>
        </p:nvSpPr>
        <p:spPr>
          <a:xfrm>
            <a:off x="9020327" y="2889504"/>
            <a:ext cx="2348408" cy="274320"/>
          </a:xfrm>
          <a:prstGeom prst="rect">
            <a:avLst/>
          </a:prstGeom>
          <a:noFill/>
          <a:ln/>
        </p:spPr>
        <p:txBody>
          <a:bodyPr wrap="square" lIns="0" tIns="0" rIns="0" bIns="0" rtlCol="0" anchor="ctr"/>
          <a:lstStyle/>
          <a:p>
            <a:pPr indent="0" marL="0">
              <a:buNone/>
            </a:pPr>
            <a:r>
              <a:rPr lang="en-US" sz="1100" b="1" spc="140" kern="0" dirty="0">
                <a:solidFill>
                  <a:srgbClr val="E8412F"/>
                </a:solidFill>
                <a:latin typeface="Courier New" pitchFamily="34" charset="0"/>
                <a:ea typeface="Courier New" pitchFamily="34" charset="-122"/>
                <a:cs typeface="Courier New" pitchFamily="34" charset="-120"/>
              </a:rPr>
              <a:t>IT MISSED ONE</a:t>
            </a:r>
            <a:endParaRPr lang="en-US" sz="1100" dirty="0"/>
          </a:p>
        </p:txBody>
      </p:sp>
      <p:sp>
        <p:nvSpPr>
          <p:cNvPr id="15" name="Text 13"/>
          <p:cNvSpPr txBox="1"/>
          <p:nvPr/>
        </p:nvSpPr>
        <p:spPr>
          <a:xfrm>
            <a:off x="9020327" y="3255264"/>
            <a:ext cx="2348408" cy="1920240"/>
          </a:xfrm>
          <a:prstGeom prst="rect">
            <a:avLst/>
          </a:prstGeom>
          <a:noFill/>
          <a:ln/>
        </p:spPr>
        <p:txBody>
          <a:bodyPr wrap="square" lIns="0" tIns="0" rIns="0" bIns="0" rtlCol="0" anchor="t"/>
          <a:lstStyle/>
          <a:p>
            <a:pPr indent="0" marL="0">
              <a:lnSpc>
                <a:spcPts val="2200"/>
              </a:lnSpc>
              <a:buNone/>
            </a:pPr>
            <a:r>
              <a:rPr lang="en-US" sz="1450" dirty="0">
                <a:solidFill>
                  <a:srgbClr val="767B84"/>
                </a:solidFill>
                <a:latin typeface="Arial" pitchFamily="34" charset="0"/>
                <a:ea typeface="Arial" pitchFamily="34" charset="-122"/>
                <a:cs typeface="Arial" pitchFamily="34" charset="-120"/>
              </a:rPr>
              <a:t>The Washington Bridge closed in 2023 and we rated it slightly better than the record did. It is in the app, labelled a miss.</a:t>
            </a:r>
            <a:endParaRPr lang="en-US" sz="1450" dirty="0"/>
          </a:p>
        </p:txBody>
      </p:sp>
      <p:sp>
        <p:nvSpPr>
          <p:cNvPr id="16" name="Text 14"/>
          <p:cNvSpPr txBox="1"/>
          <p:nvPr/>
        </p:nvSpPr>
        <p:spPr>
          <a:xfrm>
            <a:off x="822960" y="5623560"/>
            <a:ext cx="10545775" cy="457200"/>
          </a:xfrm>
          <a:prstGeom prst="rect">
            <a:avLst/>
          </a:prstGeom>
          <a:noFill/>
          <a:ln/>
        </p:spPr>
        <p:txBody>
          <a:bodyPr wrap="square" lIns="0" tIns="0" rIns="0" bIns="0" rtlCol="0" anchor="ctr"/>
          <a:lstStyle/>
          <a:p>
            <a:pPr indent="0" marL="0">
              <a:buNone/>
            </a:pPr>
            <a:r>
              <a:rPr lang="en-US" sz="2000" b="1" dirty="0">
                <a:solidFill>
                  <a:srgbClr val="101418"/>
                </a:solidFill>
                <a:latin typeface="Arial Black" pitchFamily="34" charset="0"/>
                <a:ea typeface="Arial Black" pitchFamily="34" charset="-122"/>
                <a:cs typeface="Arial Black" pitchFamily="34" charset="-120"/>
              </a:rPr>
              <a:t>A system that cannot tell you where it stops working is not a second opinion. It is a guess.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418"/>
        </a:solidFill>
      </p:bgPr>
    </p:bg>
    <p:spTree>
      <p:nvGrpSpPr>
        <p:cNvPr id="1" name=""/>
        <p:cNvGrpSpPr/>
        <p:nvPr/>
      </p:nvGrpSpPr>
      <p:grpSpPr>
        <a:xfrm>
          <a:off x="0" y="0"/>
          <a:ext cx="0" cy="0"/>
          <a:chOff x="0" y="0"/>
          <a:chExt cx="0" cy="0"/>
        </a:xfrm>
      </p:grpSpPr>
      <p:sp>
        <p:nvSpPr>
          <p:cNvPr id="2" name="Text 0"/>
          <p:cNvSpPr txBox="1"/>
          <p:nvPr/>
        </p:nvSpPr>
        <p:spPr>
          <a:xfrm>
            <a:off x="822960" y="777240"/>
            <a:ext cx="5486400" cy="237744"/>
          </a:xfrm>
          <a:prstGeom prst="rect">
            <a:avLst/>
          </a:prstGeom>
          <a:noFill/>
          <a:ln/>
        </p:spPr>
        <p:txBody>
          <a:bodyPr wrap="square" lIns="0" tIns="0" rIns="0" bIns="0" rtlCol="0" anchor="t"/>
          <a:lstStyle/>
          <a:p>
            <a:pPr algn="l" indent="0" marL="0">
              <a:buNone/>
            </a:pPr>
            <a:r>
              <a:rPr lang="en-US" sz="1000" b="1" spc="180" kern="0" dirty="0">
                <a:solidFill>
                  <a:srgbClr val="6B7280"/>
                </a:solidFill>
                <a:latin typeface="Courier New" pitchFamily="34" charset="0"/>
                <a:ea typeface="Courier New" pitchFamily="34" charset="-122"/>
                <a:cs typeface="Courier New" pitchFamily="34" charset="-120"/>
              </a:rPr>
              <a:t>IN CLOSING</a:t>
            </a:r>
            <a:endParaRPr lang="en-US" sz="1000" dirty="0"/>
          </a:p>
        </p:txBody>
      </p:sp>
      <p:sp>
        <p:nvSpPr>
          <p:cNvPr id="3" name="Text 1"/>
          <p:cNvSpPr txBox="1"/>
          <p:nvPr/>
        </p:nvSpPr>
        <p:spPr>
          <a:xfrm>
            <a:off x="822960" y="1188720"/>
            <a:ext cx="10058400" cy="1828800"/>
          </a:xfrm>
          <a:prstGeom prst="rect">
            <a:avLst/>
          </a:prstGeom>
          <a:noFill/>
          <a:ln/>
        </p:spPr>
        <p:txBody>
          <a:bodyPr wrap="square" lIns="0" tIns="0" rIns="0" bIns="0" rtlCol="0" anchor="ctr"/>
          <a:lstStyle/>
          <a:p>
            <a:pPr indent="0" marL="0">
              <a:lnSpc>
                <a:spcPts val="6400"/>
              </a:lnSpc>
              <a:buNone/>
            </a:pPr>
            <a:r>
              <a:rPr lang="en-US" sz="5200" b="1" dirty="0">
                <a:solidFill>
                  <a:srgbClr val="FFFFFF"/>
                </a:solidFill>
                <a:latin typeface="Arial Black" pitchFamily="34" charset="0"/>
                <a:ea typeface="Arial Black" pitchFamily="34" charset="-122"/>
                <a:cs typeface="Arial Black" pitchFamily="34" charset="-120"/>
              </a:rPr>
              <a:t>We did not simulate</a:t>
            </a:r>
            <a:endParaRPr lang="en-US" sz="5200" dirty="0"/>
          </a:p>
          <a:p>
            <a:pPr indent="0" marL="0">
              <a:lnSpc>
                <a:spcPts val="6400"/>
              </a:lnSpc>
              <a:buNone/>
            </a:pPr>
            <a:r>
              <a:rPr lang="en-US" sz="5200" b="1" dirty="0">
                <a:solidFill>
                  <a:srgbClr val="FFFFFF"/>
                </a:solidFill>
                <a:latin typeface="Arial Black" pitchFamily="34" charset="0"/>
                <a:ea typeface="Arial Black" pitchFamily="34" charset="-122"/>
                <a:cs typeface="Arial Black" pitchFamily="34" charset="-120"/>
              </a:rPr>
              <a:t>a single bridge.</a:t>
            </a:r>
            <a:endParaRPr lang="en-US" sz="5200" dirty="0"/>
          </a:p>
        </p:txBody>
      </p:sp>
      <p:sp>
        <p:nvSpPr>
          <p:cNvPr id="4" name="Shape 2"/>
          <p:cNvSpPr/>
          <p:nvPr/>
        </p:nvSpPr>
        <p:spPr>
          <a:xfrm>
            <a:off x="822960" y="3200400"/>
            <a:ext cx="2011680" cy="100584"/>
          </a:xfrm>
          <a:prstGeom prst="rect">
            <a:avLst/>
          </a:prstGeom>
          <a:solidFill>
            <a:srgbClr val="E8412F"/>
          </a:solidFill>
          <a:ln/>
        </p:spPr>
      </p:sp>
      <p:sp>
        <p:nvSpPr>
          <p:cNvPr id="5" name="Text 3"/>
          <p:cNvSpPr txBox="1"/>
          <p:nvPr/>
        </p:nvSpPr>
        <p:spPr>
          <a:xfrm>
            <a:off x="822960" y="3520440"/>
            <a:ext cx="8778240" cy="914400"/>
          </a:xfrm>
          <a:prstGeom prst="rect">
            <a:avLst/>
          </a:prstGeom>
          <a:noFill/>
          <a:ln/>
        </p:spPr>
        <p:txBody>
          <a:bodyPr wrap="square" lIns="0" tIns="0" rIns="0" bIns="0" rtlCol="0" anchor="ctr"/>
          <a:lstStyle/>
          <a:p>
            <a:pPr indent="0" marL="0">
              <a:lnSpc>
                <a:spcPts val="2500"/>
              </a:lnSpc>
              <a:buNone/>
            </a:pPr>
            <a:r>
              <a:rPr lang="en-US" sz="1600" dirty="0">
                <a:solidFill>
                  <a:srgbClr val="8A8F98"/>
                </a:solidFill>
                <a:latin typeface="Arial" pitchFamily="34" charset="0"/>
                <a:ea typeface="Arial" pitchFamily="34" charset="-122"/>
                <a:cs typeface="Arial" pitchFamily="34" charset="-120"/>
              </a:rPr>
              <a:t>234,801 real inspection filings from the US federal government, 1992 to 2025. Both halves of the system are deployed and running tonight, and the download script is in the repo.</a:t>
            </a:r>
            <a:endParaRPr lang="en-US" sz="1600" dirty="0"/>
          </a:p>
        </p:txBody>
      </p:sp>
      <p:sp>
        <p:nvSpPr>
          <p:cNvPr id="6" name="Text 4"/>
          <p:cNvSpPr txBox="1"/>
          <p:nvPr/>
        </p:nvSpPr>
        <p:spPr>
          <a:xfrm>
            <a:off x="822960" y="4617720"/>
            <a:ext cx="1371600" cy="274320"/>
          </a:xfrm>
          <a:prstGeom prst="rect">
            <a:avLst/>
          </a:prstGeom>
          <a:noFill/>
          <a:ln/>
        </p:spPr>
        <p:txBody>
          <a:bodyPr wrap="square" lIns="0" tIns="0" rIns="0" bIns="0" rtlCol="0" anchor="ctr"/>
          <a:lstStyle/>
          <a:p>
            <a:pPr indent="0" marL="0">
              <a:buNone/>
            </a:pPr>
            <a:r>
              <a:rPr lang="en-US" sz="1000" spc="140" kern="0" dirty="0">
                <a:solidFill>
                  <a:srgbClr val="6B7280"/>
                </a:solidFill>
                <a:latin typeface="Courier New" pitchFamily="34" charset="0"/>
                <a:ea typeface="Courier New" pitchFamily="34" charset="-122"/>
                <a:cs typeface="Courier New" pitchFamily="34" charset="-120"/>
              </a:rPr>
              <a:t>CONSOLE</a:t>
            </a:r>
            <a:endParaRPr lang="en-US" sz="1000" dirty="0"/>
          </a:p>
        </p:txBody>
      </p:sp>
      <p:sp>
        <p:nvSpPr>
          <p:cNvPr id="7" name="Text 5"/>
          <p:cNvSpPr txBox="1"/>
          <p:nvPr/>
        </p:nvSpPr>
        <p:spPr>
          <a:xfrm>
            <a:off x="2377440" y="4581144"/>
            <a:ext cx="7315200" cy="320040"/>
          </a:xfrm>
          <a:prstGeom prst="rect">
            <a:avLst/>
          </a:prstGeom>
          <a:noFill/>
          <a:ln/>
        </p:spPr>
        <p:txBody>
          <a:bodyPr wrap="square" lIns="0" tIns="0" rIns="0" bIns="0" rtlCol="0" anchor="ctr"/>
          <a:lstStyle/>
          <a:p>
            <a:pPr indent="0" marL="0">
              <a:buNone/>
            </a:pPr>
            <a:r>
              <a:rPr lang="en-US" sz="1350" b="1" spc="40" kern="0" dirty="0">
                <a:solidFill>
                  <a:srgbClr val="E8412F"/>
                </a:solidFill>
                <a:latin typeface="Courier New" pitchFamily="34" charset="0"/>
                <a:ea typeface="Courier New" pitchFamily="34" charset="-122"/>
                <a:cs typeface="Courier New" pitchFamily="34" charset="-120"/>
              </a:rPr>
              <a:t>dissent-nexus.netlify.app</a:t>
            </a:r>
            <a:endParaRPr lang="en-US" sz="1350" dirty="0"/>
          </a:p>
        </p:txBody>
      </p:sp>
      <p:sp>
        <p:nvSpPr>
          <p:cNvPr id="8" name="Text 6"/>
          <p:cNvSpPr txBox="1"/>
          <p:nvPr/>
        </p:nvSpPr>
        <p:spPr>
          <a:xfrm>
            <a:off x="822960" y="5148072"/>
            <a:ext cx="1371600" cy="274320"/>
          </a:xfrm>
          <a:prstGeom prst="rect">
            <a:avLst/>
          </a:prstGeom>
          <a:noFill/>
          <a:ln/>
        </p:spPr>
        <p:txBody>
          <a:bodyPr wrap="square" lIns="0" tIns="0" rIns="0" bIns="0" rtlCol="0" anchor="ctr"/>
          <a:lstStyle/>
          <a:p>
            <a:pPr indent="0" marL="0">
              <a:buNone/>
            </a:pPr>
            <a:r>
              <a:rPr lang="en-US" sz="1000" spc="140" kern="0" dirty="0">
                <a:solidFill>
                  <a:srgbClr val="6B7280"/>
                </a:solidFill>
                <a:latin typeface="Courier New" pitchFamily="34" charset="0"/>
                <a:ea typeface="Courier New" pitchFamily="34" charset="-122"/>
                <a:cs typeface="Courier New" pitchFamily="34" charset="-120"/>
              </a:rPr>
              <a:t>API</a:t>
            </a:r>
            <a:endParaRPr lang="en-US" sz="1000" dirty="0"/>
          </a:p>
        </p:txBody>
      </p:sp>
      <p:sp>
        <p:nvSpPr>
          <p:cNvPr id="9" name="Text 7"/>
          <p:cNvSpPr txBox="1"/>
          <p:nvPr/>
        </p:nvSpPr>
        <p:spPr>
          <a:xfrm>
            <a:off x="2377440" y="5111496"/>
            <a:ext cx="7315200" cy="320040"/>
          </a:xfrm>
          <a:prstGeom prst="rect">
            <a:avLst/>
          </a:prstGeom>
          <a:noFill/>
          <a:ln/>
        </p:spPr>
        <p:txBody>
          <a:bodyPr wrap="square" lIns="0" tIns="0" rIns="0" bIns="0" rtlCol="0" anchor="ctr"/>
          <a:lstStyle/>
          <a:p>
            <a:pPr indent="0" marL="0">
              <a:buNone/>
            </a:pPr>
            <a:r>
              <a:rPr lang="en-US" sz="1350" b="1" spc="40" kern="0" dirty="0">
                <a:solidFill>
                  <a:srgbClr val="FFFFFF"/>
                </a:solidFill>
                <a:latin typeface="Courier New" pitchFamily="34" charset="0"/>
                <a:ea typeface="Courier New" pitchFamily="34" charset="-122"/>
                <a:cs typeface="Courier New" pitchFamily="34" charset="-120"/>
              </a:rPr>
              <a:t>dissent-api-jgod.onrender.com/docs</a:t>
            </a:r>
            <a:endParaRPr lang="en-US" sz="1350" dirty="0"/>
          </a:p>
        </p:txBody>
      </p:sp>
      <p:sp>
        <p:nvSpPr>
          <p:cNvPr id="10" name="Text 8"/>
          <p:cNvSpPr txBox="1"/>
          <p:nvPr/>
        </p:nvSpPr>
        <p:spPr>
          <a:xfrm>
            <a:off x="822960" y="5678424"/>
            <a:ext cx="1371600" cy="274320"/>
          </a:xfrm>
          <a:prstGeom prst="rect">
            <a:avLst/>
          </a:prstGeom>
          <a:noFill/>
          <a:ln/>
        </p:spPr>
        <p:txBody>
          <a:bodyPr wrap="square" lIns="0" tIns="0" rIns="0" bIns="0" rtlCol="0" anchor="ctr"/>
          <a:lstStyle/>
          <a:p>
            <a:pPr indent="0" marL="0">
              <a:buNone/>
            </a:pPr>
            <a:r>
              <a:rPr lang="en-US" sz="1000" spc="140" kern="0" dirty="0">
                <a:solidFill>
                  <a:srgbClr val="6B7280"/>
                </a:solidFill>
                <a:latin typeface="Courier New" pitchFamily="34" charset="0"/>
                <a:ea typeface="Courier New" pitchFamily="34" charset="-122"/>
                <a:cs typeface="Courier New" pitchFamily="34" charset="-120"/>
              </a:rPr>
              <a:t>SOURCE</a:t>
            </a:r>
            <a:endParaRPr lang="en-US" sz="1000" dirty="0"/>
          </a:p>
        </p:txBody>
      </p:sp>
      <p:sp>
        <p:nvSpPr>
          <p:cNvPr id="11" name="Text 9"/>
          <p:cNvSpPr txBox="1"/>
          <p:nvPr/>
        </p:nvSpPr>
        <p:spPr>
          <a:xfrm>
            <a:off x="2377440" y="5641848"/>
            <a:ext cx="7315200" cy="320040"/>
          </a:xfrm>
          <a:prstGeom prst="rect">
            <a:avLst/>
          </a:prstGeom>
          <a:noFill/>
          <a:ln/>
        </p:spPr>
        <p:txBody>
          <a:bodyPr wrap="square" lIns="0" tIns="0" rIns="0" bIns="0" rtlCol="0" anchor="ctr"/>
          <a:lstStyle/>
          <a:p>
            <a:pPr indent="0" marL="0">
              <a:buNone/>
            </a:pPr>
            <a:r>
              <a:rPr lang="en-US" sz="1350" b="1" spc="40" kern="0" dirty="0">
                <a:solidFill>
                  <a:srgbClr val="FFFFFF"/>
                </a:solidFill>
                <a:latin typeface="Courier New" pitchFamily="34" charset="0"/>
                <a:ea typeface="Courier New" pitchFamily="34" charset="-122"/>
                <a:cs typeface="Courier New" pitchFamily="34" charset="-120"/>
              </a:rPr>
              <a:t>github.com/ArockiaRajamanickam/dissent</a:t>
            </a:r>
            <a:endParaRPr lang="en-US" sz="1350" dirty="0"/>
          </a:p>
        </p:txBody>
      </p:sp>
      <p:sp>
        <p:nvSpPr>
          <p:cNvPr id="12" name="Text 10"/>
          <p:cNvSpPr txBox="1"/>
          <p:nvPr/>
        </p:nvSpPr>
        <p:spPr>
          <a:xfrm>
            <a:off x="5882335" y="6053328"/>
            <a:ext cx="5486400" cy="274320"/>
          </a:xfrm>
          <a:prstGeom prst="rect">
            <a:avLst/>
          </a:prstGeom>
          <a:noFill/>
          <a:ln/>
        </p:spPr>
        <p:txBody>
          <a:bodyPr wrap="square" lIns="0" tIns="0" rIns="0" bIns="0" rtlCol="0" anchor="ctr"/>
          <a:lstStyle/>
          <a:p>
            <a:pPr algn="r" indent="0" marL="0">
              <a:buNone/>
            </a:pPr>
            <a:r>
              <a:rPr lang="en-US" sz="1100" b="1" spc="160" kern="0" dirty="0">
                <a:solidFill>
                  <a:srgbClr val="FFFFFF"/>
                </a:solidFill>
                <a:latin typeface="Courier New" pitchFamily="34" charset="0"/>
                <a:ea typeface="Courier New" pitchFamily="34" charset="-122"/>
                <a:cs typeface="Courier New" pitchFamily="34" charset="-120"/>
              </a:rPr>
              <a:t>TEAM NEXUS NETWORK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DISSENT</dc:title>
  <dc:subject>PptxGenJS Presentation</dc:subject>
  <dc:creator>Team Nexus Network</dc:creator>
  <cp:lastModifiedBy>Team Nexus Network</cp:lastModifiedBy>
  <cp:revision>1</cp:revision>
  <dcterms:created xsi:type="dcterms:W3CDTF">2026-08-26T18:39:48Z</dcterms:created>
  <dcterms:modified xsi:type="dcterms:W3CDTF">2026-08-26T18:39:48Z</dcterms:modified>
</cp:coreProperties>
</file>