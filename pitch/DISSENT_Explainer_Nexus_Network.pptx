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let the drawing sit for three seconds, then: "Every bridge in America is inspected about once every two years, and the entire official record of its condition is a single number from 0 to 9. Tonight I am going to show you the ones whose paperwork is lying."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feel the gap. Two years between looks, a single subjective digit as the whole record, and almost no sensors anywhere. Hardware cannot cover an inventory. The paperwork already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judge will ask why bridges. Answer it as a choice: bridges are the only asset class on earth with a public, national, thirty-four-year, per-structure condition record. You cannot audit a record that does not exist. Surfside is what the absence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this one head-on and without apology. The method audits a paper record, so it has to be tested where a public paper record exists. That is the United States. India is creating the same baseline now. Do NOT say we have deployed anything in India — say the method localises and the data is being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wins or loses the pitch. Slow down. The paper witness is what the institution believes. The physics witness predicts what the rating should be from evidence alone, and no filed rating is ever one of its inputs. The product is not another risk score. The product is the disagreement.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left to right in about twenty seconds. Land two things only: the model is graded against the inspector rating but never allowed to read one, and the alert list is budgeted to real inspection capacity.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forensic here. Real federal data, downloadable tonight, and we hand them the URL pattern. Then volunteer the one thing that is NOT measured data before they find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lets a technical judge relax. Trained to 2015, calibrated on 2016 to 2018, and every number we quote comes from 2019 onward — forty-six thousand rows of pure holdout. And the coverage number is below its target on purpose: we refuse to retune on test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bridge, told as a story. Point at the three numbers in order. The record said eight, our model — which never saw the record — said six, and in 2025 the inspectors came back and filed a three. We had it flagged nine years before the paperwork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Eighteen hundred events mined, 166 in the holdout era. We catch 38 of them inside a 15% budget with a median warning of three and a half years. If they look sceptical, the budget explanation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soften this. Say out loud that the dumb baseline beats us on the raw count — forty versus thirty-eight — and that it is printed on our own screen. Then explain WHY: for a threshold target, sorting by rating is nearly a definition of the answer. Then turn the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number sit for two seconds before you say anything. Then: of the 166 held-out failures, 108 were on bridges the paperwork still called fine — and the ranking with no model in it found zero of them. Not a small number.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payoff. Fifty-eight of the failures were on bridges the record already called bad — worst-first finds forty of those. The other hundred and eight were on bridges the paperwork still called fine, and worst-first finds zero. Not one. We find twenty-five. Sorting by rating can only point at bridges you already worry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rush this. It is worth more than another feature. Every one of these four is enforced in the running product — the abstention, the shortfall, the withheld rankings, and the miss we display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gear here. Everything after this is the running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working surface. Left is the map, right is the ranked docket. Point at the two badges on the top row: the record says 7, physics says 4.7. That gap is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it land as scale. That is the whole country, live in the browser, from a ten megabyte file. This view deliberately does not depend on our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judge for a state and a year. Two and a half seconds later the server has pulled two federal files and graded itself. Then point at the honesty: the base rate and the baseline are on screen every time. Invite them to try a state where we 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buys you credibility for everything else. Say it deliberately: twenty-seven states are in the second table with no ranking at all, and the app tells you the reason for each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ask "is this just a static site" — this is the answer. Open the docs page. The API is real, documented, and does work a browser is not permitted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category difference plainly. Everyone else measures the asset; we audit the paperwork against the asset. Then name the four genuinely novel pieces.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equity point: the small owner gets the same second opinion as the big one, because the marginal cost of one more structure is a model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verifiability, not on a slogan. Every number is downloadable, nothing was simulated, and both halves are live. Then open the console and hand them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1_trus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8229600" cy="237744"/>
          </a:xfrm>
          <a:prstGeom prst="rect">
            <a:avLst/>
          </a:prstGeom>
          <a:noFill/>
          <a:ln/>
        </p:spPr>
        <p:txBody>
          <a:bodyPr wrap="square" lIns="0" tIns="0" rIns="0" bIns="0" rtlCol="0" anchor="t"/>
          <a:lstStyle/>
          <a:p>
            <a:pPr algn="l" indent="0" marL="0">
              <a:buNone/>
            </a:pPr>
            <a:r>
              <a:rPr lang="en-US" sz="950" b="1" spc="160" kern="0" dirty="0">
                <a:solidFill>
                  <a:srgbClr val="7E88B4"/>
                </a:solidFill>
                <a:latin typeface="Courier New" pitchFamily="34" charset="0"/>
                <a:ea typeface="Courier New" pitchFamily="34" charset="-122"/>
                <a:cs typeface="Courier New" pitchFamily="34" charset="-120"/>
              </a:rPr>
              <a:t>AI INNOVATION CHALLENGE 2026  ·  ROUND 3: AI EVOLUTION</a:t>
            </a:r>
            <a:endParaRPr lang="en-US" sz="950" dirty="0"/>
          </a:p>
        </p:txBody>
      </p:sp>
      <p:sp>
        <p:nvSpPr>
          <p:cNvPr id="4" name="Text 1"/>
          <p:cNvSpPr txBox="1"/>
          <p:nvPr/>
        </p:nvSpPr>
        <p:spPr>
          <a:xfrm>
            <a:off x="658368" y="841248"/>
            <a:ext cx="8229600" cy="1051560"/>
          </a:xfrm>
          <a:prstGeom prst="rect">
            <a:avLst/>
          </a:prstGeom>
          <a:noFill/>
          <a:ln/>
        </p:spPr>
        <p:txBody>
          <a:bodyPr wrap="square" lIns="0" tIns="0" rIns="0" bIns="0" rtlCol="0" anchor="ctr"/>
          <a:lstStyle/>
          <a:p>
            <a:pPr indent="0" marL="0">
              <a:buNone/>
            </a:pPr>
            <a:r>
              <a:rPr lang="en-US" sz="6600" b="1" spc="250" kern="0" dirty="0">
                <a:solidFill>
                  <a:srgbClr val="FAF8F4"/>
                </a:solidFill>
                <a:latin typeface="Cambria" pitchFamily="34" charset="0"/>
                <a:ea typeface="Cambria" pitchFamily="34" charset="-122"/>
                <a:cs typeface="Cambria" pitchFamily="34" charset="-120"/>
              </a:rPr>
              <a:t>DISSENT</a:t>
            </a:r>
            <a:endParaRPr lang="en-US" sz="6600" dirty="0"/>
          </a:p>
        </p:txBody>
      </p:sp>
      <p:sp>
        <p:nvSpPr>
          <p:cNvPr id="5" name="Text 2"/>
          <p:cNvSpPr txBox="1"/>
          <p:nvPr/>
        </p:nvSpPr>
        <p:spPr>
          <a:xfrm>
            <a:off x="658368" y="1993392"/>
            <a:ext cx="6766560" cy="1280160"/>
          </a:xfrm>
          <a:prstGeom prst="rect">
            <a:avLst/>
          </a:prstGeom>
          <a:noFill/>
          <a:ln/>
        </p:spPr>
        <p:txBody>
          <a:bodyPr wrap="square" lIns="0" tIns="0" rIns="0" bIns="0" rtlCol="0" anchor="t"/>
          <a:lstStyle/>
          <a:p>
            <a:pPr indent="0" marL="0">
              <a:lnSpc>
                <a:spcPts val="3600"/>
              </a:lnSpc>
              <a:buNone/>
            </a:pPr>
            <a:r>
              <a:rPr lang="en-US" sz="2700" i="1" dirty="0">
                <a:solidFill>
                  <a:srgbClr val="FAF8F4"/>
                </a:solidFill>
                <a:latin typeface="Cambria" pitchFamily="34" charset="0"/>
                <a:ea typeface="Cambria" pitchFamily="34" charset="-122"/>
                <a:cs typeface="Cambria" pitchFamily="34" charset="-120"/>
              </a:rPr>
              <a:t>Infrastructure does not fail silently.</a:t>
            </a:r>
            <a:endParaRPr lang="en-US" sz="2700" dirty="0"/>
          </a:p>
          <a:p>
            <a:pPr indent="0" marL="0">
              <a:lnSpc>
                <a:spcPts val="3600"/>
              </a:lnSpc>
              <a:buNone/>
            </a:pPr>
            <a:r>
              <a:rPr lang="en-US" sz="2700" i="1" dirty="0">
                <a:solidFill>
                  <a:srgbClr val="FAF8F4"/>
                </a:solidFill>
                <a:latin typeface="Cambria" pitchFamily="34" charset="0"/>
                <a:ea typeface="Cambria" pitchFamily="34" charset="-122"/>
                <a:cs typeface="Cambria" pitchFamily="34" charset="-120"/>
              </a:rPr>
              <a:t>It fails contradicted.</a:t>
            </a:r>
            <a:endParaRPr lang="en-US" sz="2700" dirty="0"/>
          </a:p>
        </p:txBody>
      </p:sp>
      <p:sp>
        <p:nvSpPr>
          <p:cNvPr id="6" name="Shape 3"/>
          <p:cNvSpPr/>
          <p:nvPr/>
        </p:nvSpPr>
        <p:spPr>
          <a:xfrm>
            <a:off x="658368" y="3456432"/>
            <a:ext cx="2834640" cy="0"/>
          </a:xfrm>
          <a:prstGeom prst="line">
            <a:avLst/>
          </a:prstGeom>
          <a:noFill/>
          <a:ln w="28575">
            <a:solidFill>
              <a:srgbClr val="C6283C"/>
            </a:solidFill>
            <a:prstDash val="solid"/>
          </a:ln>
        </p:spPr>
      </p:sp>
      <p:sp>
        <p:nvSpPr>
          <p:cNvPr id="7" name="Text 4"/>
          <p:cNvSpPr txBox="1"/>
          <p:nvPr/>
        </p:nvSpPr>
        <p:spPr>
          <a:xfrm>
            <a:off x="658368" y="3675888"/>
            <a:ext cx="5943600" cy="1005840"/>
          </a:xfrm>
          <a:prstGeom prst="rect">
            <a:avLst/>
          </a:prstGeom>
          <a:noFill/>
          <a:ln/>
        </p:spPr>
        <p:txBody>
          <a:bodyPr wrap="square" lIns="0" tIns="0" rIns="0" bIns="0" rtlCol="0" anchor="t"/>
          <a:lstStyle/>
          <a:p>
            <a:pPr algn="l" indent="0" marL="0">
              <a:lnSpc>
                <a:spcPts val="2204"/>
              </a:lnSpc>
              <a:buNone/>
            </a:pPr>
            <a:r>
              <a:rPr lang="en-US" sz="1450" dirty="0">
                <a:solidFill>
                  <a:srgbClr val="A7AFD0"/>
                </a:solidFill>
                <a:latin typeface="Cambria" pitchFamily="34" charset="0"/>
                <a:ea typeface="Cambria" pitchFamily="34" charset="-122"/>
                <a:cs typeface="Cambria" pitchFamily="34" charset="-120"/>
              </a:rPr>
              <a:t>A machine second opinion on every bridge in the United States, built entirely from public records. It keeps a second, independent-of-opinion account of each structure and reports where the two stop agreeing.</a:t>
            </a:r>
            <a:endParaRPr lang="en-US" sz="1450" dirty="0"/>
          </a:p>
        </p:txBody>
      </p:sp>
      <p:sp>
        <p:nvSpPr>
          <p:cNvPr id="8" name="Shape 5"/>
          <p:cNvSpPr/>
          <p:nvPr/>
        </p:nvSpPr>
        <p:spPr>
          <a:xfrm>
            <a:off x="658368" y="5687568"/>
            <a:ext cx="10874959" cy="0"/>
          </a:xfrm>
          <a:prstGeom prst="line">
            <a:avLst/>
          </a:prstGeom>
          <a:noFill/>
          <a:ln w="9525">
            <a:solidFill>
              <a:srgbClr val="3A4570"/>
            </a:solidFill>
            <a:prstDash val="solid"/>
          </a:ln>
        </p:spPr>
      </p:sp>
      <p:sp>
        <p:nvSpPr>
          <p:cNvPr id="9" name="Text 6"/>
          <p:cNvSpPr txBox="1"/>
          <p:nvPr/>
        </p:nvSpPr>
        <p:spPr>
          <a:xfrm>
            <a:off x="658368" y="5852160"/>
            <a:ext cx="5486400" cy="274320"/>
          </a:xfrm>
          <a:prstGeom prst="rect">
            <a:avLst/>
          </a:prstGeom>
          <a:noFill/>
          <a:ln/>
        </p:spPr>
        <p:txBody>
          <a:bodyPr wrap="square" lIns="0" tIns="0" rIns="0" bIns="0" rtlCol="0" anchor="ctr"/>
          <a:lstStyle/>
          <a:p>
            <a:pPr indent="0" marL="0">
              <a:buNone/>
            </a:pPr>
            <a:r>
              <a:rPr lang="en-US" sz="1200" b="1" spc="160" kern="0" dirty="0">
                <a:solidFill>
                  <a:srgbClr val="FAF8F4"/>
                </a:solidFill>
                <a:latin typeface="Courier New" pitchFamily="34" charset="0"/>
                <a:ea typeface="Courier New" pitchFamily="34" charset="-122"/>
                <a:cs typeface="Courier New" pitchFamily="34" charset="-120"/>
              </a:rPr>
              <a:t>TEAM NEXUS NETWORK</a:t>
            </a:r>
            <a:endParaRPr lang="en-US" sz="1200" dirty="0"/>
          </a:p>
        </p:txBody>
      </p:sp>
      <p:sp>
        <p:nvSpPr>
          <p:cNvPr id="10" name="Text 7"/>
          <p:cNvSpPr txBox="1"/>
          <p:nvPr/>
        </p:nvSpPr>
        <p:spPr>
          <a:xfrm>
            <a:off x="658368" y="6199632"/>
            <a:ext cx="5486400" cy="237744"/>
          </a:xfrm>
          <a:prstGeom prst="rect">
            <a:avLst/>
          </a:prstGeom>
          <a:noFill/>
          <a:ln/>
        </p:spPr>
        <p:txBody>
          <a:bodyPr wrap="square" lIns="0" tIns="0" rIns="0" bIns="0" rtlCol="0" anchor="t"/>
          <a:lstStyle/>
          <a:p>
            <a:pPr algn="l" indent="0" marL="0">
              <a:buNone/>
            </a:pPr>
            <a:r>
              <a:rPr lang="en-US" sz="950" b="1" spc="160" kern="0" dirty="0">
                <a:solidFill>
                  <a:srgbClr val="6E78A4"/>
                </a:solidFill>
                <a:latin typeface="Courier New" pitchFamily="34" charset="0"/>
                <a:ea typeface="Courier New" pitchFamily="34" charset="-122"/>
                <a:cs typeface="Courier New" pitchFamily="34" charset="-120"/>
              </a:rPr>
              <a:t>DEPT. OF CSE (CYBER SECURITY)</a:t>
            </a:r>
            <a:endParaRPr lang="en-US" sz="950" dirty="0"/>
          </a:p>
        </p:txBody>
      </p:sp>
      <p:sp>
        <p:nvSpPr>
          <p:cNvPr id="11" name="Text 8"/>
          <p:cNvSpPr txBox="1"/>
          <p:nvPr/>
        </p:nvSpPr>
        <p:spPr>
          <a:xfrm>
            <a:off x="6046927" y="5870448"/>
            <a:ext cx="5486400" cy="274320"/>
          </a:xfrm>
          <a:prstGeom prst="rect">
            <a:avLst/>
          </a:prstGeom>
          <a:noFill/>
          <a:ln/>
        </p:spPr>
        <p:txBody>
          <a:bodyPr wrap="square" lIns="0" tIns="0" rIns="0" bIns="0" rtlCol="0" anchor="ctr"/>
          <a:lstStyle/>
          <a:p>
            <a:pPr algn="r" indent="0" marL="0">
              <a:buNone/>
            </a:pPr>
            <a:r>
              <a:rPr lang="en-US" sz="950" spc="80" kern="0" dirty="0">
                <a:solidFill>
                  <a:srgbClr val="6E78A4"/>
                </a:solidFill>
                <a:latin typeface="Courier New" pitchFamily="34" charset="0"/>
                <a:ea typeface="Courier New" pitchFamily="34" charset="-122"/>
                <a:cs typeface="Courier New" pitchFamily="34" charset="-120"/>
              </a:rPr>
              <a:t>621,137 structures  ·  41,319 rated poor  ·  NBI 1992–2025</a:t>
            </a:r>
            <a:endParaRPr lang="en-US" sz="950" dirty="0"/>
          </a:p>
        </p:txBody>
      </p:sp>
      <p:sp>
        <p:nvSpPr>
          <p:cNvPr id="12" name="Text 9"/>
          <p:cNvSpPr txBox="1"/>
          <p:nvPr/>
        </p:nvSpPr>
        <p:spPr>
          <a:xfrm>
            <a:off x="6046927" y="6181344"/>
            <a:ext cx="5486400" cy="274320"/>
          </a:xfrm>
          <a:prstGeom prst="rect">
            <a:avLst/>
          </a:prstGeom>
          <a:noFill/>
          <a:ln/>
        </p:spPr>
        <p:txBody>
          <a:bodyPr wrap="square" lIns="0" tIns="0" rIns="0" bIns="0" rtlCol="0" anchor="ctr"/>
          <a:lstStyle/>
          <a:p>
            <a:pPr algn="r" indent="0" marL="0">
              <a:buNone/>
            </a:pPr>
            <a:r>
              <a:rPr lang="en-US" sz="1000" b="1" spc="80" kern="0" dirty="0">
                <a:solidFill>
                  <a:srgbClr val="E4607A"/>
                </a:solidFill>
                <a:latin typeface="Courier New" pitchFamily="34" charset="0"/>
                <a:ea typeface="Courier New" pitchFamily="34" charset="-122"/>
                <a:cs typeface="Courier New" pitchFamily="34" charset="-120"/>
              </a:rPr>
              <a:t>dissent-nexus.netlify.app</a:t>
            </a:r>
            <a:endParaRPr lang="en-US" sz="10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4_undersid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827349" cy="6858000"/>
          </a:xfrm>
          <a:prstGeom prst="rect">
            <a:avLst/>
          </a:prstGeom>
          <a:solidFill>
            <a:srgbClr val="0F1738">
              <a:alpha val="88000"/>
            </a:srgbClr>
          </a:solidFill>
          <a:ln/>
        </p:spPr>
      </p:sp>
      <p:sp>
        <p:nvSpPr>
          <p:cNvPr id="4" name="Text 1"/>
          <p:cNvSpPr txBox="1"/>
          <p:nvPr/>
        </p:nvSpPr>
        <p:spPr>
          <a:xfrm>
            <a:off x="658368" y="566928"/>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01 / THE PROBLEM</a:t>
            </a:r>
            <a:endParaRPr lang="en-US" sz="950" dirty="0"/>
          </a:p>
        </p:txBody>
      </p:sp>
      <p:sp>
        <p:nvSpPr>
          <p:cNvPr id="5" name="Text 2"/>
          <p:cNvSpPr txBox="1"/>
          <p:nvPr/>
        </p:nvSpPr>
        <p:spPr>
          <a:xfrm>
            <a:off x="658368" y="932688"/>
            <a:ext cx="5852160" cy="1554480"/>
          </a:xfrm>
          <a:prstGeom prst="rect">
            <a:avLst/>
          </a:prstGeom>
          <a:noFill/>
          <a:ln/>
        </p:spPr>
        <p:txBody>
          <a:bodyPr wrap="square" lIns="0" tIns="0" rIns="0" bIns="0" rtlCol="0" anchor="t"/>
          <a:lstStyle/>
          <a:p>
            <a:pPr indent="0" marL="0">
              <a:lnSpc>
                <a:spcPts val="3660"/>
              </a:lnSpc>
              <a:buNone/>
            </a:pPr>
            <a:r>
              <a:rPr lang="en-US" sz="3000" b="1" dirty="0">
                <a:solidFill>
                  <a:srgbClr val="FAF8F4"/>
                </a:solidFill>
                <a:latin typeface="Cambria" pitchFamily="34" charset="0"/>
                <a:ea typeface="Cambria" pitchFamily="34" charset="-122"/>
                <a:cs typeface="Cambria" pitchFamily="34" charset="-120"/>
              </a:rPr>
              <a:t>A bridge does not fail the day it</a:t>
            </a:r>
            <a:endParaRPr lang="en-US" sz="3000" dirty="0"/>
          </a:p>
          <a:p>
            <a:pPr indent="0" marL="0">
              <a:lnSpc>
                <a:spcPts val="3660"/>
              </a:lnSpc>
              <a:buNone/>
            </a:pPr>
            <a:r>
              <a:rPr lang="en-US" sz="3000" b="1" dirty="0">
                <a:solidFill>
                  <a:srgbClr val="FAF8F4"/>
                </a:solidFill>
                <a:latin typeface="Cambria" pitchFamily="34" charset="0"/>
                <a:ea typeface="Cambria" pitchFamily="34" charset="-122"/>
                <a:cs typeface="Cambria" pitchFamily="34" charset="-120"/>
              </a:rPr>
              <a:t>becomes unsafe.</a:t>
            </a:r>
            <a:endParaRPr lang="en-US" sz="3000" dirty="0"/>
          </a:p>
        </p:txBody>
      </p:sp>
      <p:sp>
        <p:nvSpPr>
          <p:cNvPr id="6" name="Text 3"/>
          <p:cNvSpPr txBox="1"/>
          <p:nvPr/>
        </p:nvSpPr>
        <p:spPr>
          <a:xfrm>
            <a:off x="658368" y="2578608"/>
            <a:ext cx="5394960" cy="1463040"/>
          </a:xfrm>
          <a:prstGeom prst="rect">
            <a:avLst/>
          </a:prstGeom>
          <a:noFill/>
          <a:ln/>
        </p:spPr>
        <p:txBody>
          <a:bodyPr wrap="square" lIns="0" tIns="0" rIns="0" bIns="0" rtlCol="0" anchor="t"/>
          <a:lstStyle/>
          <a:p>
            <a:pPr algn="l" indent="0" marL="0">
              <a:lnSpc>
                <a:spcPts val="2204"/>
              </a:lnSpc>
              <a:buNone/>
            </a:pPr>
            <a:r>
              <a:rPr lang="en-US" sz="1450" dirty="0">
                <a:solidFill>
                  <a:srgbClr val="C8CBDA"/>
                </a:solidFill>
                <a:latin typeface="Cambria" pitchFamily="34" charset="0"/>
                <a:ea typeface="Cambria" pitchFamily="34" charset="-122"/>
                <a:cs typeface="Cambria" pitchFamily="34" charset="-120"/>
              </a:rPr>
              <a:t>It fails the day the paperwork and the physical bridge stop agreeing, and nobody is looking at both. Between one inspection and the next, the file is the only thing anyone consults — and the file is standing still while the structure is not.</a:t>
            </a:r>
            <a:endParaRPr lang="en-US" sz="1450" dirty="0"/>
          </a:p>
        </p:txBody>
      </p:sp>
      <p:sp>
        <p:nvSpPr>
          <p:cNvPr id="7" name="Text 4"/>
          <p:cNvSpPr txBox="1"/>
          <p:nvPr/>
        </p:nvSpPr>
        <p:spPr>
          <a:xfrm>
            <a:off x="658368" y="4041648"/>
            <a:ext cx="1481328" cy="384048"/>
          </a:xfrm>
          <a:prstGeom prst="rect">
            <a:avLst/>
          </a:prstGeom>
          <a:noFill/>
          <a:ln/>
        </p:spPr>
        <p:txBody>
          <a:bodyPr wrap="square" lIns="0" tIns="0" rIns="0" bIns="0" rtlCol="0" anchor="ctr"/>
          <a:lstStyle/>
          <a:p>
            <a:pPr algn="r" indent="0" marL="0">
              <a:buNone/>
            </a:pPr>
            <a:r>
              <a:rPr lang="en-US" sz="1900" b="1" dirty="0">
                <a:solidFill>
                  <a:srgbClr val="E4607A"/>
                </a:solidFill>
                <a:latin typeface="Cambria" pitchFamily="34" charset="0"/>
                <a:ea typeface="Cambria" pitchFamily="34" charset="-122"/>
                <a:cs typeface="Cambria" pitchFamily="34" charset="-120"/>
              </a:rPr>
              <a:t>24 months</a:t>
            </a:r>
            <a:endParaRPr lang="en-US" sz="1900" dirty="0"/>
          </a:p>
        </p:txBody>
      </p:sp>
      <p:sp>
        <p:nvSpPr>
          <p:cNvPr id="8" name="Text 5"/>
          <p:cNvSpPr txBox="1"/>
          <p:nvPr/>
        </p:nvSpPr>
        <p:spPr>
          <a:xfrm>
            <a:off x="2322576" y="4059936"/>
            <a:ext cx="3840480" cy="713232"/>
          </a:xfrm>
          <a:prstGeom prst="rect">
            <a:avLst/>
          </a:prstGeom>
          <a:noFill/>
          <a:ln/>
        </p:spPr>
        <p:txBody>
          <a:bodyPr wrap="square" lIns="0" tIns="0" rIns="0" bIns="0" rtlCol="0" anchor="t"/>
          <a:lstStyle/>
          <a:p>
            <a:pPr indent="0" marL="0">
              <a:lnSpc>
                <a:spcPts val="1550"/>
              </a:lnSpc>
              <a:buNone/>
            </a:pPr>
            <a:r>
              <a:rPr lang="en-US" sz="1150" dirty="0">
                <a:solidFill>
                  <a:srgbClr val="C8CBDA"/>
                </a:solidFill>
                <a:latin typeface="Cambria" pitchFamily="34" charset="0"/>
                <a:ea typeface="Cambria" pitchFamily="34" charset="-122"/>
                <a:cs typeface="Cambria" pitchFamily="34" charset="-120"/>
              </a:rPr>
              <a:t>between routine inspections. A defect born the day after one waits, on average, a year to be seen.</a:t>
            </a:r>
            <a:endParaRPr lang="en-US" sz="1150" dirty="0"/>
          </a:p>
        </p:txBody>
      </p:sp>
      <p:sp>
        <p:nvSpPr>
          <p:cNvPr id="9" name="Text 6"/>
          <p:cNvSpPr txBox="1"/>
          <p:nvPr/>
        </p:nvSpPr>
        <p:spPr>
          <a:xfrm>
            <a:off x="658368" y="4828032"/>
            <a:ext cx="1481328" cy="384048"/>
          </a:xfrm>
          <a:prstGeom prst="rect">
            <a:avLst/>
          </a:prstGeom>
          <a:noFill/>
          <a:ln/>
        </p:spPr>
        <p:txBody>
          <a:bodyPr wrap="square" lIns="0" tIns="0" rIns="0" bIns="0" rtlCol="0" anchor="ctr"/>
          <a:lstStyle/>
          <a:p>
            <a:pPr algn="r" indent="0" marL="0">
              <a:buNone/>
            </a:pPr>
            <a:r>
              <a:rPr lang="en-US" sz="1900" b="1" dirty="0">
                <a:solidFill>
                  <a:srgbClr val="E4607A"/>
                </a:solidFill>
                <a:latin typeface="Cambria" pitchFamily="34" charset="0"/>
                <a:ea typeface="Cambria" pitchFamily="34" charset="-122"/>
                <a:cs typeface="Cambria" pitchFamily="34" charset="-120"/>
              </a:rPr>
              <a:t>0 – 9</a:t>
            </a:r>
            <a:endParaRPr lang="en-US" sz="1900" dirty="0"/>
          </a:p>
        </p:txBody>
      </p:sp>
      <p:sp>
        <p:nvSpPr>
          <p:cNvPr id="10" name="Text 7"/>
          <p:cNvSpPr txBox="1"/>
          <p:nvPr/>
        </p:nvSpPr>
        <p:spPr>
          <a:xfrm>
            <a:off x="2322576" y="4846320"/>
            <a:ext cx="3840480" cy="713232"/>
          </a:xfrm>
          <a:prstGeom prst="rect">
            <a:avLst/>
          </a:prstGeom>
          <a:noFill/>
          <a:ln/>
        </p:spPr>
        <p:txBody>
          <a:bodyPr wrap="square" lIns="0" tIns="0" rIns="0" bIns="0" rtlCol="0" anchor="t"/>
          <a:lstStyle/>
          <a:p>
            <a:pPr indent="0" marL="0">
              <a:lnSpc>
                <a:spcPts val="1550"/>
              </a:lnSpc>
              <a:buNone/>
            </a:pPr>
            <a:r>
              <a:rPr lang="en-US" sz="1150" dirty="0">
                <a:solidFill>
                  <a:srgbClr val="C8CBDA"/>
                </a:solidFill>
                <a:latin typeface="Cambria" pitchFamily="34" charset="0"/>
                <a:ea typeface="Cambria" pitchFamily="34" charset="-122"/>
                <a:cs typeface="Cambria" pitchFamily="34" charset="-120"/>
              </a:rPr>
              <a:t>the lowest of a handful of filed condition digits is the operative account of a whole structure.</a:t>
            </a:r>
            <a:endParaRPr lang="en-US" sz="1150" dirty="0"/>
          </a:p>
        </p:txBody>
      </p:sp>
      <p:sp>
        <p:nvSpPr>
          <p:cNvPr id="11" name="Text 8"/>
          <p:cNvSpPr txBox="1"/>
          <p:nvPr/>
        </p:nvSpPr>
        <p:spPr>
          <a:xfrm>
            <a:off x="658368" y="5614416"/>
            <a:ext cx="1481328" cy="384048"/>
          </a:xfrm>
          <a:prstGeom prst="rect">
            <a:avLst/>
          </a:prstGeom>
          <a:noFill/>
          <a:ln/>
        </p:spPr>
        <p:txBody>
          <a:bodyPr wrap="square" lIns="0" tIns="0" rIns="0" bIns="0" rtlCol="0" anchor="ctr"/>
          <a:lstStyle/>
          <a:p>
            <a:pPr algn="r" indent="0" marL="0">
              <a:buNone/>
            </a:pPr>
            <a:r>
              <a:rPr lang="en-US" sz="1900" b="1" dirty="0">
                <a:solidFill>
                  <a:srgbClr val="E4607A"/>
                </a:solidFill>
                <a:latin typeface="Cambria" pitchFamily="34" charset="0"/>
                <a:ea typeface="Cambria" pitchFamily="34" charset="-122"/>
                <a:cs typeface="Cambria" pitchFamily="34" charset="-120"/>
              </a:rPr>
              <a:t>under 20%</a:t>
            </a:r>
            <a:endParaRPr lang="en-US" sz="1900" dirty="0"/>
          </a:p>
        </p:txBody>
      </p:sp>
      <p:sp>
        <p:nvSpPr>
          <p:cNvPr id="12" name="Text 9"/>
          <p:cNvSpPr txBox="1"/>
          <p:nvPr/>
        </p:nvSpPr>
        <p:spPr>
          <a:xfrm>
            <a:off x="2322576" y="5632704"/>
            <a:ext cx="3840480" cy="713232"/>
          </a:xfrm>
          <a:prstGeom prst="rect">
            <a:avLst/>
          </a:prstGeom>
          <a:noFill/>
          <a:ln/>
        </p:spPr>
        <p:txBody>
          <a:bodyPr wrap="square" lIns="0" tIns="0" rIns="0" bIns="0" rtlCol="0" anchor="t"/>
          <a:lstStyle/>
          <a:p>
            <a:pPr indent="0" marL="0">
              <a:lnSpc>
                <a:spcPts val="1550"/>
              </a:lnSpc>
              <a:buNone/>
            </a:pPr>
            <a:r>
              <a:rPr lang="en-US" sz="1150" dirty="0">
                <a:solidFill>
                  <a:srgbClr val="C8CBDA"/>
                </a:solidFill>
                <a:latin typeface="Cambria" pitchFamily="34" charset="0"/>
                <a:ea typeface="Cambria" pitchFamily="34" charset="-122"/>
                <a:cs typeface="Cambria" pitchFamily="34" charset="-120"/>
              </a:rPr>
              <a:t>of the world’s long-span bridges carry any monitoring hardware at all (Nature Communications, 2025). Sensors do not scale. Records do.</a:t>
            </a:r>
            <a:endParaRPr lang="en-US" sz="11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8F4"/>
        </a:solidFill>
      </p:bgPr>
    </p:bg>
    <p:spTree>
      <p:nvGrpSpPr>
        <p:cNvPr id="1" name=""/>
        <p:cNvGrpSpPr/>
        <p:nvPr/>
      </p:nvGrpSpPr>
      <p:grpSpPr>
        <a:xfrm>
          <a:off x="0" y="0"/>
          <a:ext cx="0" cy="0"/>
          <a:chOff x="0" y="0"/>
          <a:chExt cx="0" cy="0"/>
        </a:xfrm>
      </p:grpSpPr>
      <p:pic>
        <p:nvPicPr>
          <p:cNvPr id="2" name="Image 0" descr="/Users/arockia/Downloads/dissent/pitch/bg/08_paper_witnes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66928"/>
            <a:ext cx="640080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02 / SCOPE</a:t>
            </a:r>
            <a:endParaRPr lang="en-US" sz="950" dirty="0"/>
          </a:p>
        </p:txBody>
      </p:sp>
      <p:sp>
        <p:nvSpPr>
          <p:cNvPr id="4" name="Text 1"/>
          <p:cNvSpPr txBox="1"/>
          <p:nvPr/>
        </p:nvSpPr>
        <p:spPr>
          <a:xfrm>
            <a:off x="658368" y="914400"/>
            <a:ext cx="10874959" cy="1371600"/>
          </a:xfrm>
          <a:prstGeom prst="rect">
            <a:avLst/>
          </a:prstGeom>
          <a:noFill/>
          <a:ln/>
        </p:spPr>
        <p:txBody>
          <a:bodyPr wrap="square" lIns="0" tIns="0" rIns="0" bIns="0" rtlCol="0" anchor="t"/>
          <a:lstStyle/>
          <a:p>
            <a:pPr indent="0" marL="0">
              <a:lnSpc>
                <a:spcPts val="3416"/>
              </a:lnSpc>
              <a:buNone/>
            </a:pPr>
            <a:r>
              <a:rPr lang="en-US" sz="2800" b="1" dirty="0">
                <a:solidFill>
                  <a:srgbClr val="20263E"/>
                </a:solidFill>
                <a:latin typeface="Cambria" pitchFamily="34" charset="0"/>
                <a:ea typeface="Cambria" pitchFamily="34" charset="-122"/>
                <a:cs typeface="Cambria" pitchFamily="34" charset="-120"/>
              </a:rPr>
              <a:t>We chose bridges because their record is public,</a:t>
            </a:r>
            <a:endParaRPr lang="en-US" sz="2800" dirty="0"/>
          </a:p>
          <a:p>
            <a:pPr indent="0" marL="0">
              <a:lnSpc>
                <a:spcPts val="3416"/>
              </a:lnSpc>
              <a:buNone/>
            </a:pPr>
            <a:r>
              <a:rPr lang="en-US" sz="2800" b="1" dirty="0">
                <a:solidFill>
                  <a:srgbClr val="20263E"/>
                </a:solidFill>
                <a:latin typeface="Cambria" pitchFamily="34" charset="0"/>
                <a:ea typeface="Cambria" pitchFamily="34" charset="-122"/>
                <a:cs typeface="Cambria" pitchFamily="34" charset="-120"/>
              </a:rPr>
              <a:t>national, per-structure and thirty-four years deep.</a:t>
            </a:r>
            <a:endParaRPr lang="en-US" sz="2800" dirty="0"/>
          </a:p>
        </p:txBody>
      </p:sp>
      <p:sp>
        <p:nvSpPr>
          <p:cNvPr id="5" name="Text 2"/>
          <p:cNvSpPr txBox="1"/>
          <p:nvPr/>
        </p:nvSpPr>
        <p:spPr>
          <a:xfrm>
            <a:off x="658368" y="2377440"/>
            <a:ext cx="5669280" cy="1234440"/>
          </a:xfrm>
          <a:prstGeom prst="rect">
            <a:avLst/>
          </a:prstGeom>
          <a:noFill/>
          <a:ln/>
        </p:spPr>
        <p:txBody>
          <a:bodyPr wrap="square" lIns="0" tIns="0" rIns="0" bIns="0" rtlCol="0" anchor="t"/>
          <a:lstStyle/>
          <a:p>
            <a:pPr algn="l" indent="0" marL="0">
              <a:lnSpc>
                <a:spcPts val="2204"/>
              </a:lnSpc>
              <a:buNone/>
            </a:pPr>
            <a:r>
              <a:rPr lang="en-US" sz="1450" dirty="0">
                <a:solidFill>
                  <a:srgbClr val="20263E"/>
                </a:solidFill>
                <a:latin typeface="Cambria" pitchFamily="34" charset="0"/>
                <a:ea typeface="Cambria" pitchFamily="34" charset="-122"/>
                <a:cs typeface="Cambria" pitchFamily="34" charset="-120"/>
              </a:rPr>
              <a:t>The method needs something to argue with. A bridge in the United States has a public, per-structure, numeric condition record going back to 1992 — every inspection, every rating, every year. We know of no other asset class with all five of those properties at once.</a:t>
            </a:r>
            <a:endParaRPr lang="en-US" sz="1450" dirty="0"/>
          </a:p>
        </p:txBody>
      </p:sp>
      <p:sp>
        <p:nvSpPr>
          <p:cNvPr id="6" name="Text 3"/>
          <p:cNvSpPr txBox="1"/>
          <p:nvPr/>
        </p:nvSpPr>
        <p:spPr>
          <a:xfrm>
            <a:off x="658368" y="3675888"/>
            <a:ext cx="5669280" cy="914400"/>
          </a:xfrm>
          <a:prstGeom prst="rect">
            <a:avLst/>
          </a:prstGeom>
          <a:noFill/>
          <a:ln/>
        </p:spPr>
        <p:txBody>
          <a:bodyPr wrap="square" lIns="0" tIns="0" rIns="0" bIns="0" rtlCol="0" anchor="t"/>
          <a:lstStyle/>
          <a:p>
            <a:pPr algn="l" indent="0" marL="0">
              <a:lnSpc>
                <a:spcPts val="2204"/>
              </a:lnSpc>
              <a:buNone/>
            </a:pPr>
            <a:r>
              <a:rPr lang="en-US" sz="1450" i="1" dirty="0">
                <a:solidFill>
                  <a:srgbClr val="6A7088"/>
                </a:solidFill>
                <a:latin typeface="Cambria" pitchFamily="34" charset="0"/>
                <a:ea typeface="Cambria" pitchFamily="34" charset="-122"/>
                <a:cs typeface="Cambria" pitchFamily="34" charset="-120"/>
              </a:rPr>
              <a:t>This is a scientific choice, not a limitation. Bridges are where the idea can be proven against thirty-four years of ground truth. Buildings are where it goes next.</a:t>
            </a:r>
            <a:endParaRPr lang="en-US" sz="1450" dirty="0"/>
          </a:p>
        </p:txBody>
      </p:sp>
      <p:sp>
        <p:nvSpPr>
          <p:cNvPr id="7" name="Shape 4"/>
          <p:cNvSpPr/>
          <p:nvPr/>
        </p:nvSpPr>
        <p:spPr>
          <a:xfrm>
            <a:off x="6903720" y="1737360"/>
            <a:ext cx="4629607" cy="3337560"/>
          </a:xfrm>
          <a:prstGeom prst="rect">
            <a:avLst/>
          </a:prstGeom>
          <a:solidFill>
            <a:srgbClr val="0F1738"/>
          </a:solidFill>
          <a:ln w="9525">
            <a:solidFill>
              <a:srgbClr val="2A3560"/>
            </a:solidFill>
            <a:prstDash val="solid"/>
          </a:ln>
        </p:spPr>
      </p:sp>
      <p:sp>
        <p:nvSpPr>
          <p:cNvPr id="8" name="Text 5"/>
          <p:cNvSpPr txBox="1"/>
          <p:nvPr/>
        </p:nvSpPr>
        <p:spPr>
          <a:xfrm>
            <a:off x="7196328" y="1975104"/>
            <a:ext cx="4044391"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EXHIBIT — WHAT THE ABSENCE COSTS</a:t>
            </a:r>
            <a:endParaRPr lang="en-US" sz="950" dirty="0"/>
          </a:p>
        </p:txBody>
      </p:sp>
      <p:sp>
        <p:nvSpPr>
          <p:cNvPr id="9" name="Text 6"/>
          <p:cNvSpPr txBox="1"/>
          <p:nvPr/>
        </p:nvSpPr>
        <p:spPr>
          <a:xfrm>
            <a:off x="7196328" y="2286000"/>
            <a:ext cx="4044391" cy="475488"/>
          </a:xfrm>
          <a:prstGeom prst="rect">
            <a:avLst/>
          </a:prstGeom>
          <a:noFill/>
          <a:ln/>
        </p:spPr>
        <p:txBody>
          <a:bodyPr wrap="square" lIns="0" tIns="0" rIns="0" bIns="0" rtlCol="0" anchor="ctr"/>
          <a:lstStyle/>
          <a:p>
            <a:pPr indent="0" marL="0">
              <a:buNone/>
            </a:pPr>
            <a:r>
              <a:rPr lang="en-US" sz="2600" b="1" dirty="0">
                <a:solidFill>
                  <a:srgbClr val="FAF8F4"/>
                </a:solidFill>
                <a:latin typeface="Cambria" pitchFamily="34" charset="0"/>
                <a:ea typeface="Cambria" pitchFamily="34" charset="-122"/>
                <a:cs typeface="Cambria" pitchFamily="34" charset="-120"/>
              </a:rPr>
              <a:t>Surfside</a:t>
            </a:r>
            <a:endParaRPr lang="en-US" sz="2600" dirty="0"/>
          </a:p>
        </p:txBody>
      </p:sp>
      <p:sp>
        <p:nvSpPr>
          <p:cNvPr id="10" name="Text 7"/>
          <p:cNvSpPr txBox="1"/>
          <p:nvPr/>
        </p:nvSpPr>
        <p:spPr>
          <a:xfrm>
            <a:off x="7196328" y="2761488"/>
            <a:ext cx="4044391" cy="237744"/>
          </a:xfrm>
          <a:prstGeom prst="rect">
            <a:avLst/>
          </a:prstGeom>
          <a:noFill/>
          <a:ln/>
        </p:spPr>
        <p:txBody>
          <a:bodyPr wrap="square" lIns="0" tIns="0" rIns="0" bIns="0" rtlCol="0" anchor="ctr"/>
          <a:lstStyle/>
          <a:p>
            <a:pPr indent="0" marL="0">
              <a:buNone/>
            </a:pPr>
            <a:r>
              <a:rPr lang="en-US" sz="860" spc="90" kern="0" dirty="0">
                <a:solidFill>
                  <a:srgbClr val="E4607A"/>
                </a:solidFill>
                <a:latin typeface="Courier New" pitchFamily="34" charset="0"/>
                <a:ea typeface="Courier New" pitchFamily="34" charset="-122"/>
                <a:cs typeface="Courier New" pitchFamily="34" charset="-120"/>
              </a:rPr>
              <a:t>FLORIDA  ·  JUNE 2021  ·  98 DEAD</a:t>
            </a:r>
            <a:endParaRPr lang="en-US" sz="860" dirty="0"/>
          </a:p>
        </p:txBody>
      </p:sp>
      <p:sp>
        <p:nvSpPr>
          <p:cNvPr id="11" name="Text 8"/>
          <p:cNvSpPr txBox="1"/>
          <p:nvPr/>
        </p:nvSpPr>
        <p:spPr>
          <a:xfrm>
            <a:off x="7196328" y="3163824"/>
            <a:ext cx="4044391" cy="1371600"/>
          </a:xfrm>
          <a:prstGeom prst="rect">
            <a:avLst/>
          </a:prstGeom>
          <a:noFill/>
          <a:ln/>
        </p:spPr>
        <p:txBody>
          <a:bodyPr wrap="square" lIns="0" tIns="0" rIns="0" bIns="0" rtlCol="0" anchor="t"/>
          <a:lstStyle/>
          <a:p>
            <a:pPr indent="0" marL="0">
              <a:lnSpc>
                <a:spcPts val="1650"/>
              </a:lnSpc>
              <a:buNone/>
            </a:pPr>
            <a:r>
              <a:rPr lang="en-US" sz="1180" dirty="0">
                <a:solidFill>
                  <a:srgbClr val="C8CBDA"/>
                </a:solidFill>
                <a:latin typeface="Cambria" pitchFamily="34" charset="0"/>
                <a:ea typeface="Cambria" pitchFamily="34" charset="-122"/>
                <a:cs typeface="Cambria" pitchFamily="34" charset="-120"/>
              </a:rPr>
              <a:t>A published study had already flagged that exact building as subsiding, years before it fell. There was no condition record for anyone to audit it against, and no mechanism that would have made the contradiction anybody’s job.</a:t>
            </a:r>
            <a:endParaRPr lang="en-US" sz="1180" dirty="0"/>
          </a:p>
        </p:txBody>
      </p:sp>
      <p:sp>
        <p:nvSpPr>
          <p:cNvPr id="12" name="Shape 9"/>
          <p:cNvSpPr/>
          <p:nvPr/>
        </p:nvSpPr>
        <p:spPr>
          <a:xfrm>
            <a:off x="7196328" y="4626864"/>
            <a:ext cx="4044391" cy="0"/>
          </a:xfrm>
          <a:prstGeom prst="line">
            <a:avLst/>
          </a:prstGeom>
          <a:noFill/>
          <a:ln w="9525">
            <a:solidFill>
              <a:srgbClr val="2A3560"/>
            </a:solidFill>
            <a:prstDash val="solid"/>
          </a:ln>
        </p:spPr>
      </p:sp>
      <p:sp>
        <p:nvSpPr>
          <p:cNvPr id="13" name="Text 10"/>
          <p:cNvSpPr txBox="1"/>
          <p:nvPr/>
        </p:nvSpPr>
        <p:spPr>
          <a:xfrm>
            <a:off x="7196328" y="4718304"/>
            <a:ext cx="4044391" cy="274320"/>
          </a:xfrm>
          <a:prstGeom prst="rect">
            <a:avLst/>
          </a:prstGeom>
          <a:noFill/>
          <a:ln/>
        </p:spPr>
        <p:txBody>
          <a:bodyPr wrap="square" lIns="0" tIns="0" rIns="0" bIns="0" rtlCol="0" anchor="ctr"/>
          <a:lstStyle/>
          <a:p>
            <a:pPr indent="0" marL="0">
              <a:buNone/>
            </a:pPr>
            <a:r>
              <a:rPr lang="en-US" sz="1050" i="1" dirty="0">
                <a:solidFill>
                  <a:srgbClr val="8A93B8"/>
                </a:solidFill>
                <a:latin typeface="Cambria" pitchFamily="34" charset="0"/>
                <a:ea typeface="Cambria" pitchFamily="34" charset="-122"/>
                <a:cs typeface="Cambria" pitchFamily="34" charset="-120"/>
              </a:rPr>
              <a:t>No comparable public per-building condition series exists. That is the gap, not the technology.</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B3AC9A"/>
                </a:solidFill>
                <a:latin typeface="Courier New"/>
                <a:ea typeface="Courier New"/>
                <a:cs typeface="Courier New"/>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8F4"/>
        </a:solidFill>
      </p:bgPr>
    </p:bg>
    <p:spTree>
      <p:nvGrpSpPr>
        <p:cNvPr id="1" name=""/>
        <p:cNvGrpSpPr/>
        <p:nvPr/>
      </p:nvGrpSpPr>
      <p:grpSpPr>
        <a:xfrm>
          <a:off x="0" y="0"/>
          <a:ext cx="0" cy="0"/>
          <a:chOff x="0" y="0"/>
          <a:chExt cx="0" cy="0"/>
        </a:xfrm>
      </p:grpSpPr>
      <p:pic>
        <p:nvPicPr>
          <p:cNvPr id="2" name="Image 0" descr="/Users/arockia/Downloads/dissent/pitch/bg/bg03_pap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66928"/>
            <a:ext cx="640080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03 / THE DATA QUESTION</a:t>
            </a:r>
            <a:endParaRPr lang="en-US" sz="950" dirty="0"/>
          </a:p>
        </p:txBody>
      </p:sp>
      <p:sp>
        <p:nvSpPr>
          <p:cNvPr id="4" name="Text 1"/>
          <p:cNvSpPr txBox="1"/>
          <p:nvPr/>
        </p:nvSpPr>
        <p:spPr>
          <a:xfrm>
            <a:off x="658368" y="914400"/>
            <a:ext cx="10874959" cy="1371600"/>
          </a:xfrm>
          <a:prstGeom prst="rect">
            <a:avLst/>
          </a:prstGeom>
          <a:noFill/>
          <a:ln/>
        </p:spPr>
        <p:txBody>
          <a:bodyPr wrap="square" lIns="0" tIns="0" rIns="0" bIns="0" rtlCol="0" anchor="t"/>
          <a:lstStyle/>
          <a:p>
            <a:pPr indent="0" marL="0">
              <a:lnSpc>
                <a:spcPts val="3416"/>
              </a:lnSpc>
              <a:buNone/>
            </a:pPr>
            <a:r>
              <a:rPr lang="en-US" sz="2800" b="1" dirty="0">
                <a:solidFill>
                  <a:srgbClr val="20263E"/>
                </a:solidFill>
                <a:latin typeface="Cambria" pitchFamily="34" charset="0"/>
                <a:ea typeface="Cambria" pitchFamily="34" charset="-122"/>
                <a:cs typeface="Cambria" pitchFamily="34" charset="-120"/>
              </a:rPr>
              <a:t>We used American data because that is where</a:t>
            </a:r>
            <a:endParaRPr lang="en-US" sz="2800" dirty="0"/>
          </a:p>
          <a:p>
            <a:pPr indent="0" marL="0">
              <a:lnSpc>
                <a:spcPts val="3416"/>
              </a:lnSpc>
              <a:buNone/>
            </a:pPr>
            <a:r>
              <a:rPr lang="en-US" sz="2800" b="1" dirty="0">
                <a:solidFill>
                  <a:srgbClr val="20263E"/>
                </a:solidFill>
                <a:latin typeface="Cambria" pitchFamily="34" charset="0"/>
                <a:ea typeface="Cambria" pitchFamily="34" charset="-122"/>
                <a:cs typeface="Cambria" pitchFamily="34" charset="-120"/>
              </a:rPr>
              <a:t>a public record exists to test against.</a:t>
            </a:r>
            <a:endParaRPr lang="en-US" sz="2800" dirty="0"/>
          </a:p>
        </p:txBody>
      </p:sp>
      <p:sp>
        <p:nvSpPr>
          <p:cNvPr id="5" name="Text 2"/>
          <p:cNvSpPr txBox="1"/>
          <p:nvPr/>
        </p:nvSpPr>
        <p:spPr>
          <a:xfrm>
            <a:off x="658368" y="2331720"/>
            <a:ext cx="5623560" cy="1737360"/>
          </a:xfrm>
          <a:prstGeom prst="rect">
            <a:avLst/>
          </a:prstGeom>
          <a:noFill/>
          <a:ln/>
        </p:spPr>
        <p:txBody>
          <a:bodyPr wrap="square" lIns="0" tIns="0" rIns="0" bIns="0" rtlCol="0" anchor="t"/>
          <a:lstStyle/>
          <a:p>
            <a:pPr algn="l" indent="0" marL="0">
              <a:lnSpc>
                <a:spcPts val="2128"/>
              </a:lnSpc>
              <a:buNone/>
            </a:pPr>
            <a:r>
              <a:rPr lang="en-US" sz="1400" dirty="0">
                <a:solidFill>
                  <a:srgbClr val="20263E"/>
                </a:solidFill>
                <a:latin typeface="Cambria" pitchFamily="34" charset="0"/>
                <a:ea typeface="Cambria" pitchFamily="34" charset="-122"/>
                <a:cs typeface="Cambria" pitchFamily="34" charset="-120"/>
              </a:rPr>
              <a:t>The Federal Highway Administration publishes the National Bridge Inventory as plain delimited files, one per state per year, free to anyone. It is the only longitudinal per-structure inspection record of its kind in the world. If you want to prove that a model can catch a record drifting away from reality, that is the only place the experiment can actually be run.</a:t>
            </a:r>
            <a:endParaRPr lang="en-US" sz="1400" dirty="0"/>
          </a:p>
        </p:txBody>
      </p:sp>
      <p:sp>
        <p:nvSpPr>
          <p:cNvPr id="6" name="Text 3"/>
          <p:cNvSpPr txBox="1"/>
          <p:nvPr/>
        </p:nvSpPr>
        <p:spPr>
          <a:xfrm>
            <a:off x="6720840" y="2395728"/>
            <a:ext cx="4812487" cy="237744"/>
          </a:xfrm>
          <a:prstGeom prst="rect">
            <a:avLst/>
          </a:prstGeom>
          <a:noFill/>
          <a:ln/>
        </p:spPr>
        <p:txBody>
          <a:bodyPr wrap="square" lIns="0" tIns="0" rIns="0" bIns="0" rtlCol="0" anchor="t"/>
          <a:lstStyle/>
          <a:p>
            <a:pPr algn="l" indent="0" marL="0">
              <a:buNone/>
            </a:pPr>
            <a:r>
              <a:rPr lang="en-US" sz="950" b="1" spc="160" kern="0" dirty="0">
                <a:solidFill>
                  <a:srgbClr val="C6283C"/>
                </a:solidFill>
                <a:latin typeface="Courier New" pitchFamily="34" charset="0"/>
                <a:ea typeface="Courier New" pitchFamily="34" charset="-122"/>
                <a:cs typeface="Courier New" pitchFamily="34" charset="-120"/>
              </a:rPr>
              <a:t>AND WHERE IT TRAVELS</a:t>
            </a:r>
            <a:endParaRPr lang="en-US" sz="950" dirty="0"/>
          </a:p>
        </p:txBody>
      </p:sp>
      <p:sp>
        <p:nvSpPr>
          <p:cNvPr id="7" name="Text 4"/>
          <p:cNvSpPr txBox="1"/>
          <p:nvPr/>
        </p:nvSpPr>
        <p:spPr>
          <a:xfrm>
            <a:off x="6720840" y="2670048"/>
            <a:ext cx="4812487" cy="566928"/>
          </a:xfrm>
          <a:prstGeom prst="rect">
            <a:avLst/>
          </a:prstGeom>
          <a:noFill/>
          <a:ln/>
        </p:spPr>
        <p:txBody>
          <a:bodyPr wrap="square" lIns="0" tIns="0" rIns="0" bIns="0" rtlCol="0" anchor="t"/>
          <a:lstStyle/>
          <a:p>
            <a:pPr indent="0" marL="0">
              <a:lnSpc>
                <a:spcPts val="2300"/>
              </a:lnSpc>
              <a:buNone/>
            </a:pPr>
            <a:r>
              <a:rPr lang="en-US" sz="1700" b="1" dirty="0">
                <a:solidFill>
                  <a:srgbClr val="20263E"/>
                </a:solidFill>
                <a:latin typeface="Cambria" pitchFamily="34" charset="0"/>
                <a:ea typeface="Cambria" pitchFamily="34" charset="-122"/>
                <a:cs typeface="Cambria" pitchFamily="34" charset="-120"/>
              </a:rPr>
              <a:t>India is building the same record right now.</a:t>
            </a:r>
            <a:endParaRPr lang="en-US" sz="1700" dirty="0"/>
          </a:p>
        </p:txBody>
      </p:sp>
      <p:sp>
        <p:nvSpPr>
          <p:cNvPr id="8" name="Text 5"/>
          <p:cNvSpPr txBox="1"/>
          <p:nvPr/>
        </p:nvSpPr>
        <p:spPr>
          <a:xfrm>
            <a:off x="6720840" y="3346704"/>
            <a:ext cx="4812487" cy="960120"/>
          </a:xfrm>
          <a:prstGeom prst="rect">
            <a:avLst/>
          </a:prstGeom>
          <a:noFill/>
          <a:ln/>
        </p:spPr>
        <p:txBody>
          <a:bodyPr wrap="square" lIns="0" tIns="0" rIns="0" bIns="0" rtlCol="0" anchor="t"/>
          <a:lstStyle/>
          <a:p>
            <a:pPr indent="0" marL="0">
              <a:lnSpc>
                <a:spcPts val="1650"/>
              </a:lnSpc>
              <a:buNone/>
            </a:pPr>
            <a:r>
              <a:rPr lang="en-US" sz="1200" dirty="0">
                <a:solidFill>
                  <a:srgbClr val="6A7088"/>
                </a:solidFill>
                <a:latin typeface="Cambria" pitchFamily="34" charset="0"/>
                <a:ea typeface="Cambria" pitchFamily="34" charset="-122"/>
                <a:cs typeface="Cambria" pitchFamily="34" charset="-120"/>
              </a:rPr>
              <a:t>IBMS already inventories 172,517 National Highway structures on the same 0–9 idea, and MoRTH’s nationwide re-survey is creating exactly the fresh paper baseline this method audits.</a:t>
            </a:r>
            <a:endParaRPr lang="en-US" sz="1200" dirty="0"/>
          </a:p>
        </p:txBody>
      </p:sp>
      <p:sp>
        <p:nvSpPr>
          <p:cNvPr id="9" name="Shape 6"/>
          <p:cNvSpPr/>
          <p:nvPr/>
        </p:nvSpPr>
        <p:spPr>
          <a:xfrm>
            <a:off x="6720840" y="4370832"/>
            <a:ext cx="4812487" cy="0"/>
          </a:xfrm>
          <a:prstGeom prst="line">
            <a:avLst/>
          </a:prstGeom>
          <a:noFill/>
          <a:ln w="12700">
            <a:solidFill>
              <a:srgbClr val="D9D5C9"/>
            </a:solidFill>
            <a:prstDash val="solid"/>
          </a:ln>
        </p:spPr>
      </p:sp>
      <p:sp>
        <p:nvSpPr>
          <p:cNvPr id="10" name="Text 7"/>
          <p:cNvSpPr txBox="1"/>
          <p:nvPr/>
        </p:nvSpPr>
        <p:spPr>
          <a:xfrm>
            <a:off x="6720840" y="4498848"/>
            <a:ext cx="4812487" cy="329184"/>
          </a:xfrm>
          <a:prstGeom prst="rect">
            <a:avLst/>
          </a:prstGeom>
          <a:noFill/>
          <a:ln/>
        </p:spPr>
        <p:txBody>
          <a:bodyPr wrap="square" lIns="0" tIns="0" rIns="0" bIns="0" rtlCol="0" anchor="ctr"/>
          <a:lstStyle/>
          <a:p>
            <a:pPr indent="0" marL="0">
              <a:buNone/>
            </a:pPr>
            <a:r>
              <a:rPr lang="en-US" sz="1700" b="1" dirty="0">
                <a:solidFill>
                  <a:srgbClr val="C6283C"/>
                </a:solidFill>
                <a:latin typeface="Cambria" pitchFamily="34" charset="0"/>
                <a:ea typeface="Cambria" pitchFamily="34" charset="-122"/>
                <a:cs typeface="Cambria" pitchFamily="34" charset="-120"/>
              </a:rPr>
              <a:t>Morbi</a:t>
            </a:r>
            <a:endParaRPr lang="en-US" sz="1700" dirty="0"/>
          </a:p>
        </p:txBody>
      </p:sp>
      <p:sp>
        <p:nvSpPr>
          <p:cNvPr id="11" name="Text 8"/>
          <p:cNvSpPr txBox="1"/>
          <p:nvPr/>
        </p:nvSpPr>
        <p:spPr>
          <a:xfrm>
            <a:off x="6720840" y="4846320"/>
            <a:ext cx="4812487" cy="219456"/>
          </a:xfrm>
          <a:prstGeom prst="rect">
            <a:avLst/>
          </a:prstGeom>
          <a:noFill/>
          <a:ln/>
        </p:spPr>
        <p:txBody>
          <a:bodyPr wrap="square" lIns="0" tIns="0" rIns="0" bIns="0" rtlCol="0" anchor="ctr"/>
          <a:lstStyle/>
          <a:p>
            <a:pPr indent="0" marL="0">
              <a:buNone/>
            </a:pPr>
            <a:r>
              <a:rPr lang="en-US" sz="840" spc="90" kern="0" dirty="0">
                <a:solidFill>
                  <a:srgbClr val="6A7088"/>
                </a:solidFill>
                <a:latin typeface="Courier New" pitchFamily="34" charset="0"/>
                <a:ea typeface="Courier New" pitchFamily="34" charset="-122"/>
                <a:cs typeface="Courier New" pitchFamily="34" charset="-120"/>
              </a:rPr>
              <a:t>GUJARAT  ·  OCTOBER 2022  ·  135 DEAD</a:t>
            </a:r>
            <a:endParaRPr lang="en-US" sz="840" dirty="0"/>
          </a:p>
        </p:txBody>
      </p:sp>
      <p:sp>
        <p:nvSpPr>
          <p:cNvPr id="12" name="Text 9"/>
          <p:cNvSpPr txBox="1"/>
          <p:nvPr/>
        </p:nvSpPr>
        <p:spPr>
          <a:xfrm>
            <a:off x="6720840" y="5138928"/>
            <a:ext cx="4812487" cy="731520"/>
          </a:xfrm>
          <a:prstGeom prst="rect">
            <a:avLst/>
          </a:prstGeom>
          <a:noFill/>
          <a:ln/>
        </p:spPr>
        <p:txBody>
          <a:bodyPr wrap="square" lIns="0" tIns="0" rIns="0" bIns="0" rtlCol="0" anchor="t"/>
          <a:lstStyle/>
          <a:p>
            <a:pPr indent="0" marL="0">
              <a:lnSpc>
                <a:spcPts val="1600"/>
              </a:lnSpc>
              <a:buNone/>
            </a:pPr>
            <a:r>
              <a:rPr lang="en-US" sz="1150" i="1" dirty="0">
                <a:solidFill>
                  <a:srgbClr val="6A7088"/>
                </a:solidFill>
                <a:latin typeface="Cambria" pitchFamily="34" charset="0"/>
                <a:ea typeface="Cambria" pitchFamily="34" charset="-122"/>
                <a:cs typeface="Cambria" pitchFamily="34" charset="-120"/>
              </a:rPr>
              <a:t>A bridge reopened four days after a renovation that nobody checked against the physical cables. This is the failure mode, exactly.</a:t>
            </a:r>
            <a:endParaRPr lang="en-US" sz="11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B3AC9A"/>
                </a:solidFill>
                <a:latin typeface="Courier New"/>
                <a:ea typeface="Courier New"/>
                <a:cs typeface="Courier New"/>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2_contour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0292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04 / THE IDEA</a:t>
            </a:r>
            <a:endParaRPr lang="en-US" sz="950" dirty="0"/>
          </a:p>
        </p:txBody>
      </p:sp>
      <p:sp>
        <p:nvSpPr>
          <p:cNvPr id="4" name="Text 1"/>
          <p:cNvSpPr txBox="1"/>
          <p:nvPr/>
        </p:nvSpPr>
        <p:spPr>
          <a:xfrm>
            <a:off x="658368" y="822960"/>
            <a:ext cx="10881360" cy="868680"/>
          </a:xfrm>
          <a:prstGeom prst="rect">
            <a:avLst/>
          </a:prstGeom>
          <a:noFill/>
          <a:ln/>
        </p:spPr>
        <p:txBody>
          <a:bodyPr wrap="square" lIns="0" tIns="0" rIns="0" bIns="0" rtlCol="0" anchor="t"/>
          <a:lstStyle/>
          <a:p>
            <a:pPr indent="0" marL="0">
              <a:lnSpc>
                <a:spcPts val="3172"/>
              </a:lnSpc>
              <a:buNone/>
            </a:pPr>
            <a:r>
              <a:rPr lang="en-US" sz="2600" b="1" dirty="0">
                <a:solidFill>
                  <a:srgbClr val="FAF8F4"/>
                </a:solidFill>
                <a:latin typeface="Cambria" pitchFamily="34" charset="0"/>
                <a:ea typeface="Cambria" pitchFamily="34" charset="-122"/>
                <a:cs typeface="Cambria" pitchFamily="34" charset="-120"/>
              </a:rPr>
              <a:t>So we keep two witnesses, and we sell the argument between them.</a:t>
            </a:r>
            <a:endParaRPr lang="en-US" sz="2600" dirty="0"/>
          </a:p>
        </p:txBody>
      </p:sp>
      <p:sp>
        <p:nvSpPr>
          <p:cNvPr id="5" name="Shape 2"/>
          <p:cNvSpPr/>
          <p:nvPr/>
        </p:nvSpPr>
        <p:spPr>
          <a:xfrm>
            <a:off x="4998568" y="1691640"/>
            <a:ext cx="2194560" cy="438912"/>
          </a:xfrm>
          <a:prstGeom prst="rect">
            <a:avLst/>
          </a:prstGeom>
          <a:ln w="12700">
            <a:solidFill>
              <a:srgbClr val="2A3560"/>
            </a:solidFill>
            <a:prstDash val="solid"/>
          </a:ln>
        </p:spPr>
      </p:sp>
      <p:sp>
        <p:nvSpPr>
          <p:cNvPr id="6" name="Text 3"/>
          <p:cNvSpPr txBox="1"/>
          <p:nvPr/>
        </p:nvSpPr>
        <p:spPr>
          <a:xfrm>
            <a:off x="4998568" y="1815084"/>
            <a:ext cx="2194560" cy="237744"/>
          </a:xfrm>
          <a:prstGeom prst="rect">
            <a:avLst/>
          </a:prstGeom>
          <a:noFill/>
          <a:ln/>
        </p:spPr>
        <p:txBody>
          <a:bodyPr wrap="square" lIns="0" tIns="0" rIns="0" bIns="0" rtlCol="0" anchor="t"/>
          <a:lstStyle/>
          <a:p>
            <a:pPr algn="ctr" indent="0" marL="0">
              <a:lnSpc>
                <a:spcPts val="1400"/>
              </a:lnSpc>
              <a:buNone/>
            </a:pPr>
            <a:r>
              <a:rPr lang="en-US" sz="1000" b="1" spc="90" kern="0" dirty="0">
                <a:solidFill>
                  <a:srgbClr val="FAF8F4"/>
                </a:solidFill>
                <a:latin typeface="Courier New" pitchFamily="34" charset="0"/>
                <a:ea typeface="Courier New" pitchFamily="34" charset="-122"/>
                <a:cs typeface="Courier New" pitchFamily="34" charset="-120"/>
              </a:rPr>
              <a:t>ONE BRIDGE</a:t>
            </a:r>
            <a:endParaRPr lang="en-US" sz="1000" dirty="0"/>
          </a:p>
        </p:txBody>
      </p:sp>
      <p:sp>
        <p:nvSpPr>
          <p:cNvPr id="7" name="Shape 4"/>
          <p:cNvSpPr/>
          <p:nvPr/>
        </p:nvSpPr>
        <p:spPr>
          <a:xfrm>
            <a:off x="2141068" y="2606040"/>
            <a:ext cx="3154680" cy="2670048"/>
          </a:xfrm>
          <a:prstGeom prst="rect">
            <a:avLst/>
          </a:prstGeom>
          <a:solidFill>
            <a:srgbClr val="FFFFFF">
              <a:alpha val="94000"/>
            </a:srgbClr>
          </a:solidFill>
          <a:ln w="12700">
            <a:solidFill>
              <a:srgbClr val="D9D5C9"/>
            </a:solidFill>
            <a:prstDash val="solid"/>
          </a:ln>
        </p:spPr>
      </p:sp>
      <p:sp>
        <p:nvSpPr>
          <p:cNvPr id="8" name="Text 5"/>
          <p:cNvSpPr txBox="1"/>
          <p:nvPr/>
        </p:nvSpPr>
        <p:spPr>
          <a:xfrm>
            <a:off x="2287372" y="2788920"/>
            <a:ext cx="2862072" cy="237744"/>
          </a:xfrm>
          <a:prstGeom prst="rect">
            <a:avLst/>
          </a:prstGeom>
          <a:noFill/>
          <a:ln/>
        </p:spPr>
        <p:txBody>
          <a:bodyPr wrap="square" lIns="0" tIns="0" rIns="0" bIns="0" rtlCol="0" anchor="t"/>
          <a:lstStyle/>
          <a:p>
            <a:pPr algn="ctr" indent="0" marL="0">
              <a:lnSpc>
                <a:spcPts val="1288"/>
              </a:lnSpc>
              <a:buNone/>
            </a:pPr>
            <a:r>
              <a:rPr lang="en-US" sz="920" b="1" spc="90" kern="0" dirty="0">
                <a:solidFill>
                  <a:srgbClr val="8A6420"/>
                </a:solidFill>
                <a:latin typeface="Courier New" pitchFamily="34" charset="0"/>
                <a:ea typeface="Courier New" pitchFamily="34" charset="-122"/>
                <a:cs typeface="Courier New" pitchFamily="34" charset="-120"/>
              </a:rPr>
              <a:t>THE PAPER WITNESS</a:t>
            </a:r>
            <a:endParaRPr lang="en-US" sz="920" dirty="0"/>
          </a:p>
        </p:txBody>
      </p:sp>
      <p:sp>
        <p:nvSpPr>
          <p:cNvPr id="9" name="Text 6"/>
          <p:cNvSpPr txBox="1"/>
          <p:nvPr/>
        </p:nvSpPr>
        <p:spPr>
          <a:xfrm>
            <a:off x="2287372" y="3081528"/>
            <a:ext cx="2862072" cy="603504"/>
          </a:xfrm>
          <a:prstGeom prst="rect">
            <a:avLst/>
          </a:prstGeom>
          <a:noFill/>
          <a:ln/>
        </p:spPr>
        <p:txBody>
          <a:bodyPr wrap="square" lIns="0" tIns="0" rIns="0" bIns="0" rtlCol="0" anchor="t"/>
          <a:lstStyle/>
          <a:p>
            <a:pPr algn="ctr" indent="0" marL="0">
              <a:lnSpc>
                <a:spcPts val="1960"/>
              </a:lnSpc>
              <a:buNone/>
            </a:pPr>
            <a:r>
              <a:rPr lang="en-US" sz="1400" dirty="0">
                <a:solidFill>
                  <a:srgbClr val="20263E"/>
                </a:solidFill>
                <a:latin typeface="Cambria" pitchFamily="34" charset="0"/>
                <a:ea typeface="Cambria" pitchFamily="34" charset="-122"/>
                <a:cs typeface="Cambria" pitchFamily="34" charset="-120"/>
              </a:rPr>
              <a:t>What the institution believes</a:t>
            </a:r>
            <a:endParaRPr lang="en-US" sz="1400" dirty="0"/>
          </a:p>
        </p:txBody>
      </p:sp>
      <p:sp>
        <p:nvSpPr>
          <p:cNvPr id="10" name="Text 7"/>
          <p:cNvSpPr txBox="1"/>
          <p:nvPr/>
        </p:nvSpPr>
        <p:spPr>
          <a:xfrm>
            <a:off x="2323948" y="3776472"/>
            <a:ext cx="2788920" cy="530352"/>
          </a:xfrm>
          <a:prstGeom prst="rect">
            <a:avLst/>
          </a:prstGeom>
          <a:noFill/>
          <a:ln/>
        </p:spPr>
        <p:txBody>
          <a:bodyPr wrap="square" lIns="0" tIns="0" rIns="0" bIns="0" rtlCol="0" anchor="t"/>
          <a:lstStyle/>
          <a:p>
            <a:pPr algn="ctr" indent="0" marL="0">
              <a:lnSpc>
                <a:spcPts val="1428"/>
              </a:lnSpc>
              <a:buNone/>
            </a:pPr>
            <a:r>
              <a:rPr lang="en-US" sz="1020" i="1" dirty="0">
                <a:solidFill>
                  <a:srgbClr val="6A7088"/>
                </a:solidFill>
                <a:latin typeface="Cambria" pitchFamily="34" charset="0"/>
                <a:ea typeface="Cambria" pitchFamily="34" charset="-122"/>
                <a:cs typeface="Cambria" pitchFamily="34" charset="-120"/>
              </a:rPr>
              <a:t>An inspector visits every 24 months</a:t>
            </a:r>
            <a:endParaRPr lang="en-US" sz="1020" dirty="0"/>
          </a:p>
          <a:p>
            <a:pPr algn="ctr" indent="0" marL="0">
              <a:lnSpc>
                <a:spcPts val="1428"/>
              </a:lnSpc>
              <a:buNone/>
            </a:pPr>
            <a:r>
              <a:rPr lang="en-US" sz="1020" i="1" dirty="0">
                <a:solidFill>
                  <a:srgbClr val="6A7088"/>
                </a:solidFill>
                <a:latin typeface="Cambria" pitchFamily="34" charset="0"/>
                <a:ea typeface="Cambria" pitchFamily="34" charset="-122"/>
                <a:cs typeface="Cambria" pitchFamily="34" charset="-120"/>
              </a:rPr>
              <a:t>and files one number from 0 to 9.</a:t>
            </a:r>
            <a:endParaRPr lang="en-US" sz="1020" dirty="0"/>
          </a:p>
        </p:txBody>
      </p:sp>
      <p:sp>
        <p:nvSpPr>
          <p:cNvPr id="11" name="Shape 8"/>
          <p:cNvSpPr/>
          <p:nvPr/>
        </p:nvSpPr>
        <p:spPr>
          <a:xfrm>
            <a:off x="3389224" y="4361688"/>
            <a:ext cx="658368" cy="512064"/>
          </a:xfrm>
          <a:prstGeom prst="rect">
            <a:avLst/>
          </a:prstGeom>
          <a:solidFill>
            <a:srgbClr val="8A6420"/>
          </a:solidFill>
          <a:ln/>
        </p:spPr>
      </p:sp>
      <p:sp>
        <p:nvSpPr>
          <p:cNvPr id="12" name="Text 9"/>
          <p:cNvSpPr txBox="1"/>
          <p:nvPr/>
        </p:nvSpPr>
        <p:spPr>
          <a:xfrm>
            <a:off x="3389224" y="4407408"/>
            <a:ext cx="658368" cy="457200"/>
          </a:xfrm>
          <a:prstGeom prst="rect">
            <a:avLst/>
          </a:prstGeom>
          <a:noFill/>
          <a:ln/>
        </p:spPr>
        <p:txBody>
          <a:bodyPr wrap="square" lIns="0" tIns="0" rIns="0" bIns="0" rtlCol="0" anchor="t"/>
          <a:lstStyle/>
          <a:p>
            <a:pPr algn="ctr" indent="0" marL="0">
              <a:lnSpc>
                <a:spcPts val="3500"/>
              </a:lnSpc>
              <a:buNone/>
            </a:pPr>
            <a:r>
              <a:rPr lang="en-US" sz="2500" b="1" dirty="0">
                <a:solidFill>
                  <a:srgbClr val="FFFFFF"/>
                </a:solidFill>
                <a:latin typeface="Cambria" pitchFamily="34" charset="0"/>
                <a:ea typeface="Cambria" pitchFamily="34" charset="-122"/>
                <a:cs typeface="Cambria" pitchFamily="34" charset="-120"/>
              </a:rPr>
              <a:t>7</a:t>
            </a:r>
            <a:endParaRPr lang="en-US" sz="2500" dirty="0"/>
          </a:p>
        </p:txBody>
      </p:sp>
      <p:sp>
        <p:nvSpPr>
          <p:cNvPr id="13" name="Text 10"/>
          <p:cNvSpPr txBox="1"/>
          <p:nvPr/>
        </p:nvSpPr>
        <p:spPr>
          <a:xfrm>
            <a:off x="2287372" y="4946904"/>
            <a:ext cx="2862072" cy="237744"/>
          </a:xfrm>
          <a:prstGeom prst="rect">
            <a:avLst/>
          </a:prstGeom>
          <a:noFill/>
          <a:ln/>
        </p:spPr>
        <p:txBody>
          <a:bodyPr wrap="square" lIns="0" tIns="0" rIns="0" bIns="0" rtlCol="0" anchor="t"/>
          <a:lstStyle/>
          <a:p>
            <a:pPr algn="ctr" indent="0" marL="0">
              <a:lnSpc>
                <a:spcPts val="1064"/>
              </a:lnSpc>
              <a:buNone/>
            </a:pPr>
            <a:r>
              <a:rPr lang="en-US" sz="760" spc="90" kern="0" dirty="0">
                <a:solidFill>
                  <a:srgbClr val="6A7088"/>
                </a:solidFill>
                <a:latin typeface="Courier New" pitchFamily="34" charset="0"/>
                <a:ea typeface="Courier New" pitchFamily="34" charset="-122"/>
                <a:cs typeface="Courier New" pitchFamily="34" charset="-120"/>
              </a:rPr>
              <a:t>FILED RATING</a:t>
            </a:r>
            <a:endParaRPr lang="en-US" sz="760" dirty="0"/>
          </a:p>
        </p:txBody>
      </p:sp>
      <p:sp>
        <p:nvSpPr>
          <p:cNvPr id="14" name="Shape 11"/>
          <p:cNvSpPr/>
          <p:nvPr/>
        </p:nvSpPr>
        <p:spPr>
          <a:xfrm>
            <a:off x="6895948" y="2606040"/>
            <a:ext cx="3154680" cy="2670048"/>
          </a:xfrm>
          <a:prstGeom prst="rect">
            <a:avLst/>
          </a:prstGeom>
          <a:solidFill>
            <a:srgbClr val="3A5CA8">
              <a:alpha val="12000"/>
            </a:srgbClr>
          </a:solidFill>
          <a:ln w="12700">
            <a:solidFill>
              <a:srgbClr val="3A5CA8"/>
            </a:solidFill>
            <a:prstDash val="solid"/>
          </a:ln>
        </p:spPr>
      </p:sp>
      <p:sp>
        <p:nvSpPr>
          <p:cNvPr id="15" name="Text 12"/>
          <p:cNvSpPr txBox="1"/>
          <p:nvPr/>
        </p:nvSpPr>
        <p:spPr>
          <a:xfrm>
            <a:off x="7042252" y="2788920"/>
            <a:ext cx="2862072" cy="237744"/>
          </a:xfrm>
          <a:prstGeom prst="rect">
            <a:avLst/>
          </a:prstGeom>
          <a:noFill/>
          <a:ln/>
        </p:spPr>
        <p:txBody>
          <a:bodyPr wrap="square" lIns="0" tIns="0" rIns="0" bIns="0" rtlCol="0" anchor="t"/>
          <a:lstStyle/>
          <a:p>
            <a:pPr algn="ctr" indent="0" marL="0">
              <a:lnSpc>
                <a:spcPts val="1288"/>
              </a:lnSpc>
              <a:buNone/>
            </a:pPr>
            <a:r>
              <a:rPr lang="en-US" sz="920" b="1" spc="90" kern="0" dirty="0">
                <a:solidFill>
                  <a:srgbClr val="7E9BD6"/>
                </a:solidFill>
                <a:latin typeface="Courier New" pitchFamily="34" charset="0"/>
                <a:ea typeface="Courier New" pitchFamily="34" charset="-122"/>
                <a:cs typeface="Courier New" pitchFamily="34" charset="-120"/>
              </a:rPr>
              <a:t>THE PHYSICS WITNESS</a:t>
            </a:r>
            <a:endParaRPr lang="en-US" sz="920" dirty="0"/>
          </a:p>
        </p:txBody>
      </p:sp>
      <p:sp>
        <p:nvSpPr>
          <p:cNvPr id="16" name="Text 13"/>
          <p:cNvSpPr txBox="1"/>
          <p:nvPr/>
        </p:nvSpPr>
        <p:spPr>
          <a:xfrm>
            <a:off x="7042252" y="3081528"/>
            <a:ext cx="2862072" cy="603504"/>
          </a:xfrm>
          <a:prstGeom prst="rect">
            <a:avLst/>
          </a:prstGeom>
          <a:noFill/>
          <a:ln/>
        </p:spPr>
        <p:txBody>
          <a:bodyPr wrap="square" lIns="0" tIns="0" rIns="0" bIns="0" rtlCol="0" anchor="t"/>
          <a:lstStyle/>
          <a:p>
            <a:pPr algn="ctr" indent="0" marL="0">
              <a:lnSpc>
                <a:spcPts val="1960"/>
              </a:lnSpc>
              <a:buNone/>
            </a:pPr>
            <a:r>
              <a:rPr lang="en-US" sz="1400" dirty="0">
                <a:solidFill>
                  <a:srgbClr val="FAF8F4"/>
                </a:solidFill>
                <a:latin typeface="Cambria" pitchFamily="34" charset="0"/>
                <a:ea typeface="Cambria" pitchFamily="34" charset="-122"/>
                <a:cs typeface="Cambria" pitchFamily="34" charset="-120"/>
              </a:rPr>
              <a:t>What the evidence implies</a:t>
            </a:r>
            <a:endParaRPr lang="en-US" sz="1400" dirty="0"/>
          </a:p>
        </p:txBody>
      </p:sp>
      <p:sp>
        <p:nvSpPr>
          <p:cNvPr id="17" name="Text 14"/>
          <p:cNvSpPr txBox="1"/>
          <p:nvPr/>
        </p:nvSpPr>
        <p:spPr>
          <a:xfrm>
            <a:off x="7078828" y="3776472"/>
            <a:ext cx="2788920" cy="530352"/>
          </a:xfrm>
          <a:prstGeom prst="rect">
            <a:avLst/>
          </a:prstGeom>
          <a:noFill/>
          <a:ln/>
        </p:spPr>
        <p:txBody>
          <a:bodyPr wrap="square" lIns="0" tIns="0" rIns="0" bIns="0" rtlCol="0" anchor="t"/>
          <a:lstStyle/>
          <a:p>
            <a:pPr algn="ctr" indent="0" marL="0">
              <a:lnSpc>
                <a:spcPts val="1428"/>
              </a:lnSpc>
              <a:buNone/>
            </a:pPr>
            <a:r>
              <a:rPr lang="en-US" sz="1020" i="1" dirty="0">
                <a:solidFill>
                  <a:srgbClr val="9AA6CC"/>
                </a:solidFill>
                <a:latin typeface="Cambria" pitchFamily="34" charset="0"/>
                <a:ea typeface="Cambria" pitchFamily="34" charset="-122"/>
                <a:cs typeface="Cambria" pitchFamily="34" charset="-120"/>
              </a:rPr>
              <a:t>Age, traffic, trucks, span, material,</a:t>
            </a:r>
            <a:endParaRPr lang="en-US" sz="1020" dirty="0"/>
          </a:p>
          <a:p>
            <a:pPr algn="ctr" indent="0" marL="0">
              <a:lnSpc>
                <a:spcPts val="1428"/>
              </a:lnSpc>
              <a:buNone/>
            </a:pPr>
            <a:r>
              <a:rPr lang="en-US" sz="1020" i="1" dirty="0">
                <a:solidFill>
                  <a:srgbClr val="9AA6CC"/>
                </a:solidFill>
                <a:latin typeface="Cambria" pitchFamily="34" charset="0"/>
                <a:ea typeface="Cambria" pitchFamily="34" charset="-122"/>
                <a:cs typeface="Cambria" pitchFamily="34" charset="-120"/>
              </a:rPr>
              <a:t>freeze-thaw, rainfall. No rating among them.</a:t>
            </a:r>
            <a:endParaRPr lang="en-US" sz="1020" dirty="0"/>
          </a:p>
        </p:txBody>
      </p:sp>
      <p:sp>
        <p:nvSpPr>
          <p:cNvPr id="18" name="Shape 15"/>
          <p:cNvSpPr/>
          <p:nvPr/>
        </p:nvSpPr>
        <p:spPr>
          <a:xfrm>
            <a:off x="8144104" y="4361688"/>
            <a:ext cx="658368" cy="512064"/>
          </a:xfrm>
          <a:prstGeom prst="rect">
            <a:avLst/>
          </a:prstGeom>
          <a:solidFill>
            <a:srgbClr val="3A5CA8"/>
          </a:solidFill>
          <a:ln/>
        </p:spPr>
      </p:sp>
      <p:sp>
        <p:nvSpPr>
          <p:cNvPr id="19" name="Text 16"/>
          <p:cNvSpPr txBox="1"/>
          <p:nvPr/>
        </p:nvSpPr>
        <p:spPr>
          <a:xfrm>
            <a:off x="8144104" y="4443984"/>
            <a:ext cx="658368" cy="457200"/>
          </a:xfrm>
          <a:prstGeom prst="rect">
            <a:avLst/>
          </a:prstGeom>
          <a:noFill/>
          <a:ln/>
        </p:spPr>
        <p:txBody>
          <a:bodyPr wrap="square" lIns="0" tIns="0" rIns="0" bIns="0" rtlCol="0" anchor="t"/>
          <a:lstStyle/>
          <a:p>
            <a:pPr algn="ctr" indent="0" marL="0">
              <a:lnSpc>
                <a:spcPts val="2800"/>
              </a:lnSpc>
              <a:buNone/>
            </a:pPr>
            <a:r>
              <a:rPr lang="en-US" sz="2000" b="1" dirty="0">
                <a:solidFill>
                  <a:srgbClr val="FFFFFF"/>
                </a:solidFill>
                <a:latin typeface="Cambria" pitchFamily="34" charset="0"/>
                <a:ea typeface="Cambria" pitchFamily="34" charset="-122"/>
                <a:cs typeface="Cambria" pitchFamily="34" charset="-120"/>
              </a:rPr>
              <a:t>4.7</a:t>
            </a:r>
            <a:endParaRPr lang="en-US" sz="2000" dirty="0"/>
          </a:p>
        </p:txBody>
      </p:sp>
      <p:sp>
        <p:nvSpPr>
          <p:cNvPr id="20" name="Text 17"/>
          <p:cNvSpPr txBox="1"/>
          <p:nvPr/>
        </p:nvSpPr>
        <p:spPr>
          <a:xfrm>
            <a:off x="7042252" y="4946904"/>
            <a:ext cx="2862072" cy="237744"/>
          </a:xfrm>
          <a:prstGeom prst="rect">
            <a:avLst/>
          </a:prstGeom>
          <a:noFill/>
          <a:ln/>
        </p:spPr>
        <p:txBody>
          <a:bodyPr wrap="square" lIns="0" tIns="0" rIns="0" bIns="0" rtlCol="0" anchor="t"/>
          <a:lstStyle/>
          <a:p>
            <a:pPr algn="ctr" indent="0" marL="0">
              <a:lnSpc>
                <a:spcPts val="1064"/>
              </a:lnSpc>
              <a:buNone/>
            </a:pPr>
            <a:r>
              <a:rPr lang="en-US" sz="760" spc="90" kern="0" dirty="0">
                <a:solidFill>
                  <a:srgbClr val="8A93B8"/>
                </a:solidFill>
                <a:latin typeface="Courier New" pitchFamily="34" charset="0"/>
                <a:ea typeface="Courier New" pitchFamily="34" charset="-122"/>
                <a:cs typeface="Courier New" pitchFamily="34" charset="-120"/>
              </a:rPr>
              <a:t>PREDICTED RATING</a:t>
            </a:r>
            <a:endParaRPr lang="en-US" sz="760" dirty="0"/>
          </a:p>
        </p:txBody>
      </p:sp>
      <p:sp>
        <p:nvSpPr>
          <p:cNvPr id="21" name="Shape 18"/>
          <p:cNvSpPr/>
          <p:nvPr/>
        </p:nvSpPr>
        <p:spPr>
          <a:xfrm flipH="1">
            <a:off x="3718408" y="2130552"/>
            <a:ext cx="1993392" cy="475488"/>
          </a:xfrm>
          <a:prstGeom prst="line">
            <a:avLst/>
          </a:prstGeom>
          <a:noFill/>
          <a:ln w="13970">
            <a:solidFill>
              <a:srgbClr val="2A3560"/>
            </a:solidFill>
            <a:prstDash val="solid"/>
            <a:headEnd type="none"/>
            <a:tailEnd type="triangle"/>
          </a:ln>
        </p:spPr>
      </p:sp>
      <p:sp>
        <p:nvSpPr>
          <p:cNvPr id="22" name="Shape 19"/>
          <p:cNvSpPr/>
          <p:nvPr/>
        </p:nvSpPr>
        <p:spPr>
          <a:xfrm>
            <a:off x="6479896" y="2130552"/>
            <a:ext cx="1993392" cy="475488"/>
          </a:xfrm>
          <a:prstGeom prst="line">
            <a:avLst/>
          </a:prstGeom>
          <a:noFill/>
          <a:ln w="13970">
            <a:solidFill>
              <a:srgbClr val="2A3560"/>
            </a:solidFill>
            <a:prstDash val="solid"/>
            <a:headEnd type="none"/>
            <a:tailEnd type="triangle"/>
          </a:ln>
        </p:spPr>
      </p:sp>
      <p:sp>
        <p:nvSpPr>
          <p:cNvPr id="23" name="Text 20"/>
          <p:cNvSpPr txBox="1"/>
          <p:nvPr/>
        </p:nvSpPr>
        <p:spPr>
          <a:xfrm>
            <a:off x="3855568" y="2221992"/>
            <a:ext cx="1371600" cy="237744"/>
          </a:xfrm>
          <a:prstGeom prst="rect">
            <a:avLst/>
          </a:prstGeom>
          <a:noFill/>
          <a:ln/>
        </p:spPr>
        <p:txBody>
          <a:bodyPr wrap="square" lIns="0" tIns="0" rIns="0" bIns="0" rtlCol="0" anchor="t"/>
          <a:lstStyle/>
          <a:p>
            <a:pPr algn="l" indent="0" marL="0">
              <a:lnSpc>
                <a:spcPts val="1120"/>
              </a:lnSpc>
              <a:buNone/>
            </a:pPr>
            <a:r>
              <a:rPr lang="en-US" sz="800" spc="90" kern="0" dirty="0">
                <a:solidFill>
                  <a:srgbClr val="8A93B8"/>
                </a:solidFill>
                <a:latin typeface="Courier New" pitchFamily="34" charset="0"/>
                <a:ea typeface="Courier New" pitchFamily="34" charset="-122"/>
                <a:cs typeface="Courier New" pitchFamily="34" charset="-120"/>
              </a:rPr>
              <a:t>the file</a:t>
            </a:r>
            <a:endParaRPr lang="en-US" sz="800" dirty="0"/>
          </a:p>
        </p:txBody>
      </p:sp>
      <p:sp>
        <p:nvSpPr>
          <p:cNvPr id="24" name="Text 21"/>
          <p:cNvSpPr txBox="1"/>
          <p:nvPr/>
        </p:nvSpPr>
        <p:spPr>
          <a:xfrm>
            <a:off x="6964528" y="2221992"/>
            <a:ext cx="1371600" cy="237744"/>
          </a:xfrm>
          <a:prstGeom prst="rect">
            <a:avLst/>
          </a:prstGeom>
          <a:noFill/>
          <a:ln/>
        </p:spPr>
        <p:txBody>
          <a:bodyPr wrap="square" lIns="0" tIns="0" rIns="0" bIns="0" rtlCol="0" anchor="t"/>
          <a:lstStyle/>
          <a:p>
            <a:pPr algn="r" indent="0" marL="0">
              <a:lnSpc>
                <a:spcPts val="1120"/>
              </a:lnSpc>
              <a:buNone/>
            </a:pPr>
            <a:r>
              <a:rPr lang="en-US" sz="800" spc="90" kern="0" dirty="0">
                <a:solidFill>
                  <a:srgbClr val="8A93B8"/>
                </a:solidFill>
                <a:latin typeface="Courier New" pitchFamily="34" charset="0"/>
                <a:ea typeface="Courier New" pitchFamily="34" charset="-122"/>
                <a:cs typeface="Courier New" pitchFamily="34" charset="-120"/>
              </a:rPr>
              <a:t>the structure</a:t>
            </a:r>
            <a:endParaRPr lang="en-US" sz="800" dirty="0"/>
          </a:p>
        </p:txBody>
      </p:sp>
      <p:sp>
        <p:nvSpPr>
          <p:cNvPr id="25" name="Shape 22"/>
          <p:cNvSpPr/>
          <p:nvPr/>
        </p:nvSpPr>
        <p:spPr>
          <a:xfrm>
            <a:off x="3718408" y="5276088"/>
            <a:ext cx="0" cy="384048"/>
          </a:xfrm>
          <a:prstGeom prst="line">
            <a:avLst/>
          </a:prstGeom>
          <a:noFill/>
          <a:ln w="13970">
            <a:solidFill>
              <a:srgbClr val="2A3560"/>
            </a:solidFill>
            <a:prstDash val="solid"/>
            <a:headEnd type="none"/>
            <a:tailEnd type="triangle"/>
          </a:ln>
        </p:spPr>
      </p:sp>
      <p:sp>
        <p:nvSpPr>
          <p:cNvPr id="26" name="Shape 23"/>
          <p:cNvSpPr/>
          <p:nvPr/>
        </p:nvSpPr>
        <p:spPr>
          <a:xfrm>
            <a:off x="8473288" y="5276088"/>
            <a:ext cx="0" cy="384048"/>
          </a:xfrm>
          <a:prstGeom prst="line">
            <a:avLst/>
          </a:prstGeom>
          <a:noFill/>
          <a:ln w="13970">
            <a:solidFill>
              <a:srgbClr val="2A3560"/>
            </a:solidFill>
            <a:prstDash val="solid"/>
            <a:headEnd type="none"/>
            <a:tailEnd type="triangle"/>
          </a:ln>
        </p:spPr>
      </p:sp>
      <p:sp>
        <p:nvSpPr>
          <p:cNvPr id="27" name="Shape 24"/>
          <p:cNvSpPr/>
          <p:nvPr/>
        </p:nvSpPr>
        <p:spPr>
          <a:xfrm>
            <a:off x="3078328" y="5660136"/>
            <a:ext cx="6035040" cy="731520"/>
          </a:xfrm>
          <a:prstGeom prst="rect">
            <a:avLst/>
          </a:prstGeom>
          <a:solidFill>
            <a:srgbClr val="C6283C"/>
          </a:solidFill>
          <a:ln/>
        </p:spPr>
      </p:sp>
      <p:sp>
        <p:nvSpPr>
          <p:cNvPr id="28" name="Text 25"/>
          <p:cNvSpPr txBox="1"/>
          <p:nvPr/>
        </p:nvSpPr>
        <p:spPr>
          <a:xfrm>
            <a:off x="3078328" y="5751576"/>
            <a:ext cx="6035040" cy="292608"/>
          </a:xfrm>
          <a:prstGeom prst="rect">
            <a:avLst/>
          </a:prstGeom>
          <a:noFill/>
          <a:ln/>
        </p:spPr>
        <p:txBody>
          <a:bodyPr wrap="square" lIns="0" tIns="0" rIns="0" bIns="0" rtlCol="0" anchor="ctr"/>
          <a:lstStyle/>
          <a:p>
            <a:pPr algn="ctr" indent="0" marL="0">
              <a:buNone/>
            </a:pPr>
            <a:r>
              <a:rPr lang="en-US" sz="1000" b="1" spc="140" kern="0" dirty="0">
                <a:solidFill>
                  <a:srgbClr val="FFD9DE"/>
                </a:solidFill>
                <a:latin typeface="Courier New" pitchFamily="34" charset="0"/>
                <a:ea typeface="Courier New" pitchFamily="34" charset="-122"/>
                <a:cs typeface="Courier New" pitchFamily="34" charset="-120"/>
              </a:rPr>
              <a:t>THE DISSENT   </a:t>
            </a:r>
            <a:pPr algn="ctr" indent="0" marL="0">
              <a:buNone/>
            </a:pPr>
            <a:r>
              <a:rPr lang="en-US" sz="1500" b="1" dirty="0">
                <a:solidFill>
                  <a:srgbClr val="FFFFFF"/>
                </a:solidFill>
                <a:latin typeface="Cambria" pitchFamily="34" charset="0"/>
                <a:ea typeface="Cambria" pitchFamily="34" charset="-122"/>
                <a:cs typeface="Cambria" pitchFamily="34" charset="-120"/>
              </a:rPr>
              <a:t>2.3 rating steps of disagreement</a:t>
            </a:r>
            <a:endParaRPr lang="en-US" sz="1000" dirty="0"/>
          </a:p>
        </p:txBody>
      </p:sp>
      <p:sp>
        <p:nvSpPr>
          <p:cNvPr id="29" name="Text 26"/>
          <p:cNvSpPr txBox="1"/>
          <p:nvPr/>
        </p:nvSpPr>
        <p:spPr>
          <a:xfrm>
            <a:off x="3078328" y="6080760"/>
            <a:ext cx="6035040" cy="237744"/>
          </a:xfrm>
          <a:prstGeom prst="rect">
            <a:avLst/>
          </a:prstGeom>
          <a:noFill/>
          <a:ln/>
        </p:spPr>
        <p:txBody>
          <a:bodyPr wrap="square" lIns="0" tIns="0" rIns="0" bIns="0" rtlCol="0" anchor="t"/>
          <a:lstStyle/>
          <a:p>
            <a:pPr algn="ctr" indent="0" marL="0">
              <a:lnSpc>
                <a:spcPts val="1470"/>
              </a:lnSpc>
              <a:buNone/>
            </a:pPr>
            <a:r>
              <a:rPr lang="en-US" sz="1050" i="1" dirty="0">
                <a:solidFill>
                  <a:srgbClr val="FFE2E6"/>
                </a:solidFill>
                <a:latin typeface="Cambria" pitchFamily="34" charset="0"/>
                <a:ea typeface="Cambria" pitchFamily="34" charset="-122"/>
                <a:cs typeface="Cambria" pitchFamily="34" charset="-120"/>
              </a:rPr>
              <a:t>This gap is the product. Not another risk score, the contradiction itself.</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2_drafting_grid.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05 / HOW IT WORKS</a:t>
            </a:r>
            <a:endParaRPr lang="en-US" sz="950" dirty="0"/>
          </a:p>
        </p:txBody>
      </p:sp>
      <p:sp>
        <p:nvSpPr>
          <p:cNvPr id="4" name="Text 1"/>
          <p:cNvSpPr txBox="1"/>
          <p:nvPr/>
        </p:nvSpPr>
        <p:spPr>
          <a:xfrm>
            <a:off x="658368" y="859536"/>
            <a:ext cx="10881360" cy="822960"/>
          </a:xfrm>
          <a:prstGeom prst="rect">
            <a:avLst/>
          </a:prstGeom>
          <a:noFill/>
          <a:ln/>
        </p:spPr>
        <p:txBody>
          <a:bodyPr wrap="square" lIns="0" tIns="0" rIns="0" bIns="0" rtlCol="0" anchor="t"/>
          <a:lstStyle/>
          <a:p>
            <a:pPr indent="0" marL="0">
              <a:lnSpc>
                <a:spcPts val="3172"/>
              </a:lnSpc>
              <a:buNone/>
            </a:pPr>
            <a:r>
              <a:rPr lang="en-US" sz="2600" b="1" dirty="0">
                <a:solidFill>
                  <a:srgbClr val="FAF8F4"/>
                </a:solidFill>
                <a:latin typeface="Cambria" pitchFamily="34" charset="0"/>
                <a:ea typeface="Cambria" pitchFamily="34" charset="-122"/>
                <a:cs typeface="Cambria" pitchFamily="34" charset="-120"/>
              </a:rPr>
              <a:t>Two public inputs go in. A ranked, dated obligation comes out.</a:t>
            </a:r>
            <a:endParaRPr lang="en-US" sz="2600" dirty="0"/>
          </a:p>
        </p:txBody>
      </p:sp>
      <p:sp>
        <p:nvSpPr>
          <p:cNvPr id="5" name="Text 2"/>
          <p:cNvSpPr txBox="1"/>
          <p:nvPr/>
        </p:nvSpPr>
        <p:spPr>
          <a:xfrm>
            <a:off x="658368" y="1700784"/>
            <a:ext cx="8595360" cy="365760"/>
          </a:xfrm>
          <a:prstGeom prst="rect">
            <a:avLst/>
          </a:prstGeom>
          <a:noFill/>
          <a:ln/>
        </p:spPr>
        <p:txBody>
          <a:bodyPr wrap="square" lIns="0" tIns="0" rIns="0" bIns="0" rtlCol="0" anchor="t"/>
          <a:lstStyle/>
          <a:p>
            <a:pPr algn="l" indent="0" marL="0">
              <a:lnSpc>
                <a:spcPts val="2052"/>
              </a:lnSpc>
              <a:buNone/>
            </a:pPr>
            <a:r>
              <a:rPr lang="en-US" sz="1350" dirty="0">
                <a:solidFill>
                  <a:srgbClr val="8A93B8"/>
                </a:solidFill>
                <a:latin typeface="Cambria" pitchFamily="34" charset="0"/>
                <a:ea typeface="Cambria" pitchFamily="34" charset="-122"/>
                <a:cs typeface="Cambria" pitchFamily="34" charset="-120"/>
              </a:rPr>
              <a:t>Nothing here needs a sensor, a site visit, or a procurement cycle. Every input is already published.</a:t>
            </a:r>
            <a:endParaRPr lang="en-US" sz="1350" dirty="0"/>
          </a:p>
        </p:txBody>
      </p:sp>
      <p:sp>
        <p:nvSpPr>
          <p:cNvPr id="6" name="Shape 3"/>
          <p:cNvSpPr/>
          <p:nvPr/>
        </p:nvSpPr>
        <p:spPr>
          <a:xfrm>
            <a:off x="658368" y="2377440"/>
            <a:ext cx="1660093" cy="1481328"/>
          </a:xfrm>
          <a:prstGeom prst="rect">
            <a:avLst/>
          </a:prstGeom>
          <a:solidFill>
            <a:srgbClr val="FFFFFF">
              <a:alpha val="92000"/>
            </a:srgbClr>
          </a:solidFill>
          <a:ln w="12700">
            <a:solidFill>
              <a:srgbClr val="D9D5C9"/>
            </a:solidFill>
            <a:prstDash val="solid"/>
          </a:ln>
        </p:spPr>
      </p:sp>
      <p:sp>
        <p:nvSpPr>
          <p:cNvPr id="7" name="Text 4"/>
          <p:cNvSpPr txBox="1"/>
          <p:nvPr/>
        </p:nvSpPr>
        <p:spPr>
          <a:xfrm>
            <a:off x="749808"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8A6420"/>
                </a:solidFill>
                <a:latin typeface="Courier New" pitchFamily="34" charset="0"/>
                <a:ea typeface="Courier New" pitchFamily="34" charset="-122"/>
                <a:cs typeface="Courier New" pitchFamily="34" charset="-120"/>
              </a:rPr>
              <a:t>INPUT</a:t>
            </a:r>
            <a:endParaRPr lang="en-US" sz="780" dirty="0"/>
          </a:p>
        </p:txBody>
      </p:sp>
      <p:sp>
        <p:nvSpPr>
          <p:cNvPr id="8" name="Text 5"/>
          <p:cNvSpPr txBox="1"/>
          <p:nvPr/>
        </p:nvSpPr>
        <p:spPr>
          <a:xfrm>
            <a:off x="731520"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Federal file</a:t>
            </a:r>
            <a:endParaRPr lang="en-US" sz="1250" dirty="0"/>
          </a:p>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 weather</a:t>
            </a:r>
            <a:endParaRPr lang="en-US" sz="1250" dirty="0"/>
          </a:p>
        </p:txBody>
      </p:sp>
      <p:sp>
        <p:nvSpPr>
          <p:cNvPr id="9" name="Text 6"/>
          <p:cNvSpPr txBox="1"/>
          <p:nvPr/>
        </p:nvSpPr>
        <p:spPr>
          <a:xfrm>
            <a:off x="749808"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6A7088"/>
                </a:solidFill>
                <a:latin typeface="Cambria" pitchFamily="34" charset="0"/>
                <a:ea typeface="Cambria" pitchFamily="34" charset="-122"/>
                <a:cs typeface="Cambria" pitchFamily="34" charset="-120"/>
              </a:rPr>
              <a:t>Both public. Both free.</a:t>
            </a:r>
            <a:endParaRPr lang="en-US" sz="860" dirty="0"/>
          </a:p>
        </p:txBody>
      </p:sp>
      <p:sp>
        <p:nvSpPr>
          <p:cNvPr id="10" name="Shape 7"/>
          <p:cNvSpPr/>
          <p:nvPr/>
        </p:nvSpPr>
        <p:spPr>
          <a:xfrm>
            <a:off x="2336749" y="3118104"/>
            <a:ext cx="146304" cy="0"/>
          </a:xfrm>
          <a:prstGeom prst="line">
            <a:avLst/>
          </a:prstGeom>
          <a:noFill/>
          <a:ln w="15240">
            <a:solidFill>
              <a:srgbClr val="8A93B8"/>
            </a:solidFill>
            <a:prstDash val="solid"/>
            <a:headEnd type="none"/>
            <a:tailEnd type="triangle"/>
          </a:ln>
        </p:spPr>
      </p:sp>
      <p:sp>
        <p:nvSpPr>
          <p:cNvPr id="11" name="Shape 8"/>
          <p:cNvSpPr/>
          <p:nvPr/>
        </p:nvSpPr>
        <p:spPr>
          <a:xfrm>
            <a:off x="2501341" y="2377440"/>
            <a:ext cx="1660093" cy="1481328"/>
          </a:xfrm>
          <a:prstGeom prst="rect">
            <a:avLst/>
          </a:prstGeom>
          <a:solidFill>
            <a:srgbClr val="FFFFFF">
              <a:alpha val="92000"/>
            </a:srgbClr>
          </a:solidFill>
          <a:ln w="12700">
            <a:solidFill>
              <a:srgbClr val="D9D5C9"/>
            </a:solidFill>
            <a:prstDash val="solid"/>
          </a:ln>
        </p:spPr>
      </p:sp>
      <p:sp>
        <p:nvSpPr>
          <p:cNvPr id="12" name="Text 9"/>
          <p:cNvSpPr txBox="1"/>
          <p:nvPr/>
        </p:nvSpPr>
        <p:spPr>
          <a:xfrm>
            <a:off x="2592781"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8A6420"/>
                </a:solidFill>
                <a:latin typeface="Courier New" pitchFamily="34" charset="0"/>
                <a:ea typeface="Courier New" pitchFamily="34" charset="-122"/>
                <a:cs typeface="Courier New" pitchFamily="34" charset="-120"/>
              </a:rPr>
              <a:t>FEATURES</a:t>
            </a:r>
            <a:endParaRPr lang="en-US" sz="780" dirty="0"/>
          </a:p>
        </p:txBody>
      </p:sp>
      <p:sp>
        <p:nvSpPr>
          <p:cNvPr id="13" name="Text 10"/>
          <p:cNvSpPr txBox="1"/>
          <p:nvPr/>
        </p:nvSpPr>
        <p:spPr>
          <a:xfrm>
            <a:off x="2574493"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18 physical</a:t>
            </a:r>
            <a:endParaRPr lang="en-US" sz="1250" dirty="0"/>
          </a:p>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features</a:t>
            </a:r>
            <a:endParaRPr lang="en-US" sz="1250" dirty="0"/>
          </a:p>
        </p:txBody>
      </p:sp>
      <p:sp>
        <p:nvSpPr>
          <p:cNvPr id="14" name="Text 11"/>
          <p:cNvSpPr txBox="1"/>
          <p:nvPr/>
        </p:nvSpPr>
        <p:spPr>
          <a:xfrm>
            <a:off x="2592781"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6A7088"/>
                </a:solidFill>
                <a:latin typeface="Cambria" pitchFamily="34" charset="0"/>
                <a:ea typeface="Cambria" pitchFamily="34" charset="-122"/>
                <a:cs typeface="Cambria" pitchFamily="34" charset="-120"/>
              </a:rPr>
              <a:t>No filed rating is among them.</a:t>
            </a:r>
            <a:endParaRPr lang="en-US" sz="860" dirty="0"/>
          </a:p>
        </p:txBody>
      </p:sp>
      <p:sp>
        <p:nvSpPr>
          <p:cNvPr id="15" name="Shape 12"/>
          <p:cNvSpPr/>
          <p:nvPr/>
        </p:nvSpPr>
        <p:spPr>
          <a:xfrm>
            <a:off x="4179722" y="3118104"/>
            <a:ext cx="146304" cy="0"/>
          </a:xfrm>
          <a:prstGeom prst="line">
            <a:avLst/>
          </a:prstGeom>
          <a:noFill/>
          <a:ln w="15240">
            <a:solidFill>
              <a:srgbClr val="8A93B8"/>
            </a:solidFill>
            <a:prstDash val="solid"/>
            <a:headEnd type="none"/>
            <a:tailEnd type="triangle"/>
          </a:ln>
        </p:spPr>
      </p:sp>
      <p:sp>
        <p:nvSpPr>
          <p:cNvPr id="16" name="Shape 13"/>
          <p:cNvSpPr/>
          <p:nvPr/>
        </p:nvSpPr>
        <p:spPr>
          <a:xfrm>
            <a:off x="4344314" y="2377440"/>
            <a:ext cx="1660093" cy="1481328"/>
          </a:xfrm>
          <a:prstGeom prst="rect">
            <a:avLst/>
          </a:prstGeom>
          <a:solidFill>
            <a:srgbClr val="FFFFFF">
              <a:alpha val="92000"/>
            </a:srgbClr>
          </a:solidFill>
          <a:ln w="12700">
            <a:solidFill>
              <a:srgbClr val="D9D5C9"/>
            </a:solidFill>
            <a:prstDash val="solid"/>
          </a:ln>
        </p:spPr>
      </p:sp>
      <p:sp>
        <p:nvSpPr>
          <p:cNvPr id="17" name="Text 14"/>
          <p:cNvSpPr txBox="1"/>
          <p:nvPr/>
        </p:nvSpPr>
        <p:spPr>
          <a:xfrm>
            <a:off x="4435754"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8A6420"/>
                </a:solidFill>
                <a:latin typeface="Courier New" pitchFamily="34" charset="0"/>
                <a:ea typeface="Courier New" pitchFamily="34" charset="-122"/>
                <a:cs typeface="Courier New" pitchFamily="34" charset="-120"/>
              </a:rPr>
              <a:t>MODEL</a:t>
            </a:r>
            <a:endParaRPr lang="en-US" sz="780" dirty="0"/>
          </a:p>
        </p:txBody>
      </p:sp>
      <p:sp>
        <p:nvSpPr>
          <p:cNvPr id="18" name="Text 15"/>
          <p:cNvSpPr txBox="1"/>
          <p:nvPr/>
        </p:nvSpPr>
        <p:spPr>
          <a:xfrm>
            <a:off x="4417466"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Frozen at</a:t>
            </a:r>
            <a:endParaRPr lang="en-US" sz="1250" dirty="0"/>
          </a:p>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2015</a:t>
            </a:r>
            <a:endParaRPr lang="en-US" sz="1250" dirty="0"/>
          </a:p>
        </p:txBody>
      </p:sp>
      <p:sp>
        <p:nvSpPr>
          <p:cNvPr id="19" name="Text 16"/>
          <p:cNvSpPr txBox="1"/>
          <p:nvPr/>
        </p:nvSpPr>
        <p:spPr>
          <a:xfrm>
            <a:off x="4435754"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6A7088"/>
                </a:solidFill>
                <a:latin typeface="Cambria" pitchFamily="34" charset="0"/>
                <a:ea typeface="Cambria" pitchFamily="34" charset="-122"/>
                <a:cs typeface="Cambria" pitchFamily="34" charset="-120"/>
              </a:rPr>
              <a:t>It has never seen a later year.</a:t>
            </a:r>
            <a:endParaRPr lang="en-US" sz="860" dirty="0"/>
          </a:p>
        </p:txBody>
      </p:sp>
      <p:sp>
        <p:nvSpPr>
          <p:cNvPr id="20" name="Shape 17"/>
          <p:cNvSpPr/>
          <p:nvPr/>
        </p:nvSpPr>
        <p:spPr>
          <a:xfrm>
            <a:off x="6022696" y="3118104"/>
            <a:ext cx="146304" cy="0"/>
          </a:xfrm>
          <a:prstGeom prst="line">
            <a:avLst/>
          </a:prstGeom>
          <a:noFill/>
          <a:ln w="15240">
            <a:solidFill>
              <a:srgbClr val="8A93B8"/>
            </a:solidFill>
            <a:prstDash val="solid"/>
            <a:headEnd type="none"/>
            <a:tailEnd type="triangle"/>
          </a:ln>
        </p:spPr>
      </p:sp>
      <p:sp>
        <p:nvSpPr>
          <p:cNvPr id="21" name="Shape 18"/>
          <p:cNvSpPr/>
          <p:nvPr/>
        </p:nvSpPr>
        <p:spPr>
          <a:xfrm>
            <a:off x="6187288" y="2377440"/>
            <a:ext cx="1660093" cy="1481328"/>
          </a:xfrm>
          <a:prstGeom prst="rect">
            <a:avLst/>
          </a:prstGeom>
          <a:solidFill>
            <a:srgbClr val="FFFFFF">
              <a:alpha val="92000"/>
            </a:srgbClr>
          </a:solidFill>
          <a:ln w="12700">
            <a:solidFill>
              <a:srgbClr val="D9D5C9"/>
            </a:solidFill>
            <a:prstDash val="solid"/>
          </a:ln>
        </p:spPr>
      </p:sp>
      <p:sp>
        <p:nvSpPr>
          <p:cNvPr id="22" name="Text 19"/>
          <p:cNvSpPr txBox="1"/>
          <p:nvPr/>
        </p:nvSpPr>
        <p:spPr>
          <a:xfrm>
            <a:off x="6278728"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8A6420"/>
                </a:solidFill>
                <a:latin typeface="Courier New" pitchFamily="34" charset="0"/>
                <a:ea typeface="Courier New" pitchFamily="34" charset="-122"/>
                <a:cs typeface="Courier New" pitchFamily="34" charset="-120"/>
              </a:rPr>
              <a:t>INTERVAL</a:t>
            </a:r>
            <a:endParaRPr lang="en-US" sz="780" dirty="0"/>
          </a:p>
        </p:txBody>
      </p:sp>
      <p:sp>
        <p:nvSpPr>
          <p:cNvPr id="23" name="Text 20"/>
          <p:cNvSpPr txBox="1"/>
          <p:nvPr/>
        </p:nvSpPr>
        <p:spPr>
          <a:xfrm>
            <a:off x="6260440"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Conformal</a:t>
            </a:r>
            <a:endParaRPr lang="en-US" sz="1250" dirty="0"/>
          </a:p>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±1.41</a:t>
            </a:r>
            <a:endParaRPr lang="en-US" sz="1250" dirty="0"/>
          </a:p>
        </p:txBody>
      </p:sp>
      <p:sp>
        <p:nvSpPr>
          <p:cNvPr id="24" name="Text 21"/>
          <p:cNvSpPr txBox="1"/>
          <p:nvPr/>
        </p:nvSpPr>
        <p:spPr>
          <a:xfrm>
            <a:off x="6278728"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6A7088"/>
                </a:solidFill>
                <a:latin typeface="Cambria" pitchFamily="34" charset="0"/>
                <a:ea typeface="Cambria" pitchFamily="34" charset="-122"/>
                <a:cs typeface="Cambria" pitchFamily="34" charset="-120"/>
              </a:rPr>
              <a:t>Every verdict carries its uncertainty.</a:t>
            </a:r>
            <a:endParaRPr lang="en-US" sz="860" dirty="0"/>
          </a:p>
        </p:txBody>
      </p:sp>
      <p:sp>
        <p:nvSpPr>
          <p:cNvPr id="25" name="Shape 22"/>
          <p:cNvSpPr/>
          <p:nvPr/>
        </p:nvSpPr>
        <p:spPr>
          <a:xfrm>
            <a:off x="7865669" y="3118104"/>
            <a:ext cx="146304" cy="0"/>
          </a:xfrm>
          <a:prstGeom prst="line">
            <a:avLst/>
          </a:prstGeom>
          <a:noFill/>
          <a:ln w="15240">
            <a:solidFill>
              <a:srgbClr val="8A93B8"/>
            </a:solidFill>
            <a:prstDash val="solid"/>
            <a:headEnd type="none"/>
            <a:tailEnd type="triangle"/>
          </a:ln>
        </p:spPr>
      </p:sp>
      <p:sp>
        <p:nvSpPr>
          <p:cNvPr id="26" name="Shape 23"/>
          <p:cNvSpPr/>
          <p:nvPr/>
        </p:nvSpPr>
        <p:spPr>
          <a:xfrm>
            <a:off x="8030261" y="2377440"/>
            <a:ext cx="1660093" cy="1481328"/>
          </a:xfrm>
          <a:prstGeom prst="rect">
            <a:avLst/>
          </a:prstGeom>
          <a:solidFill>
            <a:srgbClr val="FFFFFF">
              <a:alpha val="92000"/>
            </a:srgbClr>
          </a:solidFill>
          <a:ln w="12700">
            <a:solidFill>
              <a:srgbClr val="D9D5C9"/>
            </a:solidFill>
            <a:prstDash val="solid"/>
          </a:ln>
        </p:spPr>
      </p:sp>
      <p:sp>
        <p:nvSpPr>
          <p:cNvPr id="27" name="Text 24"/>
          <p:cNvSpPr txBox="1"/>
          <p:nvPr/>
        </p:nvSpPr>
        <p:spPr>
          <a:xfrm>
            <a:off x="8121701"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8A6420"/>
                </a:solidFill>
                <a:latin typeface="Courier New" pitchFamily="34" charset="0"/>
                <a:ea typeface="Courier New" pitchFamily="34" charset="-122"/>
                <a:cs typeface="Courier New" pitchFamily="34" charset="-120"/>
              </a:rPr>
              <a:t>COMPARE</a:t>
            </a:r>
            <a:endParaRPr lang="en-US" sz="780" dirty="0"/>
          </a:p>
        </p:txBody>
      </p:sp>
      <p:sp>
        <p:nvSpPr>
          <p:cNvPr id="28" name="Text 25"/>
          <p:cNvSpPr txBox="1"/>
          <p:nvPr/>
        </p:nvSpPr>
        <p:spPr>
          <a:xfrm>
            <a:off x="8103413"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Record minus</a:t>
            </a:r>
            <a:endParaRPr lang="en-US" sz="1250" dirty="0"/>
          </a:p>
          <a:p>
            <a:pPr algn="ctr" indent="0" marL="0">
              <a:lnSpc>
                <a:spcPts val="1750"/>
              </a:lnSpc>
              <a:buNone/>
            </a:pPr>
            <a:r>
              <a:rPr lang="en-US" sz="1250" b="1" dirty="0">
                <a:solidFill>
                  <a:srgbClr val="20263E"/>
                </a:solidFill>
                <a:latin typeface="Cambria" pitchFamily="34" charset="0"/>
                <a:ea typeface="Cambria" pitchFamily="34" charset="-122"/>
                <a:cs typeface="Cambria" pitchFamily="34" charset="-120"/>
              </a:rPr>
              <a:t>physics</a:t>
            </a:r>
            <a:endParaRPr lang="en-US" sz="1250" dirty="0"/>
          </a:p>
        </p:txBody>
      </p:sp>
      <p:sp>
        <p:nvSpPr>
          <p:cNvPr id="29" name="Text 26"/>
          <p:cNvSpPr txBox="1"/>
          <p:nvPr/>
        </p:nvSpPr>
        <p:spPr>
          <a:xfrm>
            <a:off x="8121701"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6A7088"/>
                </a:solidFill>
                <a:latin typeface="Cambria" pitchFamily="34" charset="0"/>
                <a:ea typeface="Cambria" pitchFamily="34" charset="-122"/>
                <a:cs typeface="Cambria" pitchFamily="34" charset="-120"/>
              </a:rPr>
              <a:t>Three channels of disagreement.</a:t>
            </a:r>
            <a:endParaRPr lang="en-US" sz="860" dirty="0"/>
          </a:p>
        </p:txBody>
      </p:sp>
      <p:sp>
        <p:nvSpPr>
          <p:cNvPr id="30" name="Shape 27"/>
          <p:cNvSpPr/>
          <p:nvPr/>
        </p:nvSpPr>
        <p:spPr>
          <a:xfrm>
            <a:off x="9708642" y="3118104"/>
            <a:ext cx="146304" cy="0"/>
          </a:xfrm>
          <a:prstGeom prst="line">
            <a:avLst/>
          </a:prstGeom>
          <a:noFill/>
          <a:ln w="15240">
            <a:solidFill>
              <a:srgbClr val="8A93B8"/>
            </a:solidFill>
            <a:prstDash val="solid"/>
            <a:headEnd type="none"/>
            <a:tailEnd type="triangle"/>
          </a:ln>
        </p:spPr>
      </p:sp>
      <p:sp>
        <p:nvSpPr>
          <p:cNvPr id="31" name="Shape 28"/>
          <p:cNvSpPr/>
          <p:nvPr/>
        </p:nvSpPr>
        <p:spPr>
          <a:xfrm>
            <a:off x="9873234" y="2377440"/>
            <a:ext cx="1660093" cy="1481328"/>
          </a:xfrm>
          <a:prstGeom prst="rect">
            <a:avLst/>
          </a:prstGeom>
          <a:solidFill>
            <a:srgbClr val="C6283C"/>
          </a:solidFill>
          <a:ln w="12700">
            <a:solidFill>
              <a:srgbClr val="C6283C"/>
            </a:solidFill>
            <a:prstDash val="solid"/>
          </a:ln>
        </p:spPr>
      </p:sp>
      <p:sp>
        <p:nvSpPr>
          <p:cNvPr id="32" name="Text 29"/>
          <p:cNvSpPr txBox="1"/>
          <p:nvPr/>
        </p:nvSpPr>
        <p:spPr>
          <a:xfrm>
            <a:off x="9964674" y="2523744"/>
            <a:ext cx="1477213" cy="237744"/>
          </a:xfrm>
          <a:prstGeom prst="rect">
            <a:avLst/>
          </a:prstGeom>
          <a:noFill/>
          <a:ln/>
        </p:spPr>
        <p:txBody>
          <a:bodyPr wrap="square" lIns="0" tIns="0" rIns="0" bIns="0" rtlCol="0" anchor="t"/>
          <a:lstStyle/>
          <a:p>
            <a:pPr algn="ctr" indent="0" marL="0">
              <a:lnSpc>
                <a:spcPts val="1092"/>
              </a:lnSpc>
              <a:buNone/>
            </a:pPr>
            <a:r>
              <a:rPr lang="en-US" sz="780" b="1" spc="90" kern="0" dirty="0">
                <a:solidFill>
                  <a:srgbClr val="FFD9DE"/>
                </a:solidFill>
                <a:latin typeface="Courier New" pitchFamily="34" charset="0"/>
                <a:ea typeface="Courier New" pitchFamily="34" charset="-122"/>
                <a:cs typeface="Courier New" pitchFamily="34" charset="-120"/>
              </a:rPr>
              <a:t>OUTPUT</a:t>
            </a:r>
            <a:endParaRPr lang="en-US" sz="780" dirty="0"/>
          </a:p>
        </p:txBody>
      </p:sp>
      <p:sp>
        <p:nvSpPr>
          <p:cNvPr id="33" name="Text 30"/>
          <p:cNvSpPr txBox="1"/>
          <p:nvPr/>
        </p:nvSpPr>
        <p:spPr>
          <a:xfrm>
            <a:off x="9946386" y="2798064"/>
            <a:ext cx="1513789" cy="566928"/>
          </a:xfrm>
          <a:prstGeom prst="rect">
            <a:avLst/>
          </a:prstGeom>
          <a:noFill/>
          <a:ln/>
        </p:spPr>
        <p:txBody>
          <a:bodyPr wrap="square" lIns="0" tIns="0" rIns="0" bIns="0" rtlCol="0" anchor="t"/>
          <a:lstStyle/>
          <a:p>
            <a:pPr algn="ctr" indent="0" marL="0">
              <a:lnSpc>
                <a:spcPts val="1750"/>
              </a:lnSpc>
              <a:buNone/>
            </a:pPr>
            <a:r>
              <a:rPr lang="en-US" sz="1250" b="1" dirty="0">
                <a:solidFill>
                  <a:srgbClr val="FFFFFF"/>
                </a:solidFill>
                <a:latin typeface="Cambria" pitchFamily="34" charset="0"/>
                <a:ea typeface="Cambria" pitchFamily="34" charset="-122"/>
                <a:cs typeface="Cambria" pitchFamily="34" charset="-120"/>
              </a:rPr>
              <a:t>Ranked</a:t>
            </a:r>
            <a:endParaRPr lang="en-US" sz="1250" dirty="0"/>
          </a:p>
          <a:p>
            <a:pPr algn="ctr" indent="0" marL="0">
              <a:lnSpc>
                <a:spcPts val="1750"/>
              </a:lnSpc>
              <a:buNone/>
            </a:pPr>
            <a:r>
              <a:rPr lang="en-US" sz="1250" b="1" dirty="0">
                <a:solidFill>
                  <a:srgbClr val="FFFFFF"/>
                </a:solidFill>
                <a:latin typeface="Cambria" pitchFamily="34" charset="0"/>
                <a:ea typeface="Cambria" pitchFamily="34" charset="-122"/>
                <a:cs typeface="Cambria" pitchFamily="34" charset="-120"/>
              </a:rPr>
              <a:t>docket</a:t>
            </a:r>
            <a:endParaRPr lang="en-US" sz="1250" dirty="0"/>
          </a:p>
        </p:txBody>
      </p:sp>
      <p:sp>
        <p:nvSpPr>
          <p:cNvPr id="34" name="Text 31"/>
          <p:cNvSpPr txBox="1"/>
          <p:nvPr/>
        </p:nvSpPr>
        <p:spPr>
          <a:xfrm>
            <a:off x="9964674" y="3401568"/>
            <a:ext cx="1477213" cy="402336"/>
          </a:xfrm>
          <a:prstGeom prst="rect">
            <a:avLst/>
          </a:prstGeom>
          <a:noFill/>
          <a:ln/>
        </p:spPr>
        <p:txBody>
          <a:bodyPr wrap="square" lIns="0" tIns="0" rIns="0" bIns="0" rtlCol="0" anchor="t"/>
          <a:lstStyle/>
          <a:p>
            <a:pPr algn="ctr" indent="0" marL="0">
              <a:lnSpc>
                <a:spcPts val="1204"/>
              </a:lnSpc>
              <a:buNone/>
            </a:pPr>
            <a:r>
              <a:rPr lang="en-US" sz="860" i="1" dirty="0">
                <a:solidFill>
                  <a:srgbClr val="FFE2E6"/>
                </a:solidFill>
                <a:latin typeface="Cambria" pitchFamily="34" charset="0"/>
                <a:ea typeface="Cambria" pitchFamily="34" charset="-122"/>
                <a:cs typeface="Cambria" pitchFamily="34" charset="-120"/>
              </a:rPr>
              <a:t>Capped to a quarter of real capacity.</a:t>
            </a:r>
            <a:endParaRPr lang="en-US" sz="860" dirty="0"/>
          </a:p>
        </p:txBody>
      </p:sp>
      <p:sp>
        <p:nvSpPr>
          <p:cNvPr id="35" name="Shape 32"/>
          <p:cNvSpPr/>
          <p:nvPr/>
        </p:nvSpPr>
        <p:spPr>
          <a:xfrm>
            <a:off x="658368" y="4224528"/>
            <a:ext cx="10874959" cy="0"/>
          </a:xfrm>
          <a:prstGeom prst="line">
            <a:avLst/>
          </a:prstGeom>
          <a:noFill/>
          <a:ln w="9525">
            <a:solidFill>
              <a:srgbClr val="2A3560"/>
            </a:solidFill>
            <a:prstDash val="solid"/>
          </a:ln>
        </p:spPr>
      </p:sp>
      <p:sp>
        <p:nvSpPr>
          <p:cNvPr id="36" name="Text 33"/>
          <p:cNvSpPr txBox="1"/>
          <p:nvPr/>
        </p:nvSpPr>
        <p:spPr>
          <a:xfrm>
            <a:off x="658368" y="4370832"/>
            <a:ext cx="10874959" cy="420624"/>
          </a:xfrm>
          <a:prstGeom prst="rect">
            <a:avLst/>
          </a:prstGeom>
          <a:noFill/>
          <a:ln/>
        </p:spPr>
        <p:txBody>
          <a:bodyPr wrap="square" lIns="0" tIns="0" rIns="0" bIns="0" rtlCol="0" anchor="t"/>
          <a:lstStyle/>
          <a:p>
            <a:pPr algn="ctr" indent="0" marL="0">
              <a:lnSpc>
                <a:spcPts val="1900"/>
              </a:lnSpc>
              <a:buNone/>
            </a:pPr>
            <a:r>
              <a:rPr lang="en-US" sz="1300" dirty="0">
                <a:solidFill>
                  <a:srgbClr val="C8CBDA"/>
                </a:solidFill>
                <a:latin typeface="Cambria" pitchFamily="34" charset="0"/>
                <a:ea typeface="Cambria" pitchFamily="34" charset="-122"/>
                <a:cs typeface="Cambria" pitchFamily="34" charset="-120"/>
              </a:rPr>
              <a:t>The whole design is one refusal:  </a:t>
            </a:r>
            <a:pPr algn="ctr" indent="0" marL="0">
              <a:lnSpc>
                <a:spcPts val="1900"/>
              </a:lnSpc>
              <a:buNone/>
            </a:pPr>
            <a:r>
              <a:rPr lang="en-US" sz="1300" b="1" dirty="0">
                <a:solidFill>
                  <a:srgbClr val="FAF8F4"/>
                </a:solidFill>
                <a:latin typeface="Cambria" pitchFamily="34" charset="0"/>
                <a:ea typeface="Cambria" pitchFamily="34" charset="-122"/>
                <a:cs typeface="Cambria" pitchFamily="34" charset="-120"/>
              </a:rPr>
              <a:t>no inspector rating is ever one of its inputs.</a:t>
            </a:r>
            <a:pPr algn="ctr" indent="0" marL="0">
              <a:lnSpc>
                <a:spcPts val="1900"/>
              </a:lnSpc>
              <a:buNone/>
            </a:pPr>
            <a:r>
              <a:rPr lang="en-US" sz="1300" dirty="0">
                <a:solidFill>
                  <a:srgbClr val="C8CBDA"/>
                </a:solidFill>
                <a:latin typeface="Cambria" pitchFamily="34" charset="0"/>
                <a:ea typeface="Cambria" pitchFamily="34" charset="-122"/>
                <a:cs typeface="Cambria" pitchFamily="34" charset="-120"/>
              </a:rPr>
              <a:t>  That is what makes it a second opinion rather than an echo.</a:t>
            </a:r>
            <a:endParaRPr lang="en-US" sz="1300" dirty="0"/>
          </a:p>
        </p:txBody>
      </p:sp>
      <p:sp>
        <p:nvSpPr>
          <p:cNvPr id="37" name="Text 34"/>
          <p:cNvSpPr txBox="1"/>
          <p:nvPr/>
        </p:nvSpPr>
        <p:spPr>
          <a:xfrm>
            <a:off x="658368" y="5943600"/>
            <a:ext cx="10874959" cy="548640"/>
          </a:xfrm>
          <a:prstGeom prst="rect">
            <a:avLst/>
          </a:prstGeom>
          <a:noFill/>
          <a:ln/>
        </p:spPr>
        <p:txBody>
          <a:bodyPr wrap="square" lIns="0" tIns="0" rIns="0" bIns="0" rtlCol="0" anchor="t"/>
          <a:lstStyle/>
          <a:p>
            <a:pPr indent="0" marL="0">
              <a:lnSpc>
                <a:spcPts val="1600"/>
              </a:lnSpc>
              <a:buNone/>
            </a:pPr>
            <a:r>
              <a:rPr lang="en-US" sz="900" b="1" spc="130" kern="0" dirty="0">
                <a:solidFill>
                  <a:srgbClr val="8A6420"/>
                </a:solidFill>
                <a:latin typeface="Courier New" pitchFamily="34" charset="0"/>
                <a:ea typeface="Courier New" pitchFamily="34" charset="-122"/>
                <a:cs typeface="Courier New" pitchFamily="34" charset="-120"/>
              </a:rPr>
              <a:t>THE BUDGET  </a:t>
            </a:r>
            <a:pPr indent="0" marL="0">
              <a:lnSpc>
                <a:spcPts val="1600"/>
              </a:lnSpc>
              <a:buNone/>
            </a:pPr>
            <a:r>
              <a:rPr lang="en-US" sz="1150" dirty="0">
                <a:solidFill>
                  <a:srgbClr val="C8CBDA"/>
                </a:solidFill>
                <a:latin typeface="Cambria" pitchFamily="34" charset="0"/>
                <a:ea typeface="Cambria" pitchFamily="34" charset="-122"/>
                <a:cs typeface="Cambria" pitchFamily="34" charset="-120"/>
              </a:rPr>
              <a:t>The docket is capped at what an inspection team can actually do in a quarter — 12 mandatory, 24 scheduled, 48 watched. A model that flags everything catches everything and helps nobody.</a:t>
            </a:r>
            <a:endParaRPr lang="en-US" sz="9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8F4"/>
        </a:solidFill>
      </p:bgPr>
    </p:bg>
    <p:spTree>
      <p:nvGrpSpPr>
        <p:cNvPr id="1" name=""/>
        <p:cNvGrpSpPr/>
        <p:nvPr/>
      </p:nvGrpSpPr>
      <p:grpSpPr>
        <a:xfrm>
          <a:off x="0" y="0"/>
          <a:ext cx="0" cy="0"/>
          <a:chOff x="0" y="0"/>
          <a:chExt cx="0" cy="0"/>
        </a:xfrm>
      </p:grpSpPr>
      <p:pic>
        <p:nvPicPr>
          <p:cNvPr id="2" name="Image 0" descr="/Users/arockia/Downloads/dissent/pitch/bg/08_paper_witnes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66928"/>
            <a:ext cx="640080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06 / PROVENANCE</a:t>
            </a:r>
            <a:endParaRPr lang="en-US" sz="950" dirty="0"/>
          </a:p>
        </p:txBody>
      </p:sp>
      <p:sp>
        <p:nvSpPr>
          <p:cNvPr id="4" name="Text 1"/>
          <p:cNvSpPr txBox="1"/>
          <p:nvPr/>
        </p:nvSpPr>
        <p:spPr>
          <a:xfrm>
            <a:off x="658368" y="914400"/>
            <a:ext cx="10874959" cy="1371600"/>
          </a:xfrm>
          <a:prstGeom prst="rect">
            <a:avLst/>
          </a:prstGeom>
          <a:noFill/>
          <a:ln/>
        </p:spPr>
        <p:txBody>
          <a:bodyPr wrap="square" lIns="0" tIns="0" rIns="0" bIns="0" rtlCol="0" anchor="t"/>
          <a:lstStyle/>
          <a:p>
            <a:pPr indent="0" marL="0">
              <a:lnSpc>
                <a:spcPts val="3294"/>
              </a:lnSpc>
              <a:buNone/>
            </a:pPr>
            <a:r>
              <a:rPr lang="en-US" sz="2700" b="1" dirty="0">
                <a:solidFill>
                  <a:srgbClr val="20263E"/>
                </a:solidFill>
                <a:latin typeface="Cambria" pitchFamily="34" charset="0"/>
                <a:ea typeface="Cambria" pitchFamily="34" charset="-122"/>
                <a:cs typeface="Cambria" pitchFamily="34" charset="-120"/>
              </a:rPr>
              <a:t>Every number in this deck is downloadable from</a:t>
            </a:r>
            <a:endParaRPr lang="en-US" sz="2700" dirty="0"/>
          </a:p>
          <a:p>
            <a:pPr indent="0" marL="0">
              <a:lnSpc>
                <a:spcPts val="3294"/>
              </a:lnSpc>
              <a:buNone/>
            </a:pPr>
            <a:r>
              <a:rPr lang="en-US" sz="2700" b="1" dirty="0">
                <a:solidFill>
                  <a:srgbClr val="20263E"/>
                </a:solidFill>
                <a:latin typeface="Cambria" pitchFamily="34" charset="0"/>
                <a:ea typeface="Cambria" pitchFamily="34" charset="-122"/>
                <a:cs typeface="Cambria" pitchFamily="34" charset="-120"/>
              </a:rPr>
              <a:t>the United States federal government.</a:t>
            </a:r>
            <a:endParaRPr lang="en-US" sz="2700" dirty="0"/>
          </a:p>
        </p:txBody>
      </p:sp>
      <p:sp>
        <p:nvSpPr>
          <p:cNvPr id="5" name="Text 2"/>
          <p:cNvSpPr txBox="1"/>
          <p:nvPr/>
        </p:nvSpPr>
        <p:spPr>
          <a:xfrm>
            <a:off x="658368" y="2331720"/>
            <a:ext cx="2834640" cy="566928"/>
          </a:xfrm>
          <a:prstGeom prst="rect">
            <a:avLst/>
          </a:prstGeom>
          <a:noFill/>
          <a:ln/>
        </p:spPr>
        <p:txBody>
          <a:bodyPr wrap="square" lIns="0" tIns="0" rIns="0" bIns="0" rtlCol="0" anchor="b"/>
          <a:lstStyle/>
          <a:p>
            <a:pPr indent="0" marL="0">
              <a:buNone/>
            </a:pPr>
            <a:r>
              <a:rPr lang="en-US" sz="3000" b="1" dirty="0">
                <a:solidFill>
                  <a:srgbClr val="20263E"/>
                </a:solidFill>
                <a:latin typeface="Cambria" pitchFamily="34" charset="0"/>
                <a:ea typeface="Cambria" pitchFamily="34" charset="-122"/>
                <a:cs typeface="Cambria" pitchFamily="34" charset="-120"/>
              </a:rPr>
              <a:t>234,801</a:t>
            </a:r>
            <a:endParaRPr lang="en-US" sz="3000" dirty="0"/>
          </a:p>
        </p:txBody>
      </p:sp>
      <p:sp>
        <p:nvSpPr>
          <p:cNvPr id="6" name="Text 3"/>
          <p:cNvSpPr txBox="1"/>
          <p:nvPr/>
        </p:nvSpPr>
        <p:spPr>
          <a:xfrm>
            <a:off x="658368" y="2962656"/>
            <a:ext cx="2743200" cy="621792"/>
          </a:xfrm>
          <a:prstGeom prst="rect">
            <a:avLst/>
          </a:prstGeom>
          <a:noFill/>
          <a:ln/>
        </p:spPr>
        <p:txBody>
          <a:bodyPr wrap="square" lIns="0" tIns="0" rIns="0" bIns="0" rtlCol="0" anchor="t"/>
          <a:lstStyle/>
          <a:p>
            <a:pPr indent="0" marL="0">
              <a:lnSpc>
                <a:spcPts val="1500"/>
              </a:lnSpc>
              <a:buNone/>
            </a:pPr>
            <a:r>
              <a:rPr lang="en-US" sz="1100" dirty="0">
                <a:solidFill>
                  <a:srgbClr val="6A7088"/>
                </a:solidFill>
                <a:latin typeface="Cambria" pitchFamily="34" charset="0"/>
                <a:ea typeface="Cambria" pitchFamily="34" charset="-122"/>
                <a:cs typeface="Cambria" pitchFamily="34" charset="-120"/>
              </a:rPr>
              <a:t>inspection filings in the four-state deep panel, 1992–2025</a:t>
            </a:r>
            <a:endParaRPr lang="en-US" sz="1100" dirty="0"/>
          </a:p>
        </p:txBody>
      </p:sp>
      <p:sp>
        <p:nvSpPr>
          <p:cNvPr id="7" name="Text 4"/>
          <p:cNvSpPr txBox="1"/>
          <p:nvPr/>
        </p:nvSpPr>
        <p:spPr>
          <a:xfrm>
            <a:off x="3767328" y="2331720"/>
            <a:ext cx="2834640" cy="566928"/>
          </a:xfrm>
          <a:prstGeom prst="rect">
            <a:avLst/>
          </a:prstGeom>
          <a:noFill/>
          <a:ln/>
        </p:spPr>
        <p:txBody>
          <a:bodyPr wrap="square" lIns="0" tIns="0" rIns="0" bIns="0" rtlCol="0" anchor="b"/>
          <a:lstStyle/>
          <a:p>
            <a:pPr indent="0" marL="0">
              <a:buNone/>
            </a:pPr>
            <a:r>
              <a:rPr lang="en-US" sz="3000" b="1" dirty="0">
                <a:solidFill>
                  <a:srgbClr val="20263E"/>
                </a:solidFill>
                <a:latin typeface="Cambria" pitchFamily="34" charset="0"/>
                <a:ea typeface="Cambria" pitchFamily="34" charset="-122"/>
                <a:cs typeface="Cambria" pitchFamily="34" charset="-120"/>
              </a:rPr>
              <a:t>621,137</a:t>
            </a:r>
            <a:endParaRPr lang="en-US" sz="3000" dirty="0"/>
          </a:p>
        </p:txBody>
      </p:sp>
      <p:sp>
        <p:nvSpPr>
          <p:cNvPr id="8" name="Text 5"/>
          <p:cNvSpPr txBox="1"/>
          <p:nvPr/>
        </p:nvSpPr>
        <p:spPr>
          <a:xfrm>
            <a:off x="3767328" y="2962656"/>
            <a:ext cx="2743200" cy="621792"/>
          </a:xfrm>
          <a:prstGeom prst="rect">
            <a:avLst/>
          </a:prstGeom>
          <a:noFill/>
          <a:ln/>
        </p:spPr>
        <p:txBody>
          <a:bodyPr wrap="square" lIns="0" tIns="0" rIns="0" bIns="0" rtlCol="0" anchor="t"/>
          <a:lstStyle/>
          <a:p>
            <a:pPr indent="0" marL="0">
              <a:lnSpc>
                <a:spcPts val="1500"/>
              </a:lnSpc>
              <a:buNone/>
            </a:pPr>
            <a:r>
              <a:rPr lang="en-US" sz="1100" dirty="0">
                <a:solidFill>
                  <a:srgbClr val="6A7088"/>
                </a:solidFill>
                <a:latin typeface="Cambria" pitchFamily="34" charset="0"/>
                <a:ea typeface="Cambria" pitchFamily="34" charset="-122"/>
                <a:cs typeface="Cambria" pitchFamily="34" charset="-120"/>
              </a:rPr>
              <a:t>structures in the 2025 national snapshot</a:t>
            </a:r>
            <a:endParaRPr lang="en-US" sz="1100" dirty="0"/>
          </a:p>
        </p:txBody>
      </p:sp>
      <p:sp>
        <p:nvSpPr>
          <p:cNvPr id="9" name="Text 6"/>
          <p:cNvSpPr txBox="1"/>
          <p:nvPr/>
        </p:nvSpPr>
        <p:spPr>
          <a:xfrm>
            <a:off x="6876288" y="2331720"/>
            <a:ext cx="2834640" cy="566928"/>
          </a:xfrm>
          <a:prstGeom prst="rect">
            <a:avLst/>
          </a:prstGeom>
          <a:noFill/>
          <a:ln/>
        </p:spPr>
        <p:txBody>
          <a:bodyPr wrap="square" lIns="0" tIns="0" rIns="0" bIns="0" rtlCol="0" anchor="b"/>
          <a:lstStyle/>
          <a:p>
            <a:pPr indent="0" marL="0">
              <a:buNone/>
            </a:pPr>
            <a:r>
              <a:rPr lang="en-US" sz="3000" b="1" dirty="0">
                <a:solidFill>
                  <a:srgbClr val="20263E"/>
                </a:solidFill>
                <a:latin typeface="Cambria" pitchFamily="34" charset="0"/>
                <a:ea typeface="Cambria" pitchFamily="34" charset="-122"/>
                <a:cs typeface="Cambria" pitchFamily="34" charset="-120"/>
              </a:rPr>
              <a:t>41,319</a:t>
            </a:r>
            <a:endParaRPr lang="en-US" sz="3000" dirty="0"/>
          </a:p>
        </p:txBody>
      </p:sp>
      <p:sp>
        <p:nvSpPr>
          <p:cNvPr id="10" name="Text 7"/>
          <p:cNvSpPr txBox="1"/>
          <p:nvPr/>
        </p:nvSpPr>
        <p:spPr>
          <a:xfrm>
            <a:off x="6876288" y="2962656"/>
            <a:ext cx="2743200" cy="621792"/>
          </a:xfrm>
          <a:prstGeom prst="rect">
            <a:avLst/>
          </a:prstGeom>
          <a:noFill/>
          <a:ln/>
        </p:spPr>
        <p:txBody>
          <a:bodyPr wrap="square" lIns="0" tIns="0" rIns="0" bIns="0" rtlCol="0" anchor="t"/>
          <a:lstStyle/>
          <a:p>
            <a:pPr indent="0" marL="0">
              <a:lnSpc>
                <a:spcPts val="1500"/>
              </a:lnSpc>
              <a:buNone/>
            </a:pPr>
            <a:r>
              <a:rPr lang="en-US" sz="1100" dirty="0">
                <a:solidFill>
                  <a:srgbClr val="6A7088"/>
                </a:solidFill>
                <a:latin typeface="Cambria" pitchFamily="34" charset="0"/>
                <a:ea typeface="Cambria" pitchFamily="34" charset="-122"/>
                <a:cs typeface="Cambria" pitchFamily="34" charset="-120"/>
              </a:rPr>
              <a:t>of them rated poor by their own inspectors</a:t>
            </a:r>
            <a:endParaRPr lang="en-US" sz="1100" dirty="0"/>
          </a:p>
        </p:txBody>
      </p:sp>
      <p:sp>
        <p:nvSpPr>
          <p:cNvPr id="11" name="Shape 8"/>
          <p:cNvSpPr/>
          <p:nvPr/>
        </p:nvSpPr>
        <p:spPr>
          <a:xfrm>
            <a:off x="658368" y="3767328"/>
            <a:ext cx="10874959" cy="0"/>
          </a:xfrm>
          <a:prstGeom prst="line">
            <a:avLst/>
          </a:prstGeom>
          <a:noFill/>
          <a:ln w="12700">
            <a:solidFill>
              <a:srgbClr val="D9D5C9"/>
            </a:solidFill>
            <a:prstDash val="solid"/>
          </a:ln>
        </p:spPr>
      </p:sp>
      <p:sp>
        <p:nvSpPr>
          <p:cNvPr id="12" name="Text 9"/>
          <p:cNvSpPr txBox="1"/>
          <p:nvPr/>
        </p:nvSpPr>
        <p:spPr>
          <a:xfrm>
            <a:off x="658368" y="3977640"/>
            <a:ext cx="6400800" cy="237744"/>
          </a:xfrm>
          <a:prstGeom prst="rect">
            <a:avLst/>
          </a:prstGeom>
          <a:noFill/>
          <a:ln/>
        </p:spPr>
        <p:txBody>
          <a:bodyPr wrap="square" lIns="0" tIns="0" rIns="0" bIns="0" rtlCol="0" anchor="t"/>
          <a:lstStyle/>
          <a:p>
            <a:pPr algn="l" indent="0" marL="0">
              <a:buNone/>
            </a:pPr>
            <a:r>
              <a:rPr lang="en-US" sz="950" b="1" spc="160" kern="0" dirty="0">
                <a:solidFill>
                  <a:srgbClr val="C6283C"/>
                </a:solidFill>
                <a:latin typeface="Courier New" pitchFamily="34" charset="0"/>
                <a:ea typeface="Courier New" pitchFamily="34" charset="-122"/>
                <a:cs typeface="Courier New" pitchFamily="34" charset="-120"/>
              </a:rPr>
              <a:t>THE RECEIPT — YOU CAN CHECK THIS TONIGHT</a:t>
            </a:r>
            <a:endParaRPr lang="en-US" sz="950" dirty="0"/>
          </a:p>
        </p:txBody>
      </p:sp>
      <p:sp>
        <p:nvSpPr>
          <p:cNvPr id="13" name="Text 10"/>
          <p:cNvSpPr txBox="1"/>
          <p:nvPr/>
        </p:nvSpPr>
        <p:spPr>
          <a:xfrm>
            <a:off x="658368" y="4270248"/>
            <a:ext cx="6583680" cy="329184"/>
          </a:xfrm>
          <a:prstGeom prst="rect">
            <a:avLst/>
          </a:prstGeom>
          <a:noFill/>
          <a:ln/>
        </p:spPr>
        <p:txBody>
          <a:bodyPr wrap="square" lIns="0" tIns="0" rIns="0" bIns="0" rtlCol="0" anchor="ctr"/>
          <a:lstStyle/>
          <a:p>
            <a:pPr indent="0" marL="0">
              <a:buNone/>
            </a:pPr>
            <a:r>
              <a:rPr lang="en-US" sz="1300" b="1" spc="40" kern="0" dirty="0">
                <a:solidFill>
                  <a:srgbClr val="20263E"/>
                </a:solidFill>
                <a:latin typeface="Courier New" pitchFamily="34" charset="0"/>
                <a:ea typeface="Courier New" pitchFamily="34" charset="-122"/>
                <a:cs typeface="Courier New" pitchFamily="34" charset="-120"/>
              </a:rPr>
              <a:t>fhwa.dot.gov/bridge/nbi/{year}/delimited/{ST}{yy}.txt</a:t>
            </a:r>
            <a:endParaRPr lang="en-US" sz="1300" dirty="0"/>
          </a:p>
        </p:txBody>
      </p:sp>
      <p:sp>
        <p:nvSpPr>
          <p:cNvPr id="14" name="Text 11"/>
          <p:cNvSpPr txBox="1"/>
          <p:nvPr/>
        </p:nvSpPr>
        <p:spPr>
          <a:xfrm>
            <a:off x="658368" y="4727448"/>
            <a:ext cx="6400800" cy="868680"/>
          </a:xfrm>
          <a:prstGeom prst="rect">
            <a:avLst/>
          </a:prstGeom>
          <a:noFill/>
          <a:ln/>
        </p:spPr>
        <p:txBody>
          <a:bodyPr wrap="square" lIns="0" tIns="0" rIns="0" bIns="0" rtlCol="0" anchor="t"/>
          <a:lstStyle/>
          <a:p>
            <a:pPr indent="0" marL="0">
              <a:lnSpc>
                <a:spcPts val="1650"/>
              </a:lnSpc>
              <a:buNone/>
            </a:pPr>
            <a:r>
              <a:rPr lang="en-US" sz="1200" dirty="0">
                <a:solidFill>
                  <a:srgbClr val="6A7088"/>
                </a:solidFill>
                <a:latin typeface="Cambria" pitchFamily="34" charset="0"/>
                <a:ea typeface="Cambria" pitchFamily="34" charset="-122"/>
                <a:cs typeface="Cambria" pitchFamily="34" charset="-120"/>
              </a:rPr>
              <a:t>Thirty-four years, fifty-one jurisdictions, one file each. Weather comes from the Open-Meteo historical archive, an ERA5-class reanalysis, also free. The download script is in our repository.</a:t>
            </a:r>
            <a:endParaRPr lang="en-US" sz="1200" dirty="0"/>
          </a:p>
        </p:txBody>
      </p:sp>
      <p:sp>
        <p:nvSpPr>
          <p:cNvPr id="15" name="Shape 12"/>
          <p:cNvSpPr/>
          <p:nvPr/>
        </p:nvSpPr>
        <p:spPr>
          <a:xfrm>
            <a:off x="7498080" y="3867912"/>
            <a:ext cx="4035247" cy="1874520"/>
          </a:xfrm>
          <a:prstGeom prst="rect">
            <a:avLst/>
          </a:prstGeom>
          <a:solidFill>
            <a:srgbClr val="0F1738"/>
          </a:solidFill>
          <a:ln w="9525">
            <a:solidFill>
              <a:srgbClr val="2A3560"/>
            </a:solidFill>
            <a:prstDash val="solid"/>
          </a:ln>
        </p:spPr>
      </p:sp>
      <p:sp>
        <p:nvSpPr>
          <p:cNvPr id="16" name="Text 13"/>
          <p:cNvSpPr txBox="1"/>
          <p:nvPr/>
        </p:nvSpPr>
        <p:spPr>
          <a:xfrm>
            <a:off x="7772400" y="4087368"/>
            <a:ext cx="356616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WHAT IS NOT REAL</a:t>
            </a:r>
            <a:endParaRPr lang="en-US" sz="950" dirty="0"/>
          </a:p>
        </p:txBody>
      </p:sp>
      <p:sp>
        <p:nvSpPr>
          <p:cNvPr id="17" name="Text 14"/>
          <p:cNvSpPr txBox="1"/>
          <p:nvPr/>
        </p:nvSpPr>
        <p:spPr>
          <a:xfrm>
            <a:off x="7772400" y="4398264"/>
            <a:ext cx="3486607" cy="1280160"/>
          </a:xfrm>
          <a:prstGeom prst="rect">
            <a:avLst/>
          </a:prstGeom>
          <a:noFill/>
          <a:ln/>
        </p:spPr>
        <p:txBody>
          <a:bodyPr wrap="square" lIns="0" tIns="0" rIns="0" bIns="0" rtlCol="0" anchor="t"/>
          <a:lstStyle/>
          <a:p>
            <a:pPr indent="0" marL="0">
              <a:lnSpc>
                <a:spcPts val="1600"/>
              </a:lnSpc>
              <a:buNone/>
            </a:pPr>
            <a:r>
              <a:rPr lang="en-US" sz="1150" dirty="0">
                <a:solidFill>
                  <a:srgbClr val="C8CBDA"/>
                </a:solidFill>
                <a:latin typeface="Cambria" pitchFamily="34" charset="0"/>
                <a:ea typeface="Cambria" pitchFamily="34" charset="-122"/>
                <a:cs typeface="Cambria" pitchFamily="34" charset="-120"/>
              </a:rPr>
              <a:t>One series in the entire product is a reconstruction: the Morandi precursor chart. It is labelled as a reconstruction inside the app, and the paper that disputes the underlying finding is cited directly beneath it.</a:t>
            </a:r>
            <a:endParaRPr lang="en-US" sz="11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B3AC9A"/>
                </a:solidFill>
                <a:latin typeface="Courier New"/>
                <a:ea typeface="Courier New"/>
                <a:cs typeface="Courier New"/>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1_desk_gr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07 / HOW YOU KNOW IT DID NOT CHEAT</a:t>
            </a:r>
            <a:endParaRPr lang="en-US" sz="950" dirty="0"/>
          </a:p>
        </p:txBody>
      </p:sp>
      <p:sp>
        <p:nvSpPr>
          <p:cNvPr id="4" name="Text 1"/>
          <p:cNvSpPr txBox="1"/>
          <p:nvPr/>
        </p:nvSpPr>
        <p:spPr>
          <a:xfrm>
            <a:off x="658368" y="859536"/>
            <a:ext cx="10058400" cy="1371600"/>
          </a:xfrm>
          <a:prstGeom prst="rect">
            <a:avLst/>
          </a:prstGeom>
          <a:noFill/>
          <a:ln/>
        </p:spPr>
        <p:txBody>
          <a:bodyPr wrap="square" lIns="0" tIns="0" rIns="0" bIns="0" rtlCol="0" anchor="t"/>
          <a:lstStyle/>
          <a:p>
            <a:pPr indent="0" marL="0">
              <a:lnSpc>
                <a:spcPts val="3294"/>
              </a:lnSpc>
              <a:buNone/>
            </a:pPr>
            <a:r>
              <a:rPr lang="en-US" sz="2700" b="1" dirty="0">
                <a:solidFill>
                  <a:srgbClr val="FAF8F4"/>
                </a:solidFill>
                <a:latin typeface="Cambria" pitchFamily="34" charset="0"/>
                <a:ea typeface="Cambria" pitchFamily="34" charset="-122"/>
                <a:cs typeface="Cambria" pitchFamily="34" charset="-120"/>
              </a:rPr>
              <a:t>The model was frozen in 2015 and has never</a:t>
            </a:r>
            <a:endParaRPr lang="en-US" sz="2700" dirty="0"/>
          </a:p>
          <a:p>
            <a:pPr indent="0" marL="0">
              <a:lnSpc>
                <a:spcPts val="3294"/>
              </a:lnSpc>
              <a:buNone/>
            </a:pPr>
            <a:r>
              <a:rPr lang="en-US" sz="2700" b="1" dirty="0">
                <a:solidFill>
                  <a:srgbClr val="FAF8F4"/>
                </a:solidFill>
                <a:latin typeface="Cambria" pitchFamily="34" charset="0"/>
                <a:ea typeface="Cambria" pitchFamily="34" charset="-122"/>
                <a:cs typeface="Cambria" pitchFamily="34" charset="-120"/>
              </a:rPr>
              <a:t>seen a single year we score it on.</a:t>
            </a:r>
            <a:endParaRPr lang="en-US" sz="2700" dirty="0"/>
          </a:p>
        </p:txBody>
      </p:sp>
      <p:sp>
        <p:nvSpPr>
          <p:cNvPr id="5" name="Shape 2"/>
          <p:cNvSpPr/>
          <p:nvPr/>
        </p:nvSpPr>
        <p:spPr>
          <a:xfrm>
            <a:off x="658368" y="2852928"/>
            <a:ext cx="7579517" cy="786384"/>
          </a:xfrm>
          <a:prstGeom prst="rect">
            <a:avLst/>
          </a:prstGeom>
          <a:solidFill>
            <a:srgbClr val="3A5CA8">
              <a:alpha val="38000"/>
            </a:srgbClr>
          </a:solidFill>
          <a:ln w="12700">
            <a:solidFill>
              <a:srgbClr val="3A5CA8"/>
            </a:solidFill>
            <a:prstDash val="solid"/>
          </a:ln>
        </p:spPr>
      </p:sp>
      <p:sp>
        <p:nvSpPr>
          <p:cNvPr id="6" name="Text 3"/>
          <p:cNvSpPr txBox="1"/>
          <p:nvPr/>
        </p:nvSpPr>
        <p:spPr>
          <a:xfrm>
            <a:off x="713232" y="3035808"/>
            <a:ext cx="7469789" cy="237744"/>
          </a:xfrm>
          <a:prstGeom prst="rect">
            <a:avLst/>
          </a:prstGeom>
          <a:noFill/>
          <a:ln/>
        </p:spPr>
        <p:txBody>
          <a:bodyPr wrap="square" lIns="0" tIns="0" rIns="0" bIns="0" rtlCol="0" anchor="t"/>
          <a:lstStyle/>
          <a:p>
            <a:pPr algn="ctr" indent="0" marL="0">
              <a:lnSpc>
                <a:spcPts val="1330"/>
              </a:lnSpc>
              <a:buNone/>
            </a:pPr>
            <a:r>
              <a:rPr lang="en-US" sz="950" b="1" spc="90" kern="0" dirty="0">
                <a:solidFill>
                  <a:srgbClr val="FFFFFF"/>
                </a:solidFill>
                <a:latin typeface="Courier New" pitchFamily="34" charset="0"/>
                <a:ea typeface="Courier New" pitchFamily="34" charset="-122"/>
                <a:cs typeface="Courier New" pitchFamily="34" charset="-120"/>
              </a:rPr>
              <a:t>TRAINED</a:t>
            </a:r>
            <a:endParaRPr lang="en-US" sz="950" dirty="0"/>
          </a:p>
        </p:txBody>
      </p:sp>
      <p:sp>
        <p:nvSpPr>
          <p:cNvPr id="7" name="Text 4"/>
          <p:cNvSpPr txBox="1"/>
          <p:nvPr/>
        </p:nvSpPr>
        <p:spPr>
          <a:xfrm>
            <a:off x="713232" y="3310128"/>
            <a:ext cx="7469789" cy="237744"/>
          </a:xfrm>
          <a:prstGeom prst="rect">
            <a:avLst/>
          </a:prstGeom>
          <a:noFill/>
          <a:ln/>
        </p:spPr>
        <p:txBody>
          <a:bodyPr wrap="square" lIns="0" tIns="0" rIns="0" bIns="0" rtlCol="0" anchor="t"/>
          <a:lstStyle/>
          <a:p>
            <a:pPr algn="ctr" indent="0" marL="0">
              <a:lnSpc>
                <a:spcPts val="1288"/>
              </a:lnSpc>
              <a:buNone/>
            </a:pPr>
            <a:r>
              <a:rPr lang="en-US" sz="920" i="1" dirty="0">
                <a:solidFill>
                  <a:srgbClr val="E8E4DC"/>
                </a:solidFill>
                <a:latin typeface="Cambria" pitchFamily="34" charset="0"/>
                <a:ea typeface="Cambria" pitchFamily="34" charset="-122"/>
                <a:cs typeface="Cambria" pitchFamily="34" charset="-120"/>
              </a:rPr>
              <a:t>168,864 filings the model learned from</a:t>
            </a:r>
            <a:endParaRPr lang="en-US" sz="920" dirty="0"/>
          </a:p>
        </p:txBody>
      </p:sp>
      <p:sp>
        <p:nvSpPr>
          <p:cNvPr id="8" name="Shape 5"/>
          <p:cNvSpPr/>
          <p:nvPr/>
        </p:nvSpPr>
        <p:spPr>
          <a:xfrm>
            <a:off x="8237885" y="2852928"/>
            <a:ext cx="988633" cy="786384"/>
          </a:xfrm>
          <a:prstGeom prst="rect">
            <a:avLst/>
          </a:prstGeom>
          <a:solidFill>
            <a:srgbClr val="8A6420">
              <a:alpha val="48000"/>
            </a:srgbClr>
          </a:solidFill>
          <a:ln w="12700">
            <a:solidFill>
              <a:srgbClr val="8A6420"/>
            </a:solidFill>
            <a:prstDash val="solid"/>
          </a:ln>
        </p:spPr>
      </p:sp>
      <p:sp>
        <p:nvSpPr>
          <p:cNvPr id="9" name="Text 6"/>
          <p:cNvSpPr txBox="1"/>
          <p:nvPr/>
        </p:nvSpPr>
        <p:spPr>
          <a:xfrm>
            <a:off x="8292749" y="3035808"/>
            <a:ext cx="878905" cy="237744"/>
          </a:xfrm>
          <a:prstGeom prst="rect">
            <a:avLst/>
          </a:prstGeom>
          <a:noFill/>
          <a:ln/>
        </p:spPr>
        <p:txBody>
          <a:bodyPr wrap="square" lIns="0" tIns="0" rIns="0" bIns="0" rtlCol="0" anchor="t"/>
          <a:lstStyle/>
          <a:p>
            <a:pPr algn="ctr" indent="0" marL="0">
              <a:lnSpc>
                <a:spcPts val="1330"/>
              </a:lnSpc>
              <a:buNone/>
            </a:pPr>
            <a:r>
              <a:rPr lang="en-US" sz="950" b="1" spc="90" kern="0" dirty="0">
                <a:solidFill>
                  <a:srgbClr val="FFFFFF"/>
                </a:solidFill>
                <a:latin typeface="Courier New" pitchFamily="34" charset="0"/>
                <a:ea typeface="Courier New" pitchFamily="34" charset="-122"/>
                <a:cs typeface="Courier New" pitchFamily="34" charset="-120"/>
              </a:rPr>
              <a:t>CALIBRATED</a:t>
            </a:r>
            <a:endParaRPr lang="en-US" sz="950" dirty="0"/>
          </a:p>
        </p:txBody>
      </p:sp>
      <p:sp>
        <p:nvSpPr>
          <p:cNvPr id="10" name="Text 7"/>
          <p:cNvSpPr txBox="1"/>
          <p:nvPr/>
        </p:nvSpPr>
        <p:spPr>
          <a:xfrm>
            <a:off x="8292749" y="3310128"/>
            <a:ext cx="878905" cy="237744"/>
          </a:xfrm>
          <a:prstGeom prst="rect">
            <a:avLst/>
          </a:prstGeom>
          <a:noFill/>
          <a:ln/>
        </p:spPr>
        <p:txBody>
          <a:bodyPr wrap="square" lIns="0" tIns="0" rIns="0" bIns="0" rtlCol="0" anchor="t"/>
          <a:lstStyle/>
          <a:p>
            <a:pPr algn="ctr" indent="0" marL="0">
              <a:lnSpc>
                <a:spcPts val="1288"/>
              </a:lnSpc>
              <a:buNone/>
            </a:pPr>
            <a:r>
              <a:rPr lang="en-US" sz="920" i="1" dirty="0">
                <a:solidFill>
                  <a:srgbClr val="E8E4DC"/>
                </a:solidFill>
                <a:latin typeface="Cambria" pitchFamily="34" charset="0"/>
                <a:ea typeface="Cambria" pitchFamily="34" charset="-122"/>
                <a:cs typeface="Cambria" pitchFamily="34" charset="-120"/>
              </a:rPr>
              <a:t>interval set here</a:t>
            </a:r>
            <a:endParaRPr lang="en-US" sz="920" dirty="0"/>
          </a:p>
        </p:txBody>
      </p:sp>
      <p:sp>
        <p:nvSpPr>
          <p:cNvPr id="11" name="Shape 8"/>
          <p:cNvSpPr/>
          <p:nvPr/>
        </p:nvSpPr>
        <p:spPr>
          <a:xfrm>
            <a:off x="9226518" y="2852928"/>
            <a:ext cx="2306810" cy="786384"/>
          </a:xfrm>
          <a:prstGeom prst="rect">
            <a:avLst/>
          </a:prstGeom>
          <a:solidFill>
            <a:srgbClr val="C6283C">
              <a:alpha val="80000"/>
            </a:srgbClr>
          </a:solidFill>
          <a:ln w="12700">
            <a:solidFill>
              <a:srgbClr val="C6283C"/>
            </a:solidFill>
            <a:prstDash val="solid"/>
          </a:ln>
        </p:spPr>
      </p:sp>
      <p:sp>
        <p:nvSpPr>
          <p:cNvPr id="12" name="Text 9"/>
          <p:cNvSpPr txBox="1"/>
          <p:nvPr/>
        </p:nvSpPr>
        <p:spPr>
          <a:xfrm>
            <a:off x="9281382" y="3035808"/>
            <a:ext cx="2197082" cy="237744"/>
          </a:xfrm>
          <a:prstGeom prst="rect">
            <a:avLst/>
          </a:prstGeom>
          <a:noFill/>
          <a:ln/>
        </p:spPr>
        <p:txBody>
          <a:bodyPr wrap="square" lIns="0" tIns="0" rIns="0" bIns="0" rtlCol="0" anchor="t"/>
          <a:lstStyle/>
          <a:p>
            <a:pPr algn="ctr" indent="0" marL="0">
              <a:lnSpc>
                <a:spcPts val="1330"/>
              </a:lnSpc>
              <a:buNone/>
            </a:pPr>
            <a:r>
              <a:rPr lang="en-US" sz="950" b="1" spc="90" kern="0" dirty="0">
                <a:solidFill>
                  <a:srgbClr val="FFFFFF"/>
                </a:solidFill>
                <a:latin typeface="Courier New" pitchFamily="34" charset="0"/>
                <a:ea typeface="Courier New" pitchFamily="34" charset="-122"/>
                <a:cs typeface="Courier New" pitchFamily="34" charset="-120"/>
              </a:rPr>
              <a:t>NEVER SEEN</a:t>
            </a:r>
            <a:endParaRPr lang="en-US" sz="950" dirty="0"/>
          </a:p>
        </p:txBody>
      </p:sp>
      <p:sp>
        <p:nvSpPr>
          <p:cNvPr id="13" name="Text 10"/>
          <p:cNvSpPr txBox="1"/>
          <p:nvPr/>
        </p:nvSpPr>
        <p:spPr>
          <a:xfrm>
            <a:off x="9281382" y="3310128"/>
            <a:ext cx="2197082" cy="237744"/>
          </a:xfrm>
          <a:prstGeom prst="rect">
            <a:avLst/>
          </a:prstGeom>
          <a:noFill/>
          <a:ln/>
        </p:spPr>
        <p:txBody>
          <a:bodyPr wrap="square" lIns="0" tIns="0" rIns="0" bIns="0" rtlCol="0" anchor="t"/>
          <a:lstStyle/>
          <a:p>
            <a:pPr algn="ctr" indent="0" marL="0">
              <a:lnSpc>
                <a:spcPts val="1288"/>
              </a:lnSpc>
              <a:buNone/>
            </a:pPr>
            <a:r>
              <a:rPr lang="en-US" sz="920" i="1" dirty="0">
                <a:solidFill>
                  <a:srgbClr val="E8E4DC"/>
                </a:solidFill>
                <a:latin typeface="Cambria" pitchFamily="34" charset="0"/>
                <a:ea typeface="Cambria" pitchFamily="34" charset="-122"/>
                <a:cs typeface="Cambria" pitchFamily="34" charset="-120"/>
              </a:rPr>
              <a:t>46,541 rows of pure holdout</a:t>
            </a:r>
            <a:endParaRPr lang="en-US" sz="920" dirty="0"/>
          </a:p>
        </p:txBody>
      </p:sp>
      <p:sp>
        <p:nvSpPr>
          <p:cNvPr id="14" name="Shape 11"/>
          <p:cNvSpPr/>
          <p:nvPr/>
        </p:nvSpPr>
        <p:spPr>
          <a:xfrm>
            <a:off x="8237885" y="2395728"/>
            <a:ext cx="0" cy="1700784"/>
          </a:xfrm>
          <a:prstGeom prst="line">
            <a:avLst/>
          </a:prstGeom>
          <a:noFill/>
          <a:ln w="28575">
            <a:solidFill>
              <a:srgbClr val="FAF8F4"/>
            </a:solidFill>
            <a:prstDash val="solid"/>
          </a:ln>
        </p:spPr>
      </p:sp>
      <p:sp>
        <p:nvSpPr>
          <p:cNvPr id="15" name="Text 12"/>
          <p:cNvSpPr txBox="1"/>
          <p:nvPr/>
        </p:nvSpPr>
        <p:spPr>
          <a:xfrm>
            <a:off x="7323485" y="2103120"/>
            <a:ext cx="1828800" cy="237744"/>
          </a:xfrm>
          <a:prstGeom prst="rect">
            <a:avLst/>
          </a:prstGeom>
          <a:noFill/>
          <a:ln/>
        </p:spPr>
        <p:txBody>
          <a:bodyPr wrap="square" lIns="0" tIns="0" rIns="0" bIns="0" rtlCol="0" anchor="t"/>
          <a:lstStyle/>
          <a:p>
            <a:pPr algn="ctr" indent="0" marL="0">
              <a:lnSpc>
                <a:spcPts val="1330"/>
              </a:lnSpc>
              <a:buNone/>
            </a:pPr>
            <a:r>
              <a:rPr lang="en-US" sz="950" b="1" spc="90" kern="0" dirty="0">
                <a:solidFill>
                  <a:srgbClr val="FAF8F4"/>
                </a:solidFill>
                <a:latin typeface="Courier New" pitchFamily="34" charset="0"/>
                <a:ea typeface="Courier New" pitchFamily="34" charset="-122"/>
                <a:cs typeface="Courier New" pitchFamily="34" charset="-120"/>
              </a:rPr>
              <a:t>THE WALL</a:t>
            </a:r>
            <a:endParaRPr lang="en-US" sz="950" dirty="0"/>
          </a:p>
        </p:txBody>
      </p:sp>
      <p:sp>
        <p:nvSpPr>
          <p:cNvPr id="16" name="Shape 13"/>
          <p:cNvSpPr/>
          <p:nvPr/>
        </p:nvSpPr>
        <p:spPr>
          <a:xfrm>
            <a:off x="658368" y="3639312"/>
            <a:ext cx="0" cy="100584"/>
          </a:xfrm>
          <a:prstGeom prst="line">
            <a:avLst/>
          </a:prstGeom>
          <a:noFill/>
          <a:ln w="11430">
            <a:solidFill>
              <a:srgbClr val="8A93B8"/>
            </a:solidFill>
            <a:prstDash val="solid"/>
          </a:ln>
        </p:spPr>
      </p:sp>
      <p:sp>
        <p:nvSpPr>
          <p:cNvPr id="17" name="Text 14"/>
          <p:cNvSpPr txBox="1"/>
          <p:nvPr/>
        </p:nvSpPr>
        <p:spPr>
          <a:xfrm>
            <a:off x="365760"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1992</a:t>
            </a:r>
            <a:endParaRPr lang="en-US" sz="840" dirty="0"/>
          </a:p>
        </p:txBody>
      </p:sp>
      <p:sp>
        <p:nvSpPr>
          <p:cNvPr id="18" name="Shape 15"/>
          <p:cNvSpPr/>
          <p:nvPr/>
        </p:nvSpPr>
        <p:spPr>
          <a:xfrm>
            <a:off x="3294722" y="3639312"/>
            <a:ext cx="0" cy="100584"/>
          </a:xfrm>
          <a:prstGeom prst="line">
            <a:avLst/>
          </a:prstGeom>
          <a:noFill/>
          <a:ln w="11430">
            <a:solidFill>
              <a:srgbClr val="8A93B8"/>
            </a:solidFill>
            <a:prstDash val="solid"/>
          </a:ln>
        </p:spPr>
      </p:sp>
      <p:sp>
        <p:nvSpPr>
          <p:cNvPr id="19" name="Text 16"/>
          <p:cNvSpPr txBox="1"/>
          <p:nvPr/>
        </p:nvSpPr>
        <p:spPr>
          <a:xfrm>
            <a:off x="3002114"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2000</a:t>
            </a:r>
            <a:endParaRPr lang="en-US" sz="840" dirty="0"/>
          </a:p>
        </p:txBody>
      </p:sp>
      <p:sp>
        <p:nvSpPr>
          <p:cNvPr id="20" name="Shape 17"/>
          <p:cNvSpPr/>
          <p:nvPr/>
        </p:nvSpPr>
        <p:spPr>
          <a:xfrm>
            <a:off x="5931075" y="3639312"/>
            <a:ext cx="0" cy="100584"/>
          </a:xfrm>
          <a:prstGeom prst="line">
            <a:avLst/>
          </a:prstGeom>
          <a:noFill/>
          <a:ln w="11430">
            <a:solidFill>
              <a:srgbClr val="8A93B8"/>
            </a:solidFill>
            <a:prstDash val="solid"/>
          </a:ln>
        </p:spPr>
      </p:sp>
      <p:sp>
        <p:nvSpPr>
          <p:cNvPr id="21" name="Text 18"/>
          <p:cNvSpPr txBox="1"/>
          <p:nvPr/>
        </p:nvSpPr>
        <p:spPr>
          <a:xfrm>
            <a:off x="5638467"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2008</a:t>
            </a:r>
            <a:endParaRPr lang="en-US" sz="840" dirty="0"/>
          </a:p>
        </p:txBody>
      </p:sp>
      <p:sp>
        <p:nvSpPr>
          <p:cNvPr id="22" name="Shape 19"/>
          <p:cNvSpPr/>
          <p:nvPr/>
        </p:nvSpPr>
        <p:spPr>
          <a:xfrm>
            <a:off x="8237885" y="3639312"/>
            <a:ext cx="0" cy="100584"/>
          </a:xfrm>
          <a:prstGeom prst="line">
            <a:avLst/>
          </a:prstGeom>
          <a:noFill/>
          <a:ln w="11430">
            <a:solidFill>
              <a:srgbClr val="8A93B8"/>
            </a:solidFill>
            <a:prstDash val="solid"/>
          </a:ln>
        </p:spPr>
      </p:sp>
      <p:sp>
        <p:nvSpPr>
          <p:cNvPr id="23" name="Text 20"/>
          <p:cNvSpPr txBox="1"/>
          <p:nvPr/>
        </p:nvSpPr>
        <p:spPr>
          <a:xfrm>
            <a:off x="7945277"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2015</a:t>
            </a:r>
            <a:endParaRPr lang="en-US" sz="840" dirty="0"/>
          </a:p>
        </p:txBody>
      </p:sp>
      <p:sp>
        <p:nvSpPr>
          <p:cNvPr id="24" name="Shape 21"/>
          <p:cNvSpPr/>
          <p:nvPr/>
        </p:nvSpPr>
        <p:spPr>
          <a:xfrm>
            <a:off x="9226518" y="3639312"/>
            <a:ext cx="0" cy="100584"/>
          </a:xfrm>
          <a:prstGeom prst="line">
            <a:avLst/>
          </a:prstGeom>
          <a:noFill/>
          <a:ln w="11430">
            <a:solidFill>
              <a:srgbClr val="8A93B8"/>
            </a:solidFill>
            <a:prstDash val="solid"/>
          </a:ln>
        </p:spPr>
      </p:sp>
      <p:sp>
        <p:nvSpPr>
          <p:cNvPr id="25" name="Text 22"/>
          <p:cNvSpPr txBox="1"/>
          <p:nvPr/>
        </p:nvSpPr>
        <p:spPr>
          <a:xfrm>
            <a:off x="8933910"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2018</a:t>
            </a:r>
            <a:endParaRPr lang="en-US" sz="840" dirty="0"/>
          </a:p>
        </p:txBody>
      </p:sp>
      <p:sp>
        <p:nvSpPr>
          <p:cNvPr id="26" name="Shape 23"/>
          <p:cNvSpPr/>
          <p:nvPr/>
        </p:nvSpPr>
        <p:spPr>
          <a:xfrm>
            <a:off x="11533327" y="3639312"/>
            <a:ext cx="0" cy="100584"/>
          </a:xfrm>
          <a:prstGeom prst="line">
            <a:avLst/>
          </a:prstGeom>
          <a:noFill/>
          <a:ln w="11430">
            <a:solidFill>
              <a:srgbClr val="8A93B8"/>
            </a:solidFill>
            <a:prstDash val="solid"/>
          </a:ln>
        </p:spPr>
      </p:sp>
      <p:sp>
        <p:nvSpPr>
          <p:cNvPr id="27" name="Text 24"/>
          <p:cNvSpPr txBox="1"/>
          <p:nvPr/>
        </p:nvSpPr>
        <p:spPr>
          <a:xfrm>
            <a:off x="11240719" y="3776472"/>
            <a:ext cx="585216" cy="237744"/>
          </a:xfrm>
          <a:prstGeom prst="rect">
            <a:avLst/>
          </a:prstGeom>
          <a:noFill/>
          <a:ln/>
        </p:spPr>
        <p:txBody>
          <a:bodyPr wrap="square" lIns="0" tIns="0" rIns="0" bIns="0" rtlCol="0" anchor="t"/>
          <a:lstStyle/>
          <a:p>
            <a:pPr algn="ctr" indent="0" marL="0">
              <a:lnSpc>
                <a:spcPts val="1176"/>
              </a:lnSpc>
              <a:buNone/>
            </a:pPr>
            <a:r>
              <a:rPr lang="en-US" sz="840" spc="90" kern="0" dirty="0">
                <a:solidFill>
                  <a:srgbClr val="8A93B8"/>
                </a:solidFill>
                <a:latin typeface="Courier New" pitchFamily="34" charset="0"/>
                <a:ea typeface="Courier New" pitchFamily="34" charset="-122"/>
                <a:cs typeface="Courier New" pitchFamily="34" charset="-120"/>
              </a:rPr>
              <a:t>2025</a:t>
            </a:r>
            <a:endParaRPr lang="en-US" sz="840" dirty="0"/>
          </a:p>
        </p:txBody>
      </p:sp>
      <p:sp>
        <p:nvSpPr>
          <p:cNvPr id="28" name="Text 25"/>
          <p:cNvSpPr txBox="1"/>
          <p:nvPr/>
        </p:nvSpPr>
        <p:spPr>
          <a:xfrm>
            <a:off x="658368" y="4206240"/>
            <a:ext cx="10874959" cy="237744"/>
          </a:xfrm>
          <a:prstGeom prst="rect">
            <a:avLst/>
          </a:prstGeom>
          <a:noFill/>
          <a:ln/>
        </p:spPr>
        <p:txBody>
          <a:bodyPr wrap="square" lIns="0" tIns="0" rIns="0" bIns="0" rtlCol="0" anchor="t"/>
          <a:lstStyle/>
          <a:p>
            <a:pPr algn="ctr" indent="0" marL="0">
              <a:lnSpc>
                <a:spcPts val="1750"/>
              </a:lnSpc>
              <a:buNone/>
            </a:pPr>
            <a:r>
              <a:rPr lang="en-US" sz="1250" i="1" dirty="0">
                <a:solidFill>
                  <a:srgbClr val="C8CBDA"/>
                </a:solidFill>
                <a:latin typeface="Cambria" pitchFamily="34" charset="0"/>
                <a:ea typeface="Cambria" pitchFamily="34" charset="-122"/>
                <a:cs typeface="Cambria" pitchFamily="34" charset="-120"/>
              </a:rPr>
              <a:t>Everything we claim is measured to the right of the wall. Nothing the model saw is used to score it.</a:t>
            </a:r>
            <a:endParaRPr lang="en-US" sz="1250" dirty="0"/>
          </a:p>
        </p:txBody>
      </p:sp>
      <p:sp>
        <p:nvSpPr>
          <p:cNvPr id="29" name="Text 26"/>
          <p:cNvSpPr txBox="1"/>
          <p:nvPr/>
        </p:nvSpPr>
        <p:spPr>
          <a:xfrm>
            <a:off x="658368" y="5230368"/>
            <a:ext cx="2011680" cy="329184"/>
          </a:xfrm>
          <a:prstGeom prst="rect">
            <a:avLst/>
          </a:prstGeom>
          <a:noFill/>
          <a:ln/>
        </p:spPr>
        <p:txBody>
          <a:bodyPr wrap="square" lIns="0" tIns="0" rIns="0" bIns="0" rtlCol="0" anchor="ctr"/>
          <a:lstStyle/>
          <a:p>
            <a:pPr indent="0" marL="0">
              <a:buNone/>
            </a:pPr>
            <a:r>
              <a:rPr lang="en-US" sz="1300" b="1" spc="50" kern="0" dirty="0">
                <a:solidFill>
                  <a:srgbClr val="FAF8F4"/>
                </a:solidFill>
                <a:latin typeface="Courier New" pitchFamily="34" charset="0"/>
                <a:ea typeface="Courier New" pitchFamily="34" charset="-122"/>
                <a:cs typeface="Courier New" pitchFamily="34" charset="-120"/>
              </a:rPr>
              <a:t>MAE 0.7</a:t>
            </a:r>
            <a:endParaRPr lang="en-US" sz="1300" dirty="0"/>
          </a:p>
        </p:txBody>
      </p:sp>
      <p:sp>
        <p:nvSpPr>
          <p:cNvPr id="30" name="Text 27"/>
          <p:cNvSpPr txBox="1"/>
          <p:nvPr/>
        </p:nvSpPr>
        <p:spPr>
          <a:xfrm>
            <a:off x="2761488" y="5266944"/>
            <a:ext cx="2926080" cy="548640"/>
          </a:xfrm>
          <a:prstGeom prst="rect">
            <a:avLst/>
          </a:prstGeom>
          <a:noFill/>
          <a:ln/>
        </p:spPr>
        <p:txBody>
          <a:bodyPr wrap="square" lIns="0" tIns="0" rIns="0" bIns="0" rtlCol="0" anchor="t"/>
          <a:lstStyle/>
          <a:p>
            <a:pPr indent="0" marL="0">
              <a:lnSpc>
                <a:spcPts val="1500"/>
              </a:lnSpc>
              <a:buNone/>
            </a:pPr>
            <a:r>
              <a:rPr lang="en-US" sz="1100" dirty="0">
                <a:solidFill>
                  <a:srgbClr val="8A93B8"/>
                </a:solidFill>
                <a:latin typeface="Cambria" pitchFamily="34" charset="0"/>
                <a:ea typeface="Cambria" pitchFamily="34" charset="-122"/>
                <a:cs typeface="Cambria" pitchFamily="34" charset="-120"/>
              </a:rPr>
              <a:t>rating steps of error on years it never saw</a:t>
            </a:r>
            <a:endParaRPr lang="en-US" sz="1100" dirty="0"/>
          </a:p>
        </p:txBody>
      </p:sp>
      <p:sp>
        <p:nvSpPr>
          <p:cNvPr id="31" name="Text 28"/>
          <p:cNvSpPr txBox="1"/>
          <p:nvPr/>
        </p:nvSpPr>
        <p:spPr>
          <a:xfrm>
            <a:off x="5779008" y="5230368"/>
            <a:ext cx="2011680" cy="329184"/>
          </a:xfrm>
          <a:prstGeom prst="rect">
            <a:avLst/>
          </a:prstGeom>
          <a:noFill/>
          <a:ln/>
        </p:spPr>
        <p:txBody>
          <a:bodyPr wrap="square" lIns="0" tIns="0" rIns="0" bIns="0" rtlCol="0" anchor="ctr"/>
          <a:lstStyle/>
          <a:p>
            <a:pPr indent="0" marL="0">
              <a:buNone/>
            </a:pPr>
            <a:r>
              <a:rPr lang="en-US" sz="1300" b="1" spc="50" kern="0" dirty="0">
                <a:solidFill>
                  <a:srgbClr val="FAF8F4"/>
                </a:solidFill>
                <a:latin typeface="Courier New" pitchFamily="34" charset="0"/>
                <a:ea typeface="Courier New" pitchFamily="34" charset="-122"/>
                <a:cs typeface="Courier New" pitchFamily="34" charset="-120"/>
              </a:rPr>
              <a:t>89% / 90%</a:t>
            </a:r>
            <a:endParaRPr lang="en-US" sz="1300" dirty="0"/>
          </a:p>
        </p:txBody>
      </p:sp>
      <p:sp>
        <p:nvSpPr>
          <p:cNvPr id="32" name="Text 29"/>
          <p:cNvSpPr txBox="1"/>
          <p:nvPr/>
        </p:nvSpPr>
        <p:spPr>
          <a:xfrm>
            <a:off x="7882128" y="5266944"/>
            <a:ext cx="2926080" cy="548640"/>
          </a:xfrm>
          <a:prstGeom prst="rect">
            <a:avLst/>
          </a:prstGeom>
          <a:noFill/>
          <a:ln/>
        </p:spPr>
        <p:txBody>
          <a:bodyPr wrap="square" lIns="0" tIns="0" rIns="0" bIns="0" rtlCol="0" anchor="t"/>
          <a:lstStyle/>
          <a:p>
            <a:pPr indent="0" marL="0">
              <a:lnSpc>
                <a:spcPts val="1500"/>
              </a:lnSpc>
              <a:buNone/>
            </a:pPr>
            <a:r>
              <a:rPr lang="en-US" sz="1100" dirty="0">
                <a:solidFill>
                  <a:srgbClr val="8A93B8"/>
                </a:solidFill>
                <a:latin typeface="Cambria" pitchFamily="34" charset="0"/>
                <a:ea typeface="Cambria" pitchFamily="34" charset="-122"/>
                <a:cs typeface="Cambria" pitchFamily="34" charset="-120"/>
              </a:rPr>
              <a:t>conformal coverage against target — reported short, not retuned</a:t>
            </a:r>
            <a:endParaRPr lang="en-US" sz="11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2_contour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0292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08 / ONE REAL STRUCTURE</a:t>
            </a:r>
            <a:endParaRPr lang="en-US" sz="950" dirty="0"/>
          </a:p>
        </p:txBody>
      </p:sp>
      <p:sp>
        <p:nvSpPr>
          <p:cNvPr id="4" name="Text 1"/>
          <p:cNvSpPr txBox="1"/>
          <p:nvPr/>
        </p:nvSpPr>
        <p:spPr>
          <a:xfrm>
            <a:off x="658368" y="822960"/>
            <a:ext cx="4709160" cy="1600200"/>
          </a:xfrm>
          <a:prstGeom prst="rect">
            <a:avLst/>
          </a:prstGeom>
          <a:noFill/>
          <a:ln/>
        </p:spPr>
        <p:txBody>
          <a:bodyPr wrap="square" lIns="0" tIns="0" rIns="0" bIns="0" rtlCol="0" anchor="t"/>
          <a:lstStyle/>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The record called this bridge good</a:t>
            </a:r>
            <a:endParaRPr lang="en-US" sz="2300" dirty="0"/>
          </a:p>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for years. The physics disagreed</a:t>
            </a:r>
            <a:endParaRPr lang="en-US" sz="2300" dirty="0"/>
          </a:p>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the whole time.</a:t>
            </a:r>
            <a:endParaRPr lang="en-US" sz="2300" dirty="0"/>
          </a:p>
        </p:txBody>
      </p:sp>
      <p:pic>
        <p:nvPicPr>
          <p:cNvPr id="5" name="Image 1" descr="/Users/arockia/Downloads/dissent/pitch/shots/prepped/exhibit_a.png">    </p:cNvPr>
          <p:cNvPicPr>
            <a:picLocks noChangeAspect="1"/>
          </p:cNvPicPr>
          <p:nvPr/>
        </p:nvPicPr>
        <p:blipFill>
          <a:blip r:embed="rId2"/>
          <a:stretch>
            <a:fillRect/>
          </a:stretch>
        </p:blipFill>
        <p:spPr>
          <a:xfrm>
            <a:off x="5532120" y="1371600"/>
            <a:ext cx="6001207" cy="3750754"/>
          </a:xfrm>
          <a:prstGeom prst="rect">
            <a:avLst/>
          </a:prstGeom>
          <a:effectLst>
            <a:outerShdw sx="100000" sy="100000" kx="0" ky="0" algn="bl" rotWithShape="0" blurRad="228600" dist="63500" dir="5400000">
              <a:srgbClr val="000000">
                <a:alpha val="55000"/>
              </a:srgbClr>
            </a:outerShdw>
          </a:effectLst>
        </p:spPr>
      </p:pic>
      <p:sp>
        <p:nvSpPr>
          <p:cNvPr id="6" name="Text 2"/>
          <p:cNvSpPr txBox="1"/>
          <p:nvPr/>
        </p:nvSpPr>
        <p:spPr>
          <a:xfrm>
            <a:off x="658368" y="2395728"/>
            <a:ext cx="2926080" cy="219456"/>
          </a:xfrm>
          <a:prstGeom prst="rect">
            <a:avLst/>
          </a:prstGeom>
          <a:noFill/>
          <a:ln/>
        </p:spPr>
        <p:txBody>
          <a:bodyPr wrap="square" lIns="0" tIns="0" rIns="0" bIns="0" rtlCol="0" anchor="ctr"/>
          <a:lstStyle/>
          <a:p>
            <a:pPr indent="0" marL="0">
              <a:buNone/>
            </a:pPr>
            <a:r>
              <a:rPr lang="en-US" sz="840" b="1" spc="110" kern="0" dirty="0">
                <a:solidFill>
                  <a:srgbClr val="8A93B8"/>
                </a:solidFill>
                <a:latin typeface="Courier New" pitchFamily="34" charset="0"/>
                <a:ea typeface="Courier New" pitchFamily="34" charset="-122"/>
                <a:cs typeface="Courier New" pitchFamily="34" charset="-120"/>
              </a:rPr>
              <a:t>THE RECORD SAID</a:t>
            </a:r>
            <a:endParaRPr lang="en-US" sz="840" dirty="0"/>
          </a:p>
        </p:txBody>
      </p:sp>
      <p:sp>
        <p:nvSpPr>
          <p:cNvPr id="7" name="Shape 3"/>
          <p:cNvSpPr/>
          <p:nvPr/>
        </p:nvSpPr>
        <p:spPr>
          <a:xfrm>
            <a:off x="658368" y="2670048"/>
            <a:ext cx="603504" cy="566928"/>
          </a:xfrm>
          <a:prstGeom prst="rect">
            <a:avLst/>
          </a:prstGeom>
          <a:solidFill>
            <a:srgbClr val="8A6420"/>
          </a:solidFill>
          <a:ln/>
        </p:spPr>
      </p:sp>
      <p:sp>
        <p:nvSpPr>
          <p:cNvPr id="8" name="Text 4"/>
          <p:cNvSpPr txBox="1"/>
          <p:nvPr/>
        </p:nvSpPr>
        <p:spPr>
          <a:xfrm>
            <a:off x="658368" y="2706624"/>
            <a:ext cx="603504"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8</a:t>
            </a:r>
            <a:endParaRPr lang="en-US" sz="2600" dirty="0"/>
          </a:p>
        </p:txBody>
      </p:sp>
      <p:sp>
        <p:nvSpPr>
          <p:cNvPr id="9" name="Text 5"/>
          <p:cNvSpPr txBox="1"/>
          <p:nvPr/>
        </p:nvSpPr>
        <p:spPr>
          <a:xfrm>
            <a:off x="1444752" y="2743200"/>
            <a:ext cx="3840480" cy="457200"/>
          </a:xfrm>
          <a:prstGeom prst="rect">
            <a:avLst/>
          </a:prstGeom>
          <a:noFill/>
          <a:ln/>
        </p:spPr>
        <p:txBody>
          <a:bodyPr wrap="square" lIns="0" tIns="0" rIns="0" bIns="0" rtlCol="0" anchor="t"/>
          <a:lstStyle/>
          <a:p>
            <a:pPr indent="0" marL="0">
              <a:lnSpc>
                <a:spcPts val="1550"/>
              </a:lnSpc>
              <a:buNone/>
            </a:pPr>
            <a:r>
              <a:rPr lang="en-US" sz="1150" i="1" dirty="0">
                <a:solidFill>
                  <a:srgbClr val="C8CBDA"/>
                </a:solidFill>
                <a:latin typeface="Cambria" pitchFamily="34" charset="0"/>
                <a:ea typeface="Cambria" pitchFamily="34" charset="-122"/>
                <a:cs typeface="Cambria" pitchFamily="34" charset="-120"/>
              </a:rPr>
              <a:t>a good rating, filed and re-filed</a:t>
            </a:r>
            <a:endParaRPr lang="en-US" sz="1150" dirty="0"/>
          </a:p>
        </p:txBody>
      </p:sp>
      <p:sp>
        <p:nvSpPr>
          <p:cNvPr id="10" name="Text 6"/>
          <p:cNvSpPr txBox="1"/>
          <p:nvPr/>
        </p:nvSpPr>
        <p:spPr>
          <a:xfrm>
            <a:off x="658368" y="3529584"/>
            <a:ext cx="2926080" cy="219456"/>
          </a:xfrm>
          <a:prstGeom prst="rect">
            <a:avLst/>
          </a:prstGeom>
          <a:noFill/>
          <a:ln/>
        </p:spPr>
        <p:txBody>
          <a:bodyPr wrap="square" lIns="0" tIns="0" rIns="0" bIns="0" rtlCol="0" anchor="ctr"/>
          <a:lstStyle/>
          <a:p>
            <a:pPr indent="0" marL="0">
              <a:buNone/>
            </a:pPr>
            <a:r>
              <a:rPr lang="en-US" sz="840" b="1" spc="110" kern="0" dirty="0">
                <a:solidFill>
                  <a:srgbClr val="8A93B8"/>
                </a:solidFill>
                <a:latin typeface="Courier New" pitchFamily="34" charset="0"/>
                <a:ea typeface="Courier New" pitchFamily="34" charset="-122"/>
                <a:cs typeface="Courier New" pitchFamily="34" charset="-120"/>
              </a:rPr>
              <a:t>PHYSICS SAID</a:t>
            </a:r>
            <a:endParaRPr lang="en-US" sz="840" dirty="0"/>
          </a:p>
        </p:txBody>
      </p:sp>
      <p:sp>
        <p:nvSpPr>
          <p:cNvPr id="11" name="Shape 7"/>
          <p:cNvSpPr/>
          <p:nvPr/>
        </p:nvSpPr>
        <p:spPr>
          <a:xfrm>
            <a:off x="658368" y="3803904"/>
            <a:ext cx="603504" cy="566928"/>
          </a:xfrm>
          <a:prstGeom prst="rect">
            <a:avLst/>
          </a:prstGeom>
          <a:solidFill>
            <a:srgbClr val="3A5CA8"/>
          </a:solidFill>
          <a:ln/>
        </p:spPr>
      </p:sp>
      <p:sp>
        <p:nvSpPr>
          <p:cNvPr id="12" name="Text 8"/>
          <p:cNvSpPr txBox="1"/>
          <p:nvPr/>
        </p:nvSpPr>
        <p:spPr>
          <a:xfrm>
            <a:off x="658368" y="3840480"/>
            <a:ext cx="603504"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6</a:t>
            </a:r>
            <a:endParaRPr lang="en-US" sz="2600" dirty="0"/>
          </a:p>
        </p:txBody>
      </p:sp>
      <p:sp>
        <p:nvSpPr>
          <p:cNvPr id="13" name="Text 9"/>
          <p:cNvSpPr txBox="1"/>
          <p:nvPr/>
        </p:nvSpPr>
        <p:spPr>
          <a:xfrm>
            <a:off x="1444752" y="3877056"/>
            <a:ext cx="3840480" cy="457200"/>
          </a:xfrm>
          <a:prstGeom prst="rect">
            <a:avLst/>
          </a:prstGeom>
          <a:noFill/>
          <a:ln/>
        </p:spPr>
        <p:txBody>
          <a:bodyPr wrap="square" lIns="0" tIns="0" rIns="0" bIns="0" rtlCol="0" anchor="t"/>
          <a:lstStyle/>
          <a:p>
            <a:pPr indent="0" marL="0">
              <a:lnSpc>
                <a:spcPts val="1550"/>
              </a:lnSpc>
              <a:buNone/>
            </a:pPr>
            <a:r>
              <a:rPr lang="en-US" sz="1150" i="1" dirty="0">
                <a:solidFill>
                  <a:srgbClr val="C8CBDA"/>
                </a:solidFill>
                <a:latin typeface="Cambria" pitchFamily="34" charset="0"/>
                <a:ea typeface="Cambria" pitchFamily="34" charset="-122"/>
                <a:cs typeface="Cambria" pitchFamily="34" charset="-120"/>
              </a:rPr>
              <a:t>from age, traffic and weather alone</a:t>
            </a:r>
            <a:endParaRPr lang="en-US" sz="1150" dirty="0"/>
          </a:p>
        </p:txBody>
      </p:sp>
      <p:sp>
        <p:nvSpPr>
          <p:cNvPr id="14" name="Text 10"/>
          <p:cNvSpPr txBox="1"/>
          <p:nvPr/>
        </p:nvSpPr>
        <p:spPr>
          <a:xfrm>
            <a:off x="658368" y="4663440"/>
            <a:ext cx="2926080" cy="219456"/>
          </a:xfrm>
          <a:prstGeom prst="rect">
            <a:avLst/>
          </a:prstGeom>
          <a:noFill/>
          <a:ln/>
        </p:spPr>
        <p:txBody>
          <a:bodyPr wrap="square" lIns="0" tIns="0" rIns="0" bIns="0" rtlCol="0" anchor="ctr"/>
          <a:lstStyle/>
          <a:p>
            <a:pPr indent="0" marL="0">
              <a:buNone/>
            </a:pPr>
            <a:r>
              <a:rPr lang="en-US" sz="840" b="1" spc="110" kern="0" dirty="0">
                <a:solidFill>
                  <a:srgbClr val="8A93B8"/>
                </a:solidFill>
                <a:latin typeface="Courier New" pitchFamily="34" charset="0"/>
                <a:ea typeface="Courier New" pitchFamily="34" charset="-122"/>
                <a:cs typeface="Courier New" pitchFamily="34" charset="-120"/>
              </a:rPr>
              <a:t>IN 2025 THEY FILED</a:t>
            </a:r>
            <a:endParaRPr lang="en-US" sz="840" dirty="0"/>
          </a:p>
        </p:txBody>
      </p:sp>
      <p:sp>
        <p:nvSpPr>
          <p:cNvPr id="15" name="Shape 11"/>
          <p:cNvSpPr/>
          <p:nvPr/>
        </p:nvSpPr>
        <p:spPr>
          <a:xfrm>
            <a:off x="658368" y="4937760"/>
            <a:ext cx="603504" cy="566928"/>
          </a:xfrm>
          <a:prstGeom prst="rect">
            <a:avLst/>
          </a:prstGeom>
          <a:solidFill>
            <a:srgbClr val="C6283C"/>
          </a:solidFill>
          <a:ln/>
        </p:spPr>
      </p:sp>
      <p:sp>
        <p:nvSpPr>
          <p:cNvPr id="16" name="Text 12"/>
          <p:cNvSpPr txBox="1"/>
          <p:nvPr/>
        </p:nvSpPr>
        <p:spPr>
          <a:xfrm>
            <a:off x="658368" y="4974336"/>
            <a:ext cx="603504" cy="51206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3</a:t>
            </a:r>
            <a:endParaRPr lang="en-US" sz="2600" dirty="0"/>
          </a:p>
        </p:txBody>
      </p:sp>
      <p:sp>
        <p:nvSpPr>
          <p:cNvPr id="17" name="Text 13"/>
          <p:cNvSpPr txBox="1"/>
          <p:nvPr/>
        </p:nvSpPr>
        <p:spPr>
          <a:xfrm>
            <a:off x="1444752" y="5010912"/>
            <a:ext cx="3840480" cy="457200"/>
          </a:xfrm>
          <a:prstGeom prst="rect">
            <a:avLst/>
          </a:prstGeom>
          <a:noFill/>
          <a:ln/>
        </p:spPr>
        <p:txBody>
          <a:bodyPr wrap="square" lIns="0" tIns="0" rIns="0" bIns="0" rtlCol="0" anchor="t"/>
          <a:lstStyle/>
          <a:p>
            <a:pPr indent="0" marL="0">
              <a:lnSpc>
                <a:spcPts val="1550"/>
              </a:lnSpc>
              <a:buNone/>
            </a:pPr>
            <a:r>
              <a:rPr lang="en-US" sz="1150" i="1" dirty="0">
                <a:solidFill>
                  <a:srgbClr val="C8CBDA"/>
                </a:solidFill>
                <a:latin typeface="Cambria" pitchFamily="34" charset="0"/>
                <a:ea typeface="Cambria" pitchFamily="34" charset="-122"/>
                <a:cs typeface="Cambria" pitchFamily="34" charset="-120"/>
              </a:rPr>
              <a:t>poor. The record had caught up.</a:t>
            </a:r>
            <a:endParaRPr lang="en-US" sz="1150" dirty="0"/>
          </a:p>
        </p:txBody>
      </p:sp>
      <p:sp>
        <p:nvSpPr>
          <p:cNvPr id="18" name="Shape 14"/>
          <p:cNvSpPr/>
          <p:nvPr/>
        </p:nvSpPr>
        <p:spPr>
          <a:xfrm>
            <a:off x="658368" y="5806440"/>
            <a:ext cx="4663440" cy="475488"/>
          </a:xfrm>
          <a:prstGeom prst="rect">
            <a:avLst/>
          </a:prstGeom>
          <a:solidFill>
            <a:srgbClr val="C6283C">
              <a:alpha val="22000"/>
            </a:srgbClr>
          </a:solidFill>
          <a:ln w="12700">
            <a:solidFill>
              <a:srgbClr val="C6283C"/>
            </a:solidFill>
            <a:prstDash val="solid"/>
          </a:ln>
        </p:spPr>
      </p:sp>
      <p:sp>
        <p:nvSpPr>
          <p:cNvPr id="19" name="Text 15"/>
          <p:cNvSpPr txBox="1"/>
          <p:nvPr/>
        </p:nvSpPr>
        <p:spPr>
          <a:xfrm>
            <a:off x="804672" y="5907024"/>
            <a:ext cx="4389120" cy="292608"/>
          </a:xfrm>
          <a:prstGeom prst="rect">
            <a:avLst/>
          </a:prstGeom>
          <a:noFill/>
          <a:ln/>
        </p:spPr>
        <p:txBody>
          <a:bodyPr wrap="square" lIns="0" tIns="0" rIns="0" bIns="0" rtlCol="0" anchor="ctr"/>
          <a:lstStyle/>
          <a:p>
            <a:pPr indent="0" marL="0">
              <a:buNone/>
            </a:pPr>
            <a:r>
              <a:rPr lang="en-US" sz="1250" b="1" dirty="0">
                <a:solidFill>
                  <a:srgbClr val="FAF8F4"/>
                </a:solidFill>
                <a:latin typeface="Cambria" pitchFamily="34" charset="0"/>
                <a:ea typeface="Cambria" pitchFamily="34" charset="-122"/>
                <a:cs typeface="Cambria" pitchFamily="34" charset="-120"/>
              </a:rPr>
              <a:t>We had it inside the alert budget nine years earlier.</a:t>
            </a:r>
            <a:endParaRPr lang="en-US" sz="1250" dirty="0"/>
          </a:p>
        </p:txBody>
      </p:sp>
      <p:sp>
        <p:nvSpPr>
          <p:cNvPr id="20" name="Text 16"/>
          <p:cNvSpPr txBox="1"/>
          <p:nvPr/>
        </p:nvSpPr>
        <p:spPr>
          <a:xfrm>
            <a:off x="5532120" y="5232083"/>
            <a:ext cx="6001207" cy="384048"/>
          </a:xfrm>
          <a:prstGeom prst="rect">
            <a:avLst/>
          </a:prstGeom>
          <a:noFill/>
          <a:ln/>
        </p:spPr>
        <p:txBody>
          <a:bodyPr wrap="square" lIns="0" tIns="0" rIns="0" bIns="0" rtlCol="0" anchor="t"/>
          <a:lstStyle/>
          <a:p>
            <a:pPr algn="l" indent="0" marL="0">
              <a:lnSpc>
                <a:spcPts val="1491"/>
              </a:lnSpc>
              <a:buNone/>
            </a:pPr>
            <a:r>
              <a:rPr lang="en-US" sz="1050" i="1" dirty="0">
                <a:solidFill>
                  <a:srgbClr val="8A93B8"/>
                </a:solidFill>
                <a:latin typeface="Cambria" pitchFamily="34" charset="0"/>
                <a:ea typeface="Cambria" pitchFamily="34" charset="-122"/>
                <a:cs typeface="Cambria" pitchFamily="34" charset="-120"/>
              </a:rPr>
              <a:t>Exhibit A in the live console, showing this catch alongside a structure we missed.</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5_nation_textur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09 / VALIDATION AT SCALE</a:t>
            </a:r>
            <a:endParaRPr lang="en-US" sz="950" dirty="0"/>
          </a:p>
        </p:txBody>
      </p:sp>
      <p:sp>
        <p:nvSpPr>
          <p:cNvPr id="4" name="Text 1"/>
          <p:cNvSpPr txBox="1"/>
          <p:nvPr/>
        </p:nvSpPr>
        <p:spPr>
          <a:xfrm>
            <a:off x="658368" y="859536"/>
            <a:ext cx="10058400" cy="777240"/>
          </a:xfrm>
          <a:prstGeom prst="rect">
            <a:avLst/>
          </a:prstGeom>
          <a:noFill/>
          <a:ln/>
        </p:spPr>
        <p:txBody>
          <a:bodyPr wrap="square" lIns="0" tIns="0" rIns="0" bIns="0" rtlCol="0" anchor="t"/>
          <a:lstStyle/>
          <a:p>
            <a:pPr indent="0" marL="0">
              <a:lnSpc>
                <a:spcPts val="3294"/>
              </a:lnSpc>
              <a:buNone/>
            </a:pPr>
            <a:r>
              <a:rPr lang="en-US" sz="2700" b="1" dirty="0">
                <a:solidFill>
                  <a:srgbClr val="FAF8F4"/>
                </a:solidFill>
                <a:latin typeface="Cambria" pitchFamily="34" charset="0"/>
                <a:ea typeface="Cambria" pitchFamily="34" charset="-122"/>
                <a:cs typeface="Cambria" pitchFamily="34" charset="-120"/>
              </a:rPr>
              <a:t>Then we hid the answers and did it 166 more times.</a:t>
            </a:r>
            <a:endParaRPr lang="en-US" sz="2700" dirty="0"/>
          </a:p>
        </p:txBody>
      </p:sp>
      <p:sp>
        <p:nvSpPr>
          <p:cNvPr id="5" name="Text 2"/>
          <p:cNvSpPr txBox="1"/>
          <p:nvPr/>
        </p:nvSpPr>
        <p:spPr>
          <a:xfrm>
            <a:off x="658368" y="1682496"/>
            <a:ext cx="7863840" cy="822960"/>
          </a:xfrm>
          <a:prstGeom prst="rect">
            <a:avLst/>
          </a:prstGeom>
          <a:noFill/>
          <a:ln/>
        </p:spPr>
        <p:txBody>
          <a:bodyPr wrap="square" lIns="0" tIns="0" rIns="0" bIns="0" rtlCol="0" anchor="t"/>
          <a:lstStyle/>
          <a:p>
            <a:pPr algn="l" indent="0" marL="0">
              <a:lnSpc>
                <a:spcPts val="2128"/>
              </a:lnSpc>
              <a:buNone/>
            </a:pPr>
            <a:r>
              <a:rPr lang="en-US" sz="1400" dirty="0">
                <a:solidFill>
                  <a:srgbClr val="C8CBDA"/>
                </a:solidFill>
                <a:latin typeface="Cambria" pitchFamily="34" charset="0"/>
                <a:ea typeface="Cambria" pitchFamily="34" charset="-122"/>
                <a:cs typeface="Cambria" pitchFamily="34" charset="-120"/>
              </a:rPr>
              <a:t>We mined 1,835 events where the record was forced to catch up — a rating dropping two or more steps, or a closure. The 166 that happen after 2018 are pure holdout.</a:t>
            </a:r>
            <a:endParaRPr lang="en-US" sz="1400" dirty="0"/>
          </a:p>
        </p:txBody>
      </p:sp>
      <p:sp>
        <p:nvSpPr>
          <p:cNvPr id="6" name="Shape 3"/>
          <p:cNvSpPr/>
          <p:nvPr/>
        </p:nvSpPr>
        <p:spPr>
          <a:xfrm>
            <a:off x="658368" y="2743200"/>
            <a:ext cx="2567864" cy="1737360"/>
          </a:xfrm>
          <a:prstGeom prst="rect">
            <a:avLst/>
          </a:prstGeom>
          <a:solidFill>
            <a:srgbClr val="0F1738">
              <a:alpha val="76000"/>
            </a:srgbClr>
          </a:solidFill>
          <a:ln w="9525">
            <a:solidFill>
              <a:srgbClr val="2A3560"/>
            </a:solidFill>
            <a:prstDash val="solid"/>
          </a:ln>
        </p:spPr>
      </p:sp>
      <p:sp>
        <p:nvSpPr>
          <p:cNvPr id="7" name="Shape 4"/>
          <p:cNvSpPr/>
          <p:nvPr/>
        </p:nvSpPr>
        <p:spPr>
          <a:xfrm>
            <a:off x="658368" y="2743200"/>
            <a:ext cx="2567864" cy="64008"/>
          </a:xfrm>
          <a:prstGeom prst="rect">
            <a:avLst/>
          </a:prstGeom>
          <a:solidFill>
            <a:srgbClr val="FAF8F4"/>
          </a:solidFill>
          <a:ln/>
        </p:spPr>
      </p:sp>
      <p:sp>
        <p:nvSpPr>
          <p:cNvPr id="8" name="Text 5"/>
          <p:cNvSpPr txBox="1"/>
          <p:nvPr/>
        </p:nvSpPr>
        <p:spPr>
          <a:xfrm>
            <a:off x="822960" y="3017520"/>
            <a:ext cx="2238680" cy="603504"/>
          </a:xfrm>
          <a:prstGeom prst="rect">
            <a:avLst/>
          </a:prstGeom>
          <a:noFill/>
          <a:ln/>
        </p:spPr>
        <p:txBody>
          <a:bodyPr wrap="square" lIns="0" tIns="0" rIns="0" bIns="0" rtlCol="0" anchor="ctr"/>
          <a:lstStyle/>
          <a:p>
            <a:pPr indent="0" marL="0">
              <a:buNone/>
            </a:pPr>
            <a:r>
              <a:rPr lang="en-US" sz="2700" b="1" dirty="0">
                <a:solidFill>
                  <a:srgbClr val="FAF8F4"/>
                </a:solidFill>
                <a:latin typeface="Cambria" pitchFamily="34" charset="0"/>
                <a:ea typeface="Cambria" pitchFamily="34" charset="-122"/>
                <a:cs typeface="Cambria" pitchFamily="34" charset="-120"/>
              </a:rPr>
              <a:t>38/166</a:t>
            </a:r>
            <a:endParaRPr lang="en-US" sz="2700" dirty="0"/>
          </a:p>
        </p:txBody>
      </p:sp>
      <p:sp>
        <p:nvSpPr>
          <p:cNvPr id="9" name="Text 6"/>
          <p:cNvSpPr txBox="1"/>
          <p:nvPr/>
        </p:nvSpPr>
        <p:spPr>
          <a:xfrm>
            <a:off x="822960" y="3675888"/>
            <a:ext cx="2238680" cy="731520"/>
          </a:xfrm>
          <a:prstGeom prst="rect">
            <a:avLst/>
          </a:prstGeom>
          <a:noFill/>
          <a:ln/>
        </p:spPr>
        <p:txBody>
          <a:bodyPr wrap="square" lIns="0" tIns="0" rIns="0" bIns="0" rtlCol="0" anchor="t"/>
          <a:lstStyle/>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HELD-OUT FAILURES CAUGHT</a:t>
            </a:r>
            <a:endParaRPr lang="en-US" sz="800" dirty="0"/>
          </a:p>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INSIDE A 15% ALERT BUDGET</a:t>
            </a:r>
            <a:endParaRPr lang="en-US" sz="800" dirty="0"/>
          </a:p>
        </p:txBody>
      </p:sp>
      <p:sp>
        <p:nvSpPr>
          <p:cNvPr id="10" name="Shape 7"/>
          <p:cNvSpPr/>
          <p:nvPr/>
        </p:nvSpPr>
        <p:spPr>
          <a:xfrm>
            <a:off x="3427400" y="2743200"/>
            <a:ext cx="2567864" cy="1737360"/>
          </a:xfrm>
          <a:prstGeom prst="rect">
            <a:avLst/>
          </a:prstGeom>
          <a:solidFill>
            <a:srgbClr val="0F1738">
              <a:alpha val="76000"/>
            </a:srgbClr>
          </a:solidFill>
          <a:ln w="9525">
            <a:solidFill>
              <a:srgbClr val="2A3560"/>
            </a:solidFill>
            <a:prstDash val="solid"/>
          </a:ln>
        </p:spPr>
      </p:sp>
      <p:sp>
        <p:nvSpPr>
          <p:cNvPr id="11" name="Shape 8"/>
          <p:cNvSpPr/>
          <p:nvPr/>
        </p:nvSpPr>
        <p:spPr>
          <a:xfrm>
            <a:off x="3427400" y="2743200"/>
            <a:ext cx="2567864" cy="64008"/>
          </a:xfrm>
          <a:prstGeom prst="rect">
            <a:avLst/>
          </a:prstGeom>
          <a:solidFill>
            <a:srgbClr val="FAF8F4"/>
          </a:solidFill>
          <a:ln/>
        </p:spPr>
      </p:sp>
      <p:sp>
        <p:nvSpPr>
          <p:cNvPr id="12" name="Text 9"/>
          <p:cNvSpPr txBox="1"/>
          <p:nvPr/>
        </p:nvSpPr>
        <p:spPr>
          <a:xfrm>
            <a:off x="3591992" y="3017520"/>
            <a:ext cx="2238680" cy="603504"/>
          </a:xfrm>
          <a:prstGeom prst="rect">
            <a:avLst/>
          </a:prstGeom>
          <a:noFill/>
          <a:ln/>
        </p:spPr>
        <p:txBody>
          <a:bodyPr wrap="square" lIns="0" tIns="0" rIns="0" bIns="0" rtlCol="0" anchor="ctr"/>
          <a:lstStyle/>
          <a:p>
            <a:pPr indent="0" marL="0">
              <a:buNone/>
            </a:pPr>
            <a:r>
              <a:rPr lang="en-US" sz="2700" b="1" dirty="0">
                <a:solidFill>
                  <a:srgbClr val="FAF8F4"/>
                </a:solidFill>
                <a:latin typeface="Cambria" pitchFamily="34" charset="0"/>
                <a:ea typeface="Cambria" pitchFamily="34" charset="-122"/>
                <a:cs typeface="Cambria" pitchFamily="34" charset="-120"/>
              </a:rPr>
              <a:t>23%</a:t>
            </a:r>
            <a:endParaRPr lang="en-US" sz="2700" dirty="0"/>
          </a:p>
        </p:txBody>
      </p:sp>
      <p:sp>
        <p:nvSpPr>
          <p:cNvPr id="13" name="Text 10"/>
          <p:cNvSpPr txBox="1"/>
          <p:nvPr/>
        </p:nvSpPr>
        <p:spPr>
          <a:xfrm>
            <a:off x="3591992" y="3675888"/>
            <a:ext cx="2238680" cy="731520"/>
          </a:xfrm>
          <a:prstGeom prst="rect">
            <a:avLst/>
          </a:prstGeom>
          <a:noFill/>
          <a:ln/>
        </p:spPr>
        <p:txBody>
          <a:bodyPr wrap="square" lIns="0" tIns="0" rIns="0" bIns="0" rtlCol="0" anchor="t"/>
          <a:lstStyle/>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RECALL AT THAT BUDGET</a:t>
            </a:r>
            <a:endParaRPr lang="en-US" sz="800" dirty="0"/>
          </a:p>
        </p:txBody>
      </p:sp>
      <p:sp>
        <p:nvSpPr>
          <p:cNvPr id="14" name="Shape 11"/>
          <p:cNvSpPr/>
          <p:nvPr/>
        </p:nvSpPr>
        <p:spPr>
          <a:xfrm>
            <a:off x="6196432" y="2743200"/>
            <a:ext cx="2567864" cy="1737360"/>
          </a:xfrm>
          <a:prstGeom prst="rect">
            <a:avLst/>
          </a:prstGeom>
          <a:solidFill>
            <a:srgbClr val="0F1738">
              <a:alpha val="76000"/>
            </a:srgbClr>
          </a:solidFill>
          <a:ln w="9525">
            <a:solidFill>
              <a:srgbClr val="2A3560"/>
            </a:solidFill>
            <a:prstDash val="solid"/>
          </a:ln>
        </p:spPr>
      </p:sp>
      <p:sp>
        <p:nvSpPr>
          <p:cNvPr id="15" name="Shape 12"/>
          <p:cNvSpPr/>
          <p:nvPr/>
        </p:nvSpPr>
        <p:spPr>
          <a:xfrm>
            <a:off x="6196432" y="2743200"/>
            <a:ext cx="2567864" cy="64008"/>
          </a:xfrm>
          <a:prstGeom prst="rect">
            <a:avLst/>
          </a:prstGeom>
          <a:solidFill>
            <a:srgbClr val="E4607A"/>
          </a:solidFill>
          <a:ln/>
        </p:spPr>
      </p:sp>
      <p:sp>
        <p:nvSpPr>
          <p:cNvPr id="16" name="Text 13"/>
          <p:cNvSpPr txBox="1"/>
          <p:nvPr/>
        </p:nvSpPr>
        <p:spPr>
          <a:xfrm>
            <a:off x="6361024" y="3017520"/>
            <a:ext cx="2238680" cy="603504"/>
          </a:xfrm>
          <a:prstGeom prst="rect">
            <a:avLst/>
          </a:prstGeom>
          <a:noFill/>
          <a:ln/>
        </p:spPr>
        <p:txBody>
          <a:bodyPr wrap="square" lIns="0" tIns="0" rIns="0" bIns="0" rtlCol="0" anchor="ctr"/>
          <a:lstStyle/>
          <a:p>
            <a:pPr indent="0" marL="0">
              <a:buNone/>
            </a:pPr>
            <a:r>
              <a:rPr lang="en-US" sz="2700" b="1" dirty="0">
                <a:solidFill>
                  <a:srgbClr val="E4607A"/>
                </a:solidFill>
                <a:latin typeface="Cambria" pitchFamily="34" charset="0"/>
                <a:ea typeface="Cambria" pitchFamily="34" charset="-122"/>
                <a:cs typeface="Cambria" pitchFamily="34" charset="-120"/>
              </a:rPr>
              <a:t>3.5 yrs</a:t>
            </a:r>
            <a:endParaRPr lang="en-US" sz="2700" dirty="0"/>
          </a:p>
        </p:txBody>
      </p:sp>
      <p:sp>
        <p:nvSpPr>
          <p:cNvPr id="17" name="Text 14"/>
          <p:cNvSpPr txBox="1"/>
          <p:nvPr/>
        </p:nvSpPr>
        <p:spPr>
          <a:xfrm>
            <a:off x="6361024" y="3675888"/>
            <a:ext cx="2238680" cy="731520"/>
          </a:xfrm>
          <a:prstGeom prst="rect">
            <a:avLst/>
          </a:prstGeom>
          <a:noFill/>
          <a:ln/>
        </p:spPr>
        <p:txBody>
          <a:bodyPr wrap="square" lIns="0" tIns="0" rIns="0" bIns="0" rtlCol="0" anchor="t"/>
          <a:lstStyle/>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MEDIAN WARNING BEFORE</a:t>
            </a:r>
            <a:endParaRPr lang="en-US" sz="800" dirty="0"/>
          </a:p>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THE RECORD MOVED</a:t>
            </a:r>
            <a:endParaRPr lang="en-US" sz="800" dirty="0"/>
          </a:p>
        </p:txBody>
      </p:sp>
      <p:sp>
        <p:nvSpPr>
          <p:cNvPr id="18" name="Shape 15"/>
          <p:cNvSpPr/>
          <p:nvPr/>
        </p:nvSpPr>
        <p:spPr>
          <a:xfrm>
            <a:off x="8965463" y="2743200"/>
            <a:ext cx="2567864" cy="1737360"/>
          </a:xfrm>
          <a:prstGeom prst="rect">
            <a:avLst/>
          </a:prstGeom>
          <a:solidFill>
            <a:srgbClr val="0F1738">
              <a:alpha val="76000"/>
            </a:srgbClr>
          </a:solidFill>
          <a:ln w="9525">
            <a:solidFill>
              <a:srgbClr val="2A3560"/>
            </a:solidFill>
            <a:prstDash val="solid"/>
          </a:ln>
        </p:spPr>
      </p:sp>
      <p:sp>
        <p:nvSpPr>
          <p:cNvPr id="19" name="Shape 16"/>
          <p:cNvSpPr/>
          <p:nvPr/>
        </p:nvSpPr>
        <p:spPr>
          <a:xfrm>
            <a:off x="8965463" y="2743200"/>
            <a:ext cx="2567864" cy="64008"/>
          </a:xfrm>
          <a:prstGeom prst="rect">
            <a:avLst/>
          </a:prstGeom>
          <a:solidFill>
            <a:srgbClr val="C6283C"/>
          </a:solidFill>
          <a:ln/>
        </p:spPr>
      </p:sp>
      <p:sp>
        <p:nvSpPr>
          <p:cNvPr id="20" name="Text 17"/>
          <p:cNvSpPr txBox="1"/>
          <p:nvPr/>
        </p:nvSpPr>
        <p:spPr>
          <a:xfrm>
            <a:off x="9130055" y="3017520"/>
            <a:ext cx="2238680" cy="603504"/>
          </a:xfrm>
          <a:prstGeom prst="rect">
            <a:avLst/>
          </a:prstGeom>
          <a:noFill/>
          <a:ln/>
        </p:spPr>
        <p:txBody>
          <a:bodyPr wrap="square" lIns="0" tIns="0" rIns="0" bIns="0" rtlCol="0" anchor="ctr"/>
          <a:lstStyle/>
          <a:p>
            <a:pPr indent="0" marL="0">
              <a:buNone/>
            </a:pPr>
            <a:r>
              <a:rPr lang="en-US" sz="2700" b="1" dirty="0">
                <a:solidFill>
                  <a:srgbClr val="C6283C"/>
                </a:solidFill>
                <a:latin typeface="Cambria" pitchFamily="34" charset="0"/>
                <a:ea typeface="Cambria" pitchFamily="34" charset="-122"/>
                <a:cs typeface="Cambria" pitchFamily="34" charset="-120"/>
              </a:rPr>
              <a:t>1.34×</a:t>
            </a:r>
            <a:endParaRPr lang="en-US" sz="2700" dirty="0"/>
          </a:p>
        </p:txBody>
      </p:sp>
      <p:sp>
        <p:nvSpPr>
          <p:cNvPr id="21" name="Text 18"/>
          <p:cNvSpPr txBox="1"/>
          <p:nvPr/>
        </p:nvSpPr>
        <p:spPr>
          <a:xfrm>
            <a:off x="9130055" y="3675888"/>
            <a:ext cx="2238680" cy="731520"/>
          </a:xfrm>
          <a:prstGeom prst="rect">
            <a:avLst/>
          </a:prstGeom>
          <a:noFill/>
          <a:ln/>
        </p:spPr>
        <p:txBody>
          <a:bodyPr wrap="square" lIns="0" tIns="0" rIns="0" bIns="0" rtlCol="0" anchor="t"/>
          <a:lstStyle/>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OVER A RATING-MATCHED BLIND PICK</a:t>
            </a:r>
            <a:endParaRPr lang="en-US" sz="800" dirty="0"/>
          </a:p>
          <a:p>
            <a:pPr indent="0" marL="0">
              <a:lnSpc>
                <a:spcPts val="1150"/>
              </a:lnSpc>
              <a:buNone/>
            </a:pPr>
            <a:r>
              <a:rPr lang="en-US" sz="800" spc="70" kern="0" dirty="0">
                <a:solidFill>
                  <a:srgbClr val="8A93B8"/>
                </a:solidFill>
                <a:latin typeface="Courier New" pitchFamily="34" charset="0"/>
                <a:ea typeface="Courier New" pitchFamily="34" charset="-122"/>
                <a:cs typeface="Courier New" pitchFamily="34" charset="-120"/>
              </a:rPr>
              <a:t>95% CI 0.99 – 1.73</a:t>
            </a:r>
            <a:endParaRPr lang="en-US" sz="800" dirty="0"/>
          </a:p>
        </p:txBody>
      </p:sp>
      <p:sp>
        <p:nvSpPr>
          <p:cNvPr id="22" name="Shape 19"/>
          <p:cNvSpPr/>
          <p:nvPr/>
        </p:nvSpPr>
        <p:spPr>
          <a:xfrm>
            <a:off x="658368" y="4828032"/>
            <a:ext cx="5300320" cy="1371600"/>
          </a:xfrm>
          <a:prstGeom prst="rect">
            <a:avLst/>
          </a:prstGeom>
          <a:solidFill>
            <a:srgbClr val="0F1738">
              <a:alpha val="82000"/>
            </a:srgbClr>
          </a:solidFill>
          <a:ln w="9525">
            <a:solidFill>
              <a:srgbClr val="2A3560"/>
            </a:solidFill>
            <a:prstDash val="solid"/>
          </a:ln>
        </p:spPr>
      </p:sp>
      <p:sp>
        <p:nvSpPr>
          <p:cNvPr id="23" name="Text 20"/>
          <p:cNvSpPr txBox="1"/>
          <p:nvPr/>
        </p:nvSpPr>
        <p:spPr>
          <a:xfrm>
            <a:off x="896112" y="4992624"/>
            <a:ext cx="484312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WHY A BUDGET AND NOT AN ACCURACY SCORE</a:t>
            </a:r>
            <a:endParaRPr lang="en-US" sz="950" dirty="0"/>
          </a:p>
        </p:txBody>
      </p:sp>
      <p:sp>
        <p:nvSpPr>
          <p:cNvPr id="24" name="Text 21"/>
          <p:cNvSpPr txBox="1"/>
          <p:nvPr/>
        </p:nvSpPr>
        <p:spPr>
          <a:xfrm>
            <a:off x="896112" y="5248656"/>
            <a:ext cx="4824832" cy="822960"/>
          </a:xfrm>
          <a:prstGeom prst="rect">
            <a:avLst/>
          </a:prstGeom>
          <a:noFill/>
          <a:ln/>
        </p:spPr>
        <p:txBody>
          <a:bodyPr wrap="square" lIns="0" tIns="0" rIns="0" bIns="0" rtlCol="0" anchor="t"/>
          <a:lstStyle/>
          <a:p>
            <a:pPr indent="0" marL="0">
              <a:lnSpc>
                <a:spcPts val="1600"/>
              </a:lnSpc>
              <a:buNone/>
            </a:pPr>
            <a:r>
              <a:rPr lang="en-US" sz="1200" dirty="0">
                <a:solidFill>
                  <a:srgbClr val="C8CBDA"/>
                </a:solidFill>
                <a:latin typeface="Cambria" pitchFamily="34" charset="0"/>
                <a:ea typeface="Cambria" pitchFamily="34" charset="-122"/>
                <a:cs typeface="Cambria" pitchFamily="34" charset="-120"/>
              </a:rPr>
              <a:t>A model that flags every bridge catches every failure and helps nobody. We score ours the way an inspection team works: a fixed number of alerts per quarter, and we count only the real failures that land inside it.</a:t>
            </a:r>
            <a:endParaRPr lang="en-US" sz="1200" dirty="0"/>
          </a:p>
        </p:txBody>
      </p:sp>
      <p:sp>
        <p:nvSpPr>
          <p:cNvPr id="25" name="Shape 22"/>
          <p:cNvSpPr/>
          <p:nvPr/>
        </p:nvSpPr>
        <p:spPr>
          <a:xfrm>
            <a:off x="6233008" y="4828032"/>
            <a:ext cx="5300320" cy="1371600"/>
          </a:xfrm>
          <a:prstGeom prst="rect">
            <a:avLst/>
          </a:prstGeom>
          <a:solidFill>
            <a:srgbClr val="C6283C">
              <a:alpha val="12000"/>
            </a:srgbClr>
          </a:solidFill>
          <a:ln w="9525">
            <a:solidFill>
              <a:srgbClr val="C6283C"/>
            </a:solidFill>
            <a:prstDash val="solid"/>
          </a:ln>
        </p:spPr>
      </p:sp>
      <p:sp>
        <p:nvSpPr>
          <p:cNvPr id="26" name="Text 23"/>
          <p:cNvSpPr txBox="1"/>
          <p:nvPr/>
        </p:nvSpPr>
        <p:spPr>
          <a:xfrm>
            <a:off x="6470752" y="4992624"/>
            <a:ext cx="484312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AND THE CAVEAT WE ARE NOT HIDING</a:t>
            </a:r>
            <a:endParaRPr lang="en-US" sz="950" dirty="0"/>
          </a:p>
        </p:txBody>
      </p:sp>
      <p:sp>
        <p:nvSpPr>
          <p:cNvPr id="27" name="Text 24"/>
          <p:cNvSpPr txBox="1"/>
          <p:nvPr/>
        </p:nvSpPr>
        <p:spPr>
          <a:xfrm>
            <a:off x="6470752" y="5248656"/>
            <a:ext cx="4824832" cy="822960"/>
          </a:xfrm>
          <a:prstGeom prst="rect">
            <a:avLst/>
          </a:prstGeom>
          <a:noFill/>
          <a:ln/>
        </p:spPr>
        <p:txBody>
          <a:bodyPr wrap="square" lIns="0" tIns="0" rIns="0" bIns="0" rtlCol="0" anchor="t"/>
          <a:lstStyle/>
          <a:p>
            <a:pPr indent="0" marL="0">
              <a:lnSpc>
                <a:spcPts val="1600"/>
              </a:lnSpc>
              <a:buNone/>
            </a:pPr>
            <a:r>
              <a:rPr lang="en-US" sz="1200" dirty="0">
                <a:solidFill>
                  <a:srgbClr val="F0DDE1"/>
                </a:solidFill>
                <a:latin typeface="Cambria" pitchFamily="34" charset="0"/>
                <a:ea typeface="Cambria" pitchFamily="34" charset="-122"/>
                <a:cs typeface="Cambria" pitchFamily="34" charset="-120"/>
              </a:rPr>
              <a:t>That 1.34× interval runs from 0.99 to 1.73. It includes 1.0, so on 166 events we cannot rule out that the physics witness adds nothing at all. The finding on the next two slides does not depend on it.</a:t>
            </a:r>
            <a:endParaRPr lang="en-US" sz="12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6_crack.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738">
              <a:alpha val="66000"/>
            </a:srgbClr>
          </a:solidFill>
          <a:ln/>
        </p:spPr>
      </p:sp>
      <p:sp>
        <p:nvSpPr>
          <p:cNvPr id="4" name="Text 1"/>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10 / THE CONTROL THAT MATTERS</a:t>
            </a:r>
            <a:endParaRPr lang="en-US" sz="950" dirty="0"/>
          </a:p>
        </p:txBody>
      </p:sp>
      <p:sp>
        <p:nvSpPr>
          <p:cNvPr id="5" name="Text 2"/>
          <p:cNvSpPr txBox="1"/>
          <p:nvPr/>
        </p:nvSpPr>
        <p:spPr>
          <a:xfrm>
            <a:off x="658368" y="859536"/>
            <a:ext cx="5669280" cy="1463040"/>
          </a:xfrm>
          <a:prstGeom prst="rect">
            <a:avLst/>
          </a:prstGeom>
          <a:noFill/>
          <a:ln/>
        </p:spPr>
        <p:txBody>
          <a:bodyPr wrap="square" lIns="0" tIns="0" rIns="0" bIns="0" rtlCol="0" anchor="t"/>
          <a:lstStyle/>
          <a:p>
            <a:pPr indent="0" marL="0">
              <a:lnSpc>
                <a:spcPts val="3660"/>
              </a:lnSpc>
              <a:buNone/>
            </a:pPr>
            <a:r>
              <a:rPr lang="en-US" sz="3000" b="1" dirty="0">
                <a:solidFill>
                  <a:srgbClr val="FAF8F4"/>
                </a:solidFill>
                <a:latin typeface="Cambria" pitchFamily="34" charset="0"/>
                <a:ea typeface="Cambria" pitchFamily="34" charset="-122"/>
                <a:cs typeface="Cambria" pitchFamily="34" charset="-120"/>
              </a:rPr>
              <a:t>Now the obvious objection —</a:t>
            </a:r>
            <a:endParaRPr lang="en-US" sz="3000" dirty="0"/>
          </a:p>
          <a:p>
            <a:pPr indent="0" marL="0">
              <a:lnSpc>
                <a:spcPts val="3660"/>
              </a:lnSpc>
              <a:buNone/>
            </a:pPr>
            <a:r>
              <a:rPr lang="en-US" sz="3000" b="1" dirty="0">
                <a:solidFill>
                  <a:srgbClr val="FAF8F4"/>
                </a:solidFill>
                <a:latin typeface="Cambria" pitchFamily="34" charset="0"/>
                <a:ea typeface="Cambria" pitchFamily="34" charset="-122"/>
                <a:cs typeface="Cambria" pitchFamily="34" charset="-120"/>
              </a:rPr>
              <a:t>and it beats us.</a:t>
            </a:r>
            <a:endParaRPr lang="en-US" sz="3000" dirty="0"/>
          </a:p>
        </p:txBody>
      </p:sp>
      <p:sp>
        <p:nvSpPr>
          <p:cNvPr id="6" name="Text 3"/>
          <p:cNvSpPr txBox="1"/>
          <p:nvPr/>
        </p:nvSpPr>
        <p:spPr>
          <a:xfrm>
            <a:off x="658368" y="2432304"/>
            <a:ext cx="5029200" cy="822960"/>
          </a:xfrm>
          <a:prstGeom prst="rect">
            <a:avLst/>
          </a:prstGeom>
          <a:noFill/>
          <a:ln/>
        </p:spPr>
        <p:txBody>
          <a:bodyPr wrap="square" lIns="0" tIns="0" rIns="0" bIns="0" rtlCol="0" anchor="t"/>
          <a:lstStyle/>
          <a:p>
            <a:pPr algn="l" indent="0" marL="0">
              <a:lnSpc>
                <a:spcPts val="2204"/>
              </a:lnSpc>
              <a:buNone/>
            </a:pPr>
            <a:r>
              <a:rPr lang="en-US" sz="1450" dirty="0">
                <a:solidFill>
                  <a:srgbClr val="C8CBDA"/>
                </a:solidFill>
                <a:latin typeface="Cambria" pitchFamily="34" charset="0"/>
                <a:ea typeface="Cambria" pitchFamily="34" charset="-122"/>
                <a:cs typeface="Cambria" pitchFamily="34" charset="-120"/>
              </a:rPr>
              <a:t>Forget the model. Just sort every bridge by its worst recorded rating and inspect the top 15%. No machine learning at all.</a:t>
            </a:r>
            <a:endParaRPr lang="en-US" sz="1450" dirty="0"/>
          </a:p>
        </p:txBody>
      </p:sp>
      <p:sp>
        <p:nvSpPr>
          <p:cNvPr id="7" name="Shape 4"/>
          <p:cNvSpPr/>
          <p:nvPr/>
        </p:nvSpPr>
        <p:spPr>
          <a:xfrm>
            <a:off x="658368" y="3401568"/>
            <a:ext cx="5120640" cy="1481328"/>
          </a:xfrm>
          <a:prstGeom prst="rect">
            <a:avLst/>
          </a:prstGeom>
          <a:solidFill>
            <a:srgbClr val="0F1738">
              <a:alpha val="88000"/>
            </a:srgbClr>
          </a:solidFill>
          <a:ln w="9525">
            <a:solidFill>
              <a:srgbClr val="2A3560"/>
            </a:solidFill>
            <a:prstDash val="solid"/>
          </a:ln>
        </p:spPr>
      </p:sp>
      <p:sp>
        <p:nvSpPr>
          <p:cNvPr id="8" name="Text 5"/>
          <p:cNvSpPr txBox="1"/>
          <p:nvPr/>
        </p:nvSpPr>
        <p:spPr>
          <a:xfrm>
            <a:off x="914400" y="3639312"/>
            <a:ext cx="3017520" cy="365760"/>
          </a:xfrm>
          <a:prstGeom prst="rect">
            <a:avLst/>
          </a:prstGeom>
          <a:noFill/>
          <a:ln/>
        </p:spPr>
        <p:txBody>
          <a:bodyPr wrap="square" lIns="0" tIns="0" rIns="0" bIns="0" rtlCol="0" anchor="ctr"/>
          <a:lstStyle/>
          <a:p>
            <a:pPr indent="0" marL="0">
              <a:buNone/>
            </a:pPr>
            <a:r>
              <a:rPr lang="en-US" sz="1400" dirty="0">
                <a:solidFill>
                  <a:srgbClr val="FAF8F4"/>
                </a:solidFill>
                <a:latin typeface="Cambria" pitchFamily="34" charset="0"/>
                <a:ea typeface="Cambria" pitchFamily="34" charset="-122"/>
                <a:cs typeface="Cambria" pitchFamily="34" charset="-120"/>
              </a:rPr>
              <a:t>Sort by worst rating</a:t>
            </a:r>
            <a:endParaRPr lang="en-US" sz="1400" dirty="0"/>
          </a:p>
        </p:txBody>
      </p:sp>
      <p:sp>
        <p:nvSpPr>
          <p:cNvPr id="9" name="Text 6"/>
          <p:cNvSpPr txBox="1"/>
          <p:nvPr/>
        </p:nvSpPr>
        <p:spPr>
          <a:xfrm>
            <a:off x="3950208" y="3639312"/>
            <a:ext cx="1554480" cy="365760"/>
          </a:xfrm>
          <a:prstGeom prst="rect">
            <a:avLst/>
          </a:prstGeom>
          <a:noFill/>
          <a:ln/>
        </p:spPr>
        <p:txBody>
          <a:bodyPr wrap="square" lIns="0" tIns="0" rIns="0" bIns="0" rtlCol="0" anchor="ctr"/>
          <a:lstStyle/>
          <a:p>
            <a:pPr algn="r" indent="0" marL="0">
              <a:buNone/>
            </a:pPr>
            <a:r>
              <a:rPr lang="en-US" sz="1500" b="1" dirty="0">
                <a:solidFill>
                  <a:srgbClr val="FAF8F4"/>
                </a:solidFill>
                <a:latin typeface="Courier New" pitchFamily="34" charset="0"/>
                <a:ea typeface="Courier New" pitchFamily="34" charset="-122"/>
                <a:cs typeface="Courier New" pitchFamily="34" charset="-120"/>
              </a:rPr>
              <a:t>40 of 166</a:t>
            </a:r>
            <a:endParaRPr lang="en-US" sz="1500" dirty="0"/>
          </a:p>
        </p:txBody>
      </p:sp>
      <p:sp>
        <p:nvSpPr>
          <p:cNvPr id="10" name="Text 7"/>
          <p:cNvSpPr txBox="1"/>
          <p:nvPr/>
        </p:nvSpPr>
        <p:spPr>
          <a:xfrm>
            <a:off x="914400" y="4206240"/>
            <a:ext cx="3017520" cy="365760"/>
          </a:xfrm>
          <a:prstGeom prst="rect">
            <a:avLst/>
          </a:prstGeom>
          <a:noFill/>
          <a:ln/>
        </p:spPr>
        <p:txBody>
          <a:bodyPr wrap="square" lIns="0" tIns="0" rIns="0" bIns="0" rtlCol="0" anchor="ctr"/>
          <a:lstStyle/>
          <a:p>
            <a:pPr indent="0" marL="0">
              <a:buNone/>
            </a:pPr>
            <a:r>
              <a:rPr lang="en-US" sz="1400" b="1" dirty="0">
                <a:solidFill>
                  <a:srgbClr val="E4607A"/>
                </a:solidFill>
                <a:latin typeface="Cambria" pitchFamily="34" charset="0"/>
                <a:ea typeface="Cambria" pitchFamily="34" charset="-122"/>
                <a:cs typeface="Cambria" pitchFamily="34" charset="-120"/>
              </a:rPr>
              <a:t>DISSENT (ours)</a:t>
            </a:r>
            <a:endParaRPr lang="en-US" sz="1400" dirty="0"/>
          </a:p>
        </p:txBody>
      </p:sp>
      <p:sp>
        <p:nvSpPr>
          <p:cNvPr id="11" name="Text 8"/>
          <p:cNvSpPr txBox="1"/>
          <p:nvPr/>
        </p:nvSpPr>
        <p:spPr>
          <a:xfrm>
            <a:off x="3950208" y="4206240"/>
            <a:ext cx="1554480" cy="365760"/>
          </a:xfrm>
          <a:prstGeom prst="rect">
            <a:avLst/>
          </a:prstGeom>
          <a:noFill/>
          <a:ln/>
        </p:spPr>
        <p:txBody>
          <a:bodyPr wrap="square" lIns="0" tIns="0" rIns="0" bIns="0" rtlCol="0" anchor="ctr"/>
          <a:lstStyle/>
          <a:p>
            <a:pPr algn="r" indent="0" marL="0">
              <a:buNone/>
            </a:pPr>
            <a:r>
              <a:rPr lang="en-US" sz="1500" b="1" dirty="0">
                <a:solidFill>
                  <a:srgbClr val="E4607A"/>
                </a:solidFill>
                <a:latin typeface="Courier New" pitchFamily="34" charset="0"/>
                <a:ea typeface="Courier New" pitchFamily="34" charset="-122"/>
                <a:cs typeface="Courier New" pitchFamily="34" charset="-120"/>
              </a:rPr>
              <a:t>38 of 166</a:t>
            </a:r>
            <a:endParaRPr lang="en-US" sz="1500" dirty="0"/>
          </a:p>
        </p:txBody>
      </p:sp>
      <p:sp>
        <p:nvSpPr>
          <p:cNvPr id="12" name="Text 9"/>
          <p:cNvSpPr txBox="1"/>
          <p:nvPr/>
        </p:nvSpPr>
        <p:spPr>
          <a:xfrm>
            <a:off x="658368" y="4992624"/>
            <a:ext cx="5394960" cy="457200"/>
          </a:xfrm>
          <a:prstGeom prst="rect">
            <a:avLst/>
          </a:prstGeom>
          <a:noFill/>
          <a:ln/>
        </p:spPr>
        <p:txBody>
          <a:bodyPr wrap="square" lIns="0" tIns="0" rIns="0" bIns="0" rtlCol="0" anchor="t"/>
          <a:lstStyle/>
          <a:p>
            <a:pPr indent="0" marL="0">
              <a:lnSpc>
                <a:spcPts val="1700"/>
              </a:lnSpc>
              <a:buNone/>
            </a:pPr>
            <a:r>
              <a:rPr lang="en-US" sz="1250" i="1" dirty="0">
                <a:solidFill>
                  <a:srgbClr val="8A93B8"/>
                </a:solidFill>
                <a:latin typeface="Cambria" pitchFamily="34" charset="0"/>
                <a:ea typeface="Cambria" pitchFamily="34" charset="-122"/>
                <a:cs typeface="Cambria" pitchFamily="34" charset="-120"/>
              </a:rPr>
              <a:t>On the raw count, the version with no model in it wins. That is on our screen too.</a:t>
            </a:r>
            <a:endParaRPr lang="en-US" sz="1250" dirty="0"/>
          </a:p>
        </p:txBody>
      </p:sp>
      <p:sp>
        <p:nvSpPr>
          <p:cNvPr id="13" name="Shape 10"/>
          <p:cNvSpPr/>
          <p:nvPr/>
        </p:nvSpPr>
        <p:spPr>
          <a:xfrm>
            <a:off x="6217920" y="1051560"/>
            <a:ext cx="0" cy="0"/>
          </a:xfrm>
          <a:prstGeom prst="line">
            <a:avLst/>
          </a:prstGeom>
          <a:noFill/>
          <a:ln w="12700">
            <a:solidFill>
              <a:srgbClr val="2A3560"/>
            </a:solidFill>
            <a:prstDash val="solid"/>
          </a:ln>
        </p:spPr>
      </p:sp>
      <p:sp>
        <p:nvSpPr>
          <p:cNvPr id="14" name="Shape 11"/>
          <p:cNvSpPr/>
          <p:nvPr/>
        </p:nvSpPr>
        <p:spPr>
          <a:xfrm>
            <a:off x="6172200" y="1005840"/>
            <a:ext cx="0" cy="5029200"/>
          </a:xfrm>
          <a:prstGeom prst="line">
            <a:avLst/>
          </a:prstGeom>
          <a:noFill/>
          <a:ln w="9525">
            <a:solidFill>
              <a:srgbClr val="3A4570"/>
            </a:solidFill>
            <a:prstDash val="solid"/>
          </a:ln>
        </p:spPr>
      </p:sp>
      <p:sp>
        <p:nvSpPr>
          <p:cNvPr id="15" name="Text 12"/>
          <p:cNvSpPr txBox="1"/>
          <p:nvPr/>
        </p:nvSpPr>
        <p:spPr>
          <a:xfrm>
            <a:off x="6675120" y="1051560"/>
            <a:ext cx="4937760" cy="237744"/>
          </a:xfrm>
          <a:prstGeom prst="rect">
            <a:avLst/>
          </a:prstGeom>
          <a:noFill/>
          <a:ln/>
        </p:spPr>
        <p:txBody>
          <a:bodyPr wrap="square" lIns="0" tIns="0" rIns="0" bIns="0" rtlCol="0" anchor="t"/>
          <a:lstStyle/>
          <a:p>
            <a:pPr algn="l" indent="0" marL="0">
              <a:buNone/>
            </a:pPr>
            <a:r>
              <a:rPr lang="en-US" sz="950" b="1" spc="160" kern="0" dirty="0">
                <a:solidFill>
                  <a:srgbClr val="C6283C"/>
                </a:solidFill>
                <a:latin typeface="Courier New" pitchFamily="34" charset="0"/>
                <a:ea typeface="Courier New" pitchFamily="34" charset="-122"/>
                <a:cs typeface="Courier New" pitchFamily="34" charset="-120"/>
              </a:rPr>
              <a:t>SO WHY DOES THE MODEL EARN ITS PLACE</a:t>
            </a:r>
            <a:endParaRPr lang="en-US" sz="950" dirty="0"/>
          </a:p>
        </p:txBody>
      </p:sp>
      <p:sp>
        <p:nvSpPr>
          <p:cNvPr id="16" name="Text 13"/>
          <p:cNvSpPr txBox="1"/>
          <p:nvPr/>
        </p:nvSpPr>
        <p:spPr>
          <a:xfrm>
            <a:off x="6675120" y="1371600"/>
            <a:ext cx="4858207" cy="731520"/>
          </a:xfrm>
          <a:prstGeom prst="rect">
            <a:avLst/>
          </a:prstGeom>
          <a:noFill/>
          <a:ln/>
        </p:spPr>
        <p:txBody>
          <a:bodyPr wrap="square" lIns="0" tIns="0" rIns="0" bIns="0" rtlCol="0" anchor="t"/>
          <a:lstStyle/>
          <a:p>
            <a:pPr indent="0" marL="0">
              <a:lnSpc>
                <a:spcPts val="2400"/>
              </a:lnSpc>
              <a:buNone/>
            </a:pPr>
            <a:r>
              <a:rPr lang="en-US" sz="1700" b="1" dirty="0">
                <a:solidFill>
                  <a:srgbClr val="FAF8F4"/>
                </a:solidFill>
                <a:latin typeface="Cambria" pitchFamily="34" charset="0"/>
                <a:ea typeface="Cambria" pitchFamily="34" charset="-122"/>
                <a:cs typeface="Cambria" pitchFamily="34" charset="-120"/>
              </a:rPr>
              <a:t>Because that ranking is nearly a definition of the answer, not a prediction of it.</a:t>
            </a:r>
            <a:endParaRPr lang="en-US" sz="1700" dirty="0"/>
          </a:p>
        </p:txBody>
      </p:sp>
      <p:sp>
        <p:nvSpPr>
          <p:cNvPr id="17" name="Text 14"/>
          <p:cNvSpPr txBox="1"/>
          <p:nvPr/>
        </p:nvSpPr>
        <p:spPr>
          <a:xfrm>
            <a:off x="6675120" y="2231136"/>
            <a:ext cx="4858207" cy="1051560"/>
          </a:xfrm>
          <a:prstGeom prst="rect">
            <a:avLst/>
          </a:prstGeom>
          <a:noFill/>
          <a:ln/>
        </p:spPr>
        <p:txBody>
          <a:bodyPr wrap="square" lIns="0" tIns="0" rIns="0" bIns="0" rtlCol="0" anchor="t"/>
          <a:lstStyle/>
          <a:p>
            <a:pPr indent="0" marL="0">
              <a:lnSpc>
                <a:spcPts val="1850"/>
              </a:lnSpc>
              <a:buNone/>
            </a:pPr>
            <a:r>
              <a:rPr lang="en-US" sz="1300" dirty="0">
                <a:solidFill>
                  <a:srgbClr val="C8CBDA"/>
                </a:solidFill>
                <a:latin typeface="Cambria" pitchFamily="34" charset="0"/>
                <a:ea typeface="Cambria" pitchFamily="34" charset="-122"/>
                <a:cs typeface="Cambria" pitchFamily="34" charset="-120"/>
              </a:rPr>
              <a:t>A bridge already rated 5 is one step from poor. Sorting by the worst rating puts all of those first, so of course it catches the ones that cross the line. It is telling you what you already knew, faster.</a:t>
            </a:r>
            <a:endParaRPr lang="en-US" sz="1300" dirty="0"/>
          </a:p>
        </p:txBody>
      </p:sp>
      <p:sp>
        <p:nvSpPr>
          <p:cNvPr id="18" name="Text 15"/>
          <p:cNvSpPr txBox="1"/>
          <p:nvPr/>
        </p:nvSpPr>
        <p:spPr>
          <a:xfrm>
            <a:off x="6675120" y="3346704"/>
            <a:ext cx="4858207" cy="566928"/>
          </a:xfrm>
          <a:prstGeom prst="rect">
            <a:avLst/>
          </a:prstGeom>
          <a:noFill/>
          <a:ln/>
        </p:spPr>
        <p:txBody>
          <a:bodyPr wrap="square" lIns="0" tIns="0" rIns="0" bIns="0" rtlCol="0" anchor="t"/>
          <a:lstStyle/>
          <a:p>
            <a:pPr indent="0" marL="0">
              <a:lnSpc>
                <a:spcPts val="2100"/>
              </a:lnSpc>
              <a:buNone/>
            </a:pPr>
            <a:r>
              <a:rPr lang="en-US" sz="1500" b="1" i="1" dirty="0">
                <a:solidFill>
                  <a:srgbClr val="E4607A"/>
                </a:solidFill>
                <a:latin typeface="Cambria" pitchFamily="34" charset="0"/>
                <a:ea typeface="Cambria" pitchFamily="34" charset="-122"/>
                <a:cs typeface="Cambria" pitchFamily="34" charset="-120"/>
              </a:rPr>
              <a:t>It is also blind, by construction, to a bridge whose file still reads fine.</a:t>
            </a:r>
            <a:endParaRPr lang="en-US" sz="1500" dirty="0"/>
          </a:p>
        </p:txBody>
      </p:sp>
      <p:sp>
        <p:nvSpPr>
          <p:cNvPr id="19" name="Shape 16"/>
          <p:cNvSpPr/>
          <p:nvPr/>
        </p:nvSpPr>
        <p:spPr>
          <a:xfrm>
            <a:off x="6675120" y="4114800"/>
            <a:ext cx="4858207" cy="0"/>
          </a:xfrm>
          <a:prstGeom prst="line">
            <a:avLst/>
          </a:prstGeom>
          <a:noFill/>
          <a:ln w="9525">
            <a:solidFill>
              <a:srgbClr val="2A3560"/>
            </a:solidFill>
            <a:prstDash val="solid"/>
          </a:ln>
        </p:spPr>
      </p:sp>
      <p:sp>
        <p:nvSpPr>
          <p:cNvPr id="20" name="Text 17"/>
          <p:cNvSpPr txBox="1"/>
          <p:nvPr/>
        </p:nvSpPr>
        <p:spPr>
          <a:xfrm>
            <a:off x="6675120" y="4261104"/>
            <a:ext cx="4858207" cy="822960"/>
          </a:xfrm>
          <a:prstGeom prst="rect">
            <a:avLst/>
          </a:prstGeom>
          <a:noFill/>
          <a:ln/>
        </p:spPr>
        <p:txBody>
          <a:bodyPr wrap="square" lIns="0" tIns="0" rIns="0" bIns="0" rtlCol="0" anchor="t"/>
          <a:lstStyle/>
          <a:p>
            <a:pPr indent="0" marL="0">
              <a:lnSpc>
                <a:spcPts val="1850"/>
              </a:lnSpc>
              <a:buNone/>
            </a:pPr>
            <a:r>
              <a:rPr lang="en-US" sz="1300" dirty="0">
                <a:solidFill>
                  <a:srgbClr val="C8CBDA"/>
                </a:solidFill>
                <a:latin typeface="Cambria" pitchFamily="34" charset="0"/>
                <a:ea typeface="Cambria" pitchFamily="34" charset="-122"/>
                <a:cs typeface="Cambria" pitchFamily="34" charset="-120"/>
              </a:rPr>
              <a:t>And that is the only kind of failure that carries a warning: the one nobody was watching, because nobody had a reason to.</a:t>
            </a:r>
            <a:endParaRPr lang="en-US" sz="1300" dirty="0"/>
          </a:p>
        </p:txBody>
      </p:sp>
      <p:sp>
        <p:nvSpPr>
          <p:cNvPr id="21" name="Text 18"/>
          <p:cNvSpPr txBox="1"/>
          <p:nvPr/>
        </p:nvSpPr>
        <p:spPr>
          <a:xfrm>
            <a:off x="6675120" y="5175504"/>
            <a:ext cx="4858207" cy="365760"/>
          </a:xfrm>
          <a:prstGeom prst="rect">
            <a:avLst/>
          </a:prstGeom>
          <a:noFill/>
          <a:ln/>
        </p:spPr>
        <p:txBody>
          <a:bodyPr wrap="square" lIns="0" tIns="0" rIns="0" bIns="0" rtlCol="0" anchor="ctr"/>
          <a:lstStyle/>
          <a:p>
            <a:pPr indent="0" marL="0">
              <a:buNone/>
            </a:pPr>
            <a:r>
              <a:rPr lang="en-US" sz="1050" b="1" spc="140" kern="0" dirty="0">
                <a:solidFill>
                  <a:srgbClr val="E4607A"/>
                </a:solidFill>
                <a:latin typeface="Courier New" pitchFamily="34" charset="0"/>
                <a:ea typeface="Courier New" pitchFamily="34" charset="-122"/>
                <a:cs typeface="Courier New" pitchFamily="34" charset="-120"/>
              </a:rPr>
              <a:t>Turn the page.</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9_riso_misregist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02920"/>
            <a:ext cx="6400800" cy="237744"/>
          </a:xfrm>
          <a:prstGeom prst="rect">
            <a:avLst/>
          </a:prstGeom>
          <a:noFill/>
          <a:ln/>
        </p:spPr>
        <p:txBody>
          <a:bodyPr wrap="square" lIns="0" tIns="0" rIns="0" bIns="0" rtlCol="0" anchor="t"/>
          <a:lstStyle/>
          <a:p>
            <a:pPr algn="l" indent="0" marL="0">
              <a:buNone/>
            </a:pPr>
            <a:r>
              <a:rPr lang="en-US" sz="950" b="1" spc="160" kern="0" dirty="0">
                <a:solidFill>
                  <a:srgbClr val="A8607A"/>
                </a:solidFill>
                <a:latin typeface="Courier New" pitchFamily="34" charset="0"/>
                <a:ea typeface="Courier New" pitchFamily="34" charset="-122"/>
                <a:cs typeface="Courier New" pitchFamily="34" charset="-120"/>
              </a:rPr>
              <a:t>11 / THE ANSWER TO THE OBJECTION</a:t>
            </a:r>
            <a:endParaRPr lang="en-US" sz="950" dirty="0"/>
          </a:p>
        </p:txBody>
      </p:sp>
      <p:sp>
        <p:nvSpPr>
          <p:cNvPr id="4" name="Text 1"/>
          <p:cNvSpPr txBox="1"/>
          <p:nvPr/>
        </p:nvSpPr>
        <p:spPr>
          <a:xfrm>
            <a:off x="658368" y="932688"/>
            <a:ext cx="10607040" cy="566928"/>
          </a:xfrm>
          <a:prstGeom prst="rect">
            <a:avLst/>
          </a:prstGeom>
          <a:noFill/>
          <a:ln/>
        </p:spPr>
        <p:txBody>
          <a:bodyPr wrap="square" lIns="0" tIns="0" rIns="0" bIns="0" rtlCol="0" anchor="t"/>
          <a:lstStyle/>
          <a:p>
            <a:pPr indent="0" marL="0">
              <a:lnSpc>
                <a:spcPts val="3400"/>
              </a:lnSpc>
              <a:buNone/>
            </a:pPr>
            <a:r>
              <a:rPr lang="en-US" sz="2600" b="1" dirty="0">
                <a:solidFill>
                  <a:srgbClr val="FAF8F4"/>
                </a:solidFill>
                <a:latin typeface="Cambria" pitchFamily="34" charset="0"/>
                <a:ea typeface="Cambria" pitchFamily="34" charset="-122"/>
                <a:cs typeface="Cambria" pitchFamily="34" charset="-120"/>
              </a:rPr>
              <a:t>Sorting by the worst recorded rating found none of them.</a:t>
            </a:r>
            <a:endParaRPr lang="en-US" sz="26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1_desk_gr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12 / WHERE THE TWO RANKINGS DIFFER</a:t>
            </a:r>
            <a:endParaRPr lang="en-US" sz="950" dirty="0"/>
          </a:p>
        </p:txBody>
      </p:sp>
      <p:sp>
        <p:nvSpPr>
          <p:cNvPr id="4" name="Text 1"/>
          <p:cNvSpPr txBox="1"/>
          <p:nvPr/>
        </p:nvSpPr>
        <p:spPr>
          <a:xfrm>
            <a:off x="658368" y="749808"/>
            <a:ext cx="10881360" cy="640080"/>
          </a:xfrm>
          <a:prstGeom prst="rect">
            <a:avLst/>
          </a:prstGeom>
          <a:noFill/>
          <a:ln/>
        </p:spPr>
        <p:txBody>
          <a:bodyPr wrap="square" lIns="0" tIns="0" rIns="0" bIns="0" rtlCol="0" anchor="t"/>
          <a:lstStyle/>
          <a:p>
            <a:pPr indent="0" marL="0">
              <a:lnSpc>
                <a:spcPts val="2928"/>
              </a:lnSpc>
              <a:buNone/>
            </a:pPr>
            <a:r>
              <a:rPr lang="en-US" sz="2400" b="1" dirty="0">
                <a:solidFill>
                  <a:srgbClr val="FAF8F4"/>
                </a:solidFill>
                <a:latin typeface="Cambria" pitchFamily="34" charset="0"/>
                <a:ea typeface="Cambria" pitchFamily="34" charset="-122"/>
                <a:cs typeface="Cambria" pitchFamily="34" charset="-120"/>
              </a:rPr>
              <a:t>Split the same 166 failures by what the file said at the time.</a:t>
            </a:r>
            <a:endParaRPr lang="en-US" sz="2400" dirty="0"/>
          </a:p>
        </p:txBody>
      </p:sp>
      <p:sp>
        <p:nvSpPr>
          <p:cNvPr id="5" name="Text 2"/>
          <p:cNvSpPr txBox="1"/>
          <p:nvPr/>
        </p:nvSpPr>
        <p:spPr>
          <a:xfrm>
            <a:off x="658368" y="1481328"/>
            <a:ext cx="8229600" cy="329184"/>
          </a:xfrm>
          <a:prstGeom prst="rect">
            <a:avLst/>
          </a:prstGeom>
          <a:noFill/>
          <a:ln/>
        </p:spPr>
        <p:txBody>
          <a:bodyPr wrap="square" lIns="0" tIns="0" rIns="0" bIns="0" rtlCol="0" anchor="t"/>
          <a:lstStyle/>
          <a:p>
            <a:pPr algn="l" indent="0" marL="0">
              <a:lnSpc>
                <a:spcPts val="1976"/>
              </a:lnSpc>
              <a:buNone/>
            </a:pPr>
            <a:r>
              <a:rPr lang="en-US" sz="1300" dirty="0">
                <a:solidFill>
                  <a:srgbClr val="8A93B8"/>
                </a:solidFill>
                <a:latin typeface="Cambria" pitchFamily="34" charset="0"/>
                <a:ea typeface="Cambria" pitchFamily="34" charset="-122"/>
                <a:cs typeface="Cambria" pitchFamily="34" charset="-120"/>
              </a:rPr>
              <a:t>Same events, same alert budget, two ways of choosing who to look at.</a:t>
            </a:r>
            <a:endParaRPr lang="en-US" sz="1300" dirty="0"/>
          </a:p>
        </p:txBody>
      </p:sp>
      <p:sp>
        <p:nvSpPr>
          <p:cNvPr id="6" name="Text 3"/>
          <p:cNvSpPr txBox="1"/>
          <p:nvPr/>
        </p:nvSpPr>
        <p:spPr>
          <a:xfrm>
            <a:off x="658368" y="2212848"/>
            <a:ext cx="4567483" cy="237744"/>
          </a:xfrm>
          <a:prstGeom prst="rect">
            <a:avLst/>
          </a:prstGeom>
          <a:noFill/>
          <a:ln/>
        </p:spPr>
        <p:txBody>
          <a:bodyPr wrap="square" lIns="0" tIns="0" rIns="0" bIns="0" rtlCol="0" anchor="t"/>
          <a:lstStyle/>
          <a:p>
            <a:pPr algn="l" indent="0" marL="0">
              <a:lnSpc>
                <a:spcPts val="1176"/>
              </a:lnSpc>
              <a:buNone/>
            </a:pPr>
            <a:r>
              <a:rPr lang="en-US" sz="840" b="1" spc="90" kern="0" dirty="0">
                <a:solidFill>
                  <a:srgbClr val="8A93B8"/>
                </a:solidFill>
                <a:latin typeface="Courier New" pitchFamily="34" charset="0"/>
                <a:ea typeface="Courier New" pitchFamily="34" charset="-122"/>
                <a:cs typeface="Courier New" pitchFamily="34" charset="-120"/>
              </a:rPr>
              <a:t>WHAT THE FILE SAID AT THE TIME</a:t>
            </a:r>
            <a:endParaRPr lang="en-US" sz="840" dirty="0"/>
          </a:p>
        </p:txBody>
      </p:sp>
      <p:sp>
        <p:nvSpPr>
          <p:cNvPr id="7" name="Text 4"/>
          <p:cNvSpPr txBox="1"/>
          <p:nvPr/>
        </p:nvSpPr>
        <p:spPr>
          <a:xfrm>
            <a:off x="5443350" y="2212848"/>
            <a:ext cx="1522494" cy="237744"/>
          </a:xfrm>
          <a:prstGeom prst="rect">
            <a:avLst/>
          </a:prstGeom>
          <a:noFill/>
          <a:ln/>
        </p:spPr>
        <p:txBody>
          <a:bodyPr wrap="square" lIns="0" tIns="0" rIns="0" bIns="0" rtlCol="0" anchor="t"/>
          <a:lstStyle/>
          <a:p>
            <a:pPr algn="ctr" indent="0" marL="0">
              <a:lnSpc>
                <a:spcPts val="1176"/>
              </a:lnSpc>
              <a:buNone/>
            </a:pPr>
            <a:r>
              <a:rPr lang="en-US" sz="840" b="1" spc="90" kern="0" dirty="0">
                <a:solidFill>
                  <a:srgbClr val="8A93B8"/>
                </a:solidFill>
                <a:latin typeface="Courier New" pitchFamily="34" charset="0"/>
                <a:ea typeface="Courier New" pitchFamily="34" charset="-122"/>
                <a:cs typeface="Courier New" pitchFamily="34" charset="-120"/>
              </a:rPr>
              <a:t>FAILURES</a:t>
            </a:r>
            <a:endParaRPr lang="en-US" sz="840" dirty="0"/>
          </a:p>
        </p:txBody>
      </p:sp>
      <p:sp>
        <p:nvSpPr>
          <p:cNvPr id="8" name="Text 5"/>
          <p:cNvSpPr txBox="1"/>
          <p:nvPr/>
        </p:nvSpPr>
        <p:spPr>
          <a:xfrm>
            <a:off x="7074594" y="2212848"/>
            <a:ext cx="2174992" cy="237744"/>
          </a:xfrm>
          <a:prstGeom prst="rect">
            <a:avLst/>
          </a:prstGeom>
          <a:noFill/>
          <a:ln/>
        </p:spPr>
        <p:txBody>
          <a:bodyPr wrap="square" lIns="0" tIns="0" rIns="0" bIns="0" rtlCol="0" anchor="t"/>
          <a:lstStyle/>
          <a:p>
            <a:pPr algn="ctr" indent="0" marL="0">
              <a:lnSpc>
                <a:spcPts val="1176"/>
              </a:lnSpc>
              <a:buNone/>
            </a:pPr>
            <a:r>
              <a:rPr lang="en-US" sz="840" b="1" spc="90" kern="0" dirty="0">
                <a:solidFill>
                  <a:srgbClr val="8A93B8"/>
                </a:solidFill>
                <a:latin typeface="Courier New" pitchFamily="34" charset="0"/>
                <a:ea typeface="Courier New" pitchFamily="34" charset="-122"/>
                <a:cs typeface="Courier New" pitchFamily="34" charset="-120"/>
              </a:rPr>
              <a:t>SORT BY WORST RATING</a:t>
            </a:r>
            <a:endParaRPr lang="en-US" sz="840" dirty="0"/>
          </a:p>
        </p:txBody>
      </p:sp>
      <p:sp>
        <p:nvSpPr>
          <p:cNvPr id="9" name="Text 6"/>
          <p:cNvSpPr txBox="1"/>
          <p:nvPr/>
        </p:nvSpPr>
        <p:spPr>
          <a:xfrm>
            <a:off x="9358335" y="2212848"/>
            <a:ext cx="2174992" cy="237744"/>
          </a:xfrm>
          <a:prstGeom prst="rect">
            <a:avLst/>
          </a:prstGeom>
          <a:noFill/>
          <a:ln/>
        </p:spPr>
        <p:txBody>
          <a:bodyPr wrap="square" lIns="0" tIns="0" rIns="0" bIns="0" rtlCol="0" anchor="t"/>
          <a:lstStyle/>
          <a:p>
            <a:pPr algn="ctr" indent="0" marL="0">
              <a:lnSpc>
                <a:spcPts val="1176"/>
              </a:lnSpc>
              <a:buNone/>
            </a:pPr>
            <a:r>
              <a:rPr lang="en-US" sz="840" b="1" spc="90" kern="0" dirty="0">
                <a:solidFill>
                  <a:srgbClr val="E4607A"/>
                </a:solidFill>
                <a:latin typeface="Courier New" pitchFamily="34" charset="0"/>
                <a:ea typeface="Courier New" pitchFamily="34" charset="-122"/>
                <a:cs typeface="Courier New" pitchFamily="34" charset="-120"/>
              </a:rPr>
              <a:t>DISSENT</a:t>
            </a:r>
            <a:endParaRPr lang="en-US" sz="840" dirty="0"/>
          </a:p>
        </p:txBody>
      </p:sp>
      <p:sp>
        <p:nvSpPr>
          <p:cNvPr id="10" name="Shape 7"/>
          <p:cNvSpPr/>
          <p:nvPr/>
        </p:nvSpPr>
        <p:spPr>
          <a:xfrm>
            <a:off x="658368" y="2560320"/>
            <a:ext cx="10874959" cy="0"/>
          </a:xfrm>
          <a:prstGeom prst="line">
            <a:avLst/>
          </a:prstGeom>
          <a:noFill/>
          <a:ln w="12700">
            <a:solidFill>
              <a:srgbClr val="2A3560"/>
            </a:solidFill>
            <a:prstDash val="solid"/>
          </a:ln>
        </p:spPr>
      </p:sp>
      <p:sp>
        <p:nvSpPr>
          <p:cNvPr id="11" name="Text 8"/>
          <p:cNvSpPr txBox="1"/>
          <p:nvPr/>
        </p:nvSpPr>
        <p:spPr>
          <a:xfrm>
            <a:off x="658368" y="2779776"/>
            <a:ext cx="4567483" cy="457200"/>
          </a:xfrm>
          <a:prstGeom prst="rect">
            <a:avLst/>
          </a:prstGeom>
          <a:noFill/>
          <a:ln/>
        </p:spPr>
        <p:txBody>
          <a:bodyPr wrap="square" lIns="0" tIns="0" rIns="0" bIns="0" rtlCol="0" anchor="t"/>
          <a:lstStyle/>
          <a:p>
            <a:pPr algn="l" indent="0" marL="0">
              <a:lnSpc>
                <a:spcPts val="1960"/>
              </a:lnSpc>
              <a:buNone/>
            </a:pPr>
            <a:r>
              <a:rPr lang="en-US" sz="1400" dirty="0">
                <a:solidFill>
                  <a:srgbClr val="C8CBDA"/>
                </a:solidFill>
                <a:latin typeface="Cambria" pitchFamily="34" charset="0"/>
                <a:ea typeface="Cambria" pitchFamily="34" charset="-122"/>
                <a:cs typeface="Cambria" pitchFamily="34" charset="-120"/>
              </a:rPr>
              <a:t>The record already called it bad</a:t>
            </a:r>
            <a:endParaRPr lang="en-US" sz="1400" dirty="0"/>
          </a:p>
        </p:txBody>
      </p:sp>
      <p:sp>
        <p:nvSpPr>
          <p:cNvPr id="12" name="Text 9"/>
          <p:cNvSpPr txBox="1"/>
          <p:nvPr/>
        </p:nvSpPr>
        <p:spPr>
          <a:xfrm>
            <a:off x="658368" y="3145536"/>
            <a:ext cx="4567483" cy="237744"/>
          </a:xfrm>
          <a:prstGeom prst="rect">
            <a:avLst/>
          </a:prstGeom>
          <a:noFill/>
          <a:ln/>
        </p:spPr>
        <p:txBody>
          <a:bodyPr wrap="square" lIns="0" tIns="0" rIns="0" bIns="0" rtlCol="0" anchor="t"/>
          <a:lstStyle/>
          <a:p>
            <a:pPr algn="l" indent="0" marL="0">
              <a:lnSpc>
                <a:spcPts val="1400"/>
              </a:lnSpc>
              <a:buNone/>
            </a:pPr>
            <a:r>
              <a:rPr lang="en-US" sz="1000" i="1" dirty="0">
                <a:solidFill>
                  <a:srgbClr val="6A7088"/>
                </a:solidFill>
                <a:latin typeface="Cambria" pitchFamily="34" charset="0"/>
                <a:ea typeface="Cambria" pitchFamily="34" charset="-122"/>
                <a:cs typeface="Cambria" pitchFamily="34" charset="-120"/>
              </a:rPr>
              <a:t>Everyone can see these.</a:t>
            </a:r>
            <a:endParaRPr lang="en-US" sz="1000" dirty="0"/>
          </a:p>
        </p:txBody>
      </p:sp>
      <p:sp>
        <p:nvSpPr>
          <p:cNvPr id="13" name="Text 10"/>
          <p:cNvSpPr txBox="1"/>
          <p:nvPr/>
        </p:nvSpPr>
        <p:spPr>
          <a:xfrm>
            <a:off x="5443350" y="2761488"/>
            <a:ext cx="1522494" cy="457200"/>
          </a:xfrm>
          <a:prstGeom prst="rect">
            <a:avLst/>
          </a:prstGeom>
          <a:noFill/>
          <a:ln/>
        </p:spPr>
        <p:txBody>
          <a:bodyPr wrap="square" lIns="0" tIns="0" rIns="0" bIns="0" rtlCol="0" anchor="t"/>
          <a:lstStyle/>
          <a:p>
            <a:pPr algn="ctr" indent="0" marL="0">
              <a:lnSpc>
                <a:spcPts val="3080"/>
              </a:lnSpc>
              <a:buNone/>
            </a:pPr>
            <a:r>
              <a:rPr lang="en-US" sz="2200" b="1" dirty="0">
                <a:solidFill>
                  <a:srgbClr val="C8CBDA"/>
                </a:solidFill>
                <a:latin typeface="Cambria" pitchFamily="34" charset="0"/>
                <a:ea typeface="Cambria" pitchFamily="34" charset="-122"/>
                <a:cs typeface="Cambria" pitchFamily="34" charset="-120"/>
              </a:rPr>
              <a:t>58</a:t>
            </a:r>
            <a:endParaRPr lang="en-US" sz="2200" dirty="0"/>
          </a:p>
        </p:txBody>
      </p:sp>
      <p:sp>
        <p:nvSpPr>
          <p:cNvPr id="14" name="Text 11"/>
          <p:cNvSpPr txBox="1"/>
          <p:nvPr/>
        </p:nvSpPr>
        <p:spPr>
          <a:xfrm>
            <a:off x="7074594" y="2724912"/>
            <a:ext cx="2174992" cy="566928"/>
          </a:xfrm>
          <a:prstGeom prst="rect">
            <a:avLst/>
          </a:prstGeom>
          <a:noFill/>
          <a:ln/>
        </p:spPr>
        <p:txBody>
          <a:bodyPr wrap="square" lIns="0" tIns="0" rIns="0" bIns="0" rtlCol="0" anchor="t"/>
          <a:lstStyle/>
          <a:p>
            <a:pPr algn="ctr" indent="0" marL="0">
              <a:lnSpc>
                <a:spcPts val="3080"/>
              </a:lnSpc>
              <a:buNone/>
            </a:pPr>
            <a:r>
              <a:rPr lang="en-US" sz="2200" b="1" dirty="0">
                <a:solidFill>
                  <a:srgbClr val="C8CBDA"/>
                </a:solidFill>
                <a:latin typeface="Cambria" pitchFamily="34" charset="0"/>
                <a:ea typeface="Cambria" pitchFamily="34" charset="-122"/>
                <a:cs typeface="Cambria" pitchFamily="34" charset="-120"/>
              </a:rPr>
              <a:t>40</a:t>
            </a:r>
            <a:endParaRPr lang="en-US" sz="2200" dirty="0"/>
          </a:p>
        </p:txBody>
      </p:sp>
      <p:sp>
        <p:nvSpPr>
          <p:cNvPr id="15" name="Text 12"/>
          <p:cNvSpPr txBox="1"/>
          <p:nvPr/>
        </p:nvSpPr>
        <p:spPr>
          <a:xfrm>
            <a:off x="9358335" y="2724912"/>
            <a:ext cx="2174992" cy="566928"/>
          </a:xfrm>
          <a:prstGeom prst="rect">
            <a:avLst/>
          </a:prstGeom>
          <a:noFill/>
          <a:ln/>
        </p:spPr>
        <p:txBody>
          <a:bodyPr wrap="square" lIns="0" tIns="0" rIns="0" bIns="0" rtlCol="0" anchor="t"/>
          <a:lstStyle/>
          <a:p>
            <a:pPr algn="ctr" indent="0" marL="0">
              <a:lnSpc>
                <a:spcPts val="3080"/>
              </a:lnSpc>
              <a:buNone/>
            </a:pPr>
            <a:r>
              <a:rPr lang="en-US" sz="2200" b="1" dirty="0">
                <a:solidFill>
                  <a:srgbClr val="C8CBDA"/>
                </a:solidFill>
                <a:latin typeface="Cambria" pitchFamily="34" charset="0"/>
                <a:ea typeface="Cambria" pitchFamily="34" charset="-122"/>
                <a:cs typeface="Cambria" pitchFamily="34" charset="-120"/>
              </a:rPr>
              <a:t>13</a:t>
            </a:r>
            <a:endParaRPr lang="en-US" sz="2200" dirty="0"/>
          </a:p>
        </p:txBody>
      </p:sp>
      <p:sp>
        <p:nvSpPr>
          <p:cNvPr id="16" name="Shape 13"/>
          <p:cNvSpPr/>
          <p:nvPr/>
        </p:nvSpPr>
        <p:spPr>
          <a:xfrm>
            <a:off x="658368" y="3602736"/>
            <a:ext cx="10874959" cy="0"/>
          </a:xfrm>
          <a:prstGeom prst="line">
            <a:avLst/>
          </a:prstGeom>
          <a:noFill/>
          <a:ln w="7620">
            <a:solidFill>
              <a:srgbClr val="2A3560"/>
            </a:solidFill>
            <a:prstDash val="solid"/>
          </a:ln>
        </p:spPr>
      </p:sp>
      <p:sp>
        <p:nvSpPr>
          <p:cNvPr id="17" name="Shape 14"/>
          <p:cNvSpPr/>
          <p:nvPr/>
        </p:nvSpPr>
        <p:spPr>
          <a:xfrm>
            <a:off x="530352" y="3657600"/>
            <a:ext cx="11130991" cy="1005840"/>
          </a:xfrm>
          <a:prstGeom prst="rect">
            <a:avLst/>
          </a:prstGeom>
          <a:solidFill>
            <a:srgbClr val="C6283C">
              <a:alpha val="12000"/>
            </a:srgbClr>
          </a:solidFill>
          <a:ln/>
        </p:spPr>
      </p:sp>
      <p:sp>
        <p:nvSpPr>
          <p:cNvPr id="18" name="Text 15"/>
          <p:cNvSpPr txBox="1"/>
          <p:nvPr/>
        </p:nvSpPr>
        <p:spPr>
          <a:xfrm>
            <a:off x="658368" y="3858768"/>
            <a:ext cx="4567483" cy="457200"/>
          </a:xfrm>
          <a:prstGeom prst="rect">
            <a:avLst/>
          </a:prstGeom>
          <a:noFill/>
          <a:ln/>
        </p:spPr>
        <p:txBody>
          <a:bodyPr wrap="square" lIns="0" tIns="0" rIns="0" bIns="0" rtlCol="0" anchor="t"/>
          <a:lstStyle/>
          <a:p>
            <a:pPr algn="l" indent="0" marL="0">
              <a:lnSpc>
                <a:spcPts val="1960"/>
              </a:lnSpc>
              <a:buNone/>
            </a:pPr>
            <a:r>
              <a:rPr lang="en-US" sz="1400" b="1" dirty="0">
                <a:solidFill>
                  <a:srgbClr val="FAF8F4"/>
                </a:solidFill>
                <a:latin typeface="Cambria" pitchFamily="34" charset="0"/>
                <a:ea typeface="Cambria" pitchFamily="34" charset="-122"/>
                <a:cs typeface="Cambria" pitchFamily="34" charset="-120"/>
              </a:rPr>
              <a:t>The record still called it FINE</a:t>
            </a:r>
            <a:endParaRPr lang="en-US" sz="1400" dirty="0"/>
          </a:p>
        </p:txBody>
      </p:sp>
      <p:sp>
        <p:nvSpPr>
          <p:cNvPr id="19" name="Text 16"/>
          <p:cNvSpPr txBox="1"/>
          <p:nvPr/>
        </p:nvSpPr>
        <p:spPr>
          <a:xfrm>
            <a:off x="658368" y="4224528"/>
            <a:ext cx="4567483" cy="237744"/>
          </a:xfrm>
          <a:prstGeom prst="rect">
            <a:avLst/>
          </a:prstGeom>
          <a:noFill/>
          <a:ln/>
        </p:spPr>
        <p:txBody>
          <a:bodyPr wrap="square" lIns="0" tIns="0" rIns="0" bIns="0" rtlCol="0" anchor="t"/>
          <a:lstStyle/>
          <a:p>
            <a:pPr algn="l" indent="0" marL="0">
              <a:lnSpc>
                <a:spcPts val="1400"/>
              </a:lnSpc>
              <a:buNone/>
            </a:pPr>
            <a:r>
              <a:rPr lang="en-US" sz="1000" i="1" dirty="0">
                <a:solidFill>
                  <a:srgbClr val="E4607A"/>
                </a:solidFill>
                <a:latin typeface="Cambria" pitchFamily="34" charset="0"/>
                <a:ea typeface="Cambria" pitchFamily="34" charset="-122"/>
                <a:cs typeface="Cambria" pitchFamily="34" charset="-120"/>
              </a:rPr>
              <a:t>Nobody was watching these.</a:t>
            </a:r>
            <a:endParaRPr lang="en-US" sz="1000" dirty="0"/>
          </a:p>
        </p:txBody>
      </p:sp>
      <p:sp>
        <p:nvSpPr>
          <p:cNvPr id="20" name="Text 17"/>
          <p:cNvSpPr txBox="1"/>
          <p:nvPr/>
        </p:nvSpPr>
        <p:spPr>
          <a:xfrm>
            <a:off x="5443350" y="3840480"/>
            <a:ext cx="1522494" cy="457200"/>
          </a:xfrm>
          <a:prstGeom prst="rect">
            <a:avLst/>
          </a:prstGeom>
          <a:noFill/>
          <a:ln/>
        </p:spPr>
        <p:txBody>
          <a:bodyPr wrap="square" lIns="0" tIns="0" rIns="0" bIns="0" rtlCol="0" anchor="t"/>
          <a:lstStyle/>
          <a:p>
            <a:pPr algn="ctr" indent="0" marL="0">
              <a:lnSpc>
                <a:spcPts val="3080"/>
              </a:lnSpc>
              <a:buNone/>
            </a:pPr>
            <a:r>
              <a:rPr lang="en-US" sz="2200" b="1" dirty="0">
                <a:solidFill>
                  <a:srgbClr val="C8CBDA"/>
                </a:solidFill>
                <a:latin typeface="Cambria" pitchFamily="34" charset="0"/>
                <a:ea typeface="Cambria" pitchFamily="34" charset="-122"/>
                <a:cs typeface="Cambria" pitchFamily="34" charset="-120"/>
              </a:rPr>
              <a:t>108</a:t>
            </a:r>
            <a:endParaRPr lang="en-US" sz="2200" dirty="0"/>
          </a:p>
        </p:txBody>
      </p:sp>
      <p:sp>
        <p:nvSpPr>
          <p:cNvPr id="21" name="Text 18"/>
          <p:cNvSpPr txBox="1"/>
          <p:nvPr/>
        </p:nvSpPr>
        <p:spPr>
          <a:xfrm>
            <a:off x="7074594" y="3803904"/>
            <a:ext cx="2174992" cy="566928"/>
          </a:xfrm>
          <a:prstGeom prst="rect">
            <a:avLst/>
          </a:prstGeom>
          <a:noFill/>
          <a:ln/>
        </p:spPr>
        <p:txBody>
          <a:bodyPr wrap="square" lIns="0" tIns="0" rIns="0" bIns="0" rtlCol="0" anchor="t"/>
          <a:lstStyle/>
          <a:p>
            <a:pPr algn="ctr" indent="0" marL="0">
              <a:lnSpc>
                <a:spcPts val="4760"/>
              </a:lnSpc>
              <a:buNone/>
            </a:pPr>
            <a:r>
              <a:rPr lang="en-US" sz="3400" b="1" dirty="0">
                <a:solidFill>
                  <a:srgbClr val="6A7088"/>
                </a:solidFill>
                <a:latin typeface="Cambria" pitchFamily="34" charset="0"/>
                <a:ea typeface="Cambria" pitchFamily="34" charset="-122"/>
                <a:cs typeface="Cambria" pitchFamily="34" charset="-120"/>
              </a:rPr>
              <a:t>0</a:t>
            </a:r>
            <a:endParaRPr lang="en-US" sz="3400" dirty="0"/>
          </a:p>
        </p:txBody>
      </p:sp>
      <p:sp>
        <p:nvSpPr>
          <p:cNvPr id="22" name="Text 19"/>
          <p:cNvSpPr txBox="1"/>
          <p:nvPr/>
        </p:nvSpPr>
        <p:spPr>
          <a:xfrm>
            <a:off x="9358335" y="3803904"/>
            <a:ext cx="2174992" cy="566928"/>
          </a:xfrm>
          <a:prstGeom prst="rect">
            <a:avLst/>
          </a:prstGeom>
          <a:noFill/>
          <a:ln/>
        </p:spPr>
        <p:txBody>
          <a:bodyPr wrap="square" lIns="0" tIns="0" rIns="0" bIns="0" rtlCol="0" anchor="t"/>
          <a:lstStyle/>
          <a:p>
            <a:pPr algn="ctr" indent="0" marL="0">
              <a:lnSpc>
                <a:spcPts val="4760"/>
              </a:lnSpc>
              <a:buNone/>
            </a:pPr>
            <a:r>
              <a:rPr lang="en-US" sz="3400" b="1" dirty="0">
                <a:solidFill>
                  <a:srgbClr val="C6283C"/>
                </a:solidFill>
                <a:latin typeface="Cambria" pitchFamily="34" charset="0"/>
                <a:ea typeface="Cambria" pitchFamily="34" charset="-122"/>
                <a:cs typeface="Cambria" pitchFamily="34" charset="-120"/>
              </a:rPr>
              <a:t>25</a:t>
            </a:r>
            <a:endParaRPr lang="en-US" sz="3400" dirty="0"/>
          </a:p>
        </p:txBody>
      </p:sp>
      <p:sp>
        <p:nvSpPr>
          <p:cNvPr id="23" name="Text 20"/>
          <p:cNvSpPr txBox="1"/>
          <p:nvPr/>
        </p:nvSpPr>
        <p:spPr>
          <a:xfrm>
            <a:off x="658368" y="4974336"/>
            <a:ext cx="10874959" cy="548640"/>
          </a:xfrm>
          <a:prstGeom prst="rect">
            <a:avLst/>
          </a:prstGeom>
          <a:noFill/>
          <a:ln/>
        </p:spPr>
        <p:txBody>
          <a:bodyPr wrap="square" lIns="0" tIns="0" rIns="0" bIns="0" rtlCol="0" anchor="t"/>
          <a:lstStyle/>
          <a:p>
            <a:pPr indent="0" marL="0">
              <a:lnSpc>
                <a:spcPts val="2100"/>
              </a:lnSpc>
              <a:buNone/>
            </a:pPr>
            <a:r>
              <a:rPr lang="en-US" sz="1400" dirty="0">
                <a:solidFill>
                  <a:srgbClr val="C8CBDA"/>
                </a:solidFill>
                <a:latin typeface="Cambria" pitchFamily="34" charset="0"/>
                <a:ea typeface="Cambria" pitchFamily="34" charset="-122"/>
                <a:cs typeface="Cambria" pitchFamily="34" charset="-120"/>
              </a:rPr>
              <a:t>Sorting by the worst recorded rating found </a:t>
            </a:r>
            <a:pPr indent="0" marL="0">
              <a:lnSpc>
                <a:spcPts val="2100"/>
              </a:lnSpc>
              <a:buNone/>
            </a:pPr>
            <a:r>
              <a:rPr lang="en-US" sz="1400" b="1" dirty="0">
                <a:solidFill>
                  <a:srgbClr val="FAF8F4"/>
                </a:solidFill>
                <a:latin typeface="Cambria" pitchFamily="34" charset="0"/>
                <a:ea typeface="Cambria" pitchFamily="34" charset="-122"/>
                <a:cs typeface="Cambria" pitchFamily="34" charset="-120"/>
              </a:rPr>
              <a:t>none</a:t>
            </a:r>
            <a:pPr indent="0" marL="0">
              <a:lnSpc>
                <a:spcPts val="2100"/>
              </a:lnSpc>
              <a:buNone/>
            </a:pPr>
            <a:r>
              <a:rPr lang="en-US" sz="1400" dirty="0">
                <a:solidFill>
                  <a:srgbClr val="C8CBDA"/>
                </a:solidFill>
                <a:latin typeface="Cambria" pitchFamily="34" charset="0"/>
                <a:ea typeface="Cambria" pitchFamily="34" charset="-122"/>
                <a:cs typeface="Cambria" pitchFamily="34" charset="-120"/>
              </a:rPr>
              <a:t> of the </a:t>
            </a:r>
            <a:pPr indent="0" marL="0">
              <a:lnSpc>
                <a:spcPts val="2100"/>
              </a:lnSpc>
              <a:buNone/>
            </a:pPr>
            <a:r>
              <a:rPr lang="en-US" sz="1400" b="1" dirty="0">
                <a:solidFill>
                  <a:srgbClr val="FAF8F4"/>
                </a:solidFill>
                <a:latin typeface="Cambria" pitchFamily="34" charset="0"/>
                <a:ea typeface="Cambria" pitchFamily="34" charset="-122"/>
                <a:cs typeface="Cambria" pitchFamily="34" charset="-120"/>
              </a:rPr>
              <a:t>108</a:t>
            </a:r>
            <a:pPr indent="0" marL="0">
              <a:lnSpc>
                <a:spcPts val="2100"/>
              </a:lnSpc>
              <a:buNone/>
            </a:pPr>
            <a:r>
              <a:rPr lang="en-US" sz="1400" dirty="0">
                <a:solidFill>
                  <a:srgbClr val="C8CBDA"/>
                </a:solidFill>
                <a:latin typeface="Cambria" pitchFamily="34" charset="0"/>
                <a:ea typeface="Cambria" pitchFamily="34" charset="-122"/>
                <a:cs typeface="Cambria" pitchFamily="34" charset="-120"/>
              </a:rPr>
              <a:t> failures on bridges the paperwork still called fine. It cannot: it is blind to them by construction.</a:t>
            </a:r>
            <a:endParaRPr lang="en-US" sz="14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2_contour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13 / WHAT IT CANNOT DO</a:t>
            </a:r>
            <a:endParaRPr lang="en-US" sz="950" dirty="0"/>
          </a:p>
        </p:txBody>
      </p:sp>
      <p:sp>
        <p:nvSpPr>
          <p:cNvPr id="4" name="Text 1"/>
          <p:cNvSpPr txBox="1"/>
          <p:nvPr/>
        </p:nvSpPr>
        <p:spPr>
          <a:xfrm>
            <a:off x="658368" y="859536"/>
            <a:ext cx="10058400" cy="777240"/>
          </a:xfrm>
          <a:prstGeom prst="rect">
            <a:avLst/>
          </a:prstGeom>
          <a:noFill/>
          <a:ln/>
        </p:spPr>
        <p:txBody>
          <a:bodyPr wrap="square" lIns="0" tIns="0" rIns="0" bIns="0" rtlCol="0" anchor="t"/>
          <a:lstStyle/>
          <a:p>
            <a:pPr indent="0" marL="0">
              <a:lnSpc>
                <a:spcPts val="3294"/>
              </a:lnSpc>
              <a:buNone/>
            </a:pPr>
            <a:r>
              <a:rPr lang="en-US" sz="2700" b="1" dirty="0">
                <a:solidFill>
                  <a:srgbClr val="FAF8F4"/>
                </a:solidFill>
                <a:latin typeface="Cambria" pitchFamily="34" charset="0"/>
                <a:ea typeface="Cambria" pitchFamily="34" charset="-122"/>
                <a:cs typeface="Cambria" pitchFamily="34" charset="-120"/>
              </a:rPr>
              <a:t>The limits are in the product, not just the appendix.</a:t>
            </a:r>
            <a:endParaRPr lang="en-US" sz="2700" dirty="0"/>
          </a:p>
        </p:txBody>
      </p:sp>
      <p:sp>
        <p:nvSpPr>
          <p:cNvPr id="5" name="Text 2"/>
          <p:cNvSpPr txBox="1"/>
          <p:nvPr/>
        </p:nvSpPr>
        <p:spPr>
          <a:xfrm>
            <a:off x="658368" y="1664208"/>
            <a:ext cx="8229600" cy="365760"/>
          </a:xfrm>
          <a:prstGeom prst="rect">
            <a:avLst/>
          </a:prstGeom>
          <a:noFill/>
          <a:ln/>
        </p:spPr>
        <p:txBody>
          <a:bodyPr wrap="square" lIns="0" tIns="0" rIns="0" bIns="0" rtlCol="0" anchor="t"/>
          <a:lstStyle/>
          <a:p>
            <a:pPr algn="l" indent="0" marL="0">
              <a:lnSpc>
                <a:spcPts val="2052"/>
              </a:lnSpc>
              <a:buNone/>
            </a:pPr>
            <a:r>
              <a:rPr lang="en-US" sz="1350" dirty="0">
                <a:solidFill>
                  <a:srgbClr val="8A93B8"/>
                </a:solidFill>
                <a:latin typeface="Cambria" pitchFamily="34" charset="0"/>
                <a:ea typeface="Cambria" pitchFamily="34" charset="-122"/>
                <a:cs typeface="Cambria" pitchFamily="34" charset="-120"/>
              </a:rPr>
              <a:t>Each of these is enforced by the running system, where a judge can see it.</a:t>
            </a:r>
            <a:endParaRPr lang="en-US" sz="1350" dirty="0"/>
          </a:p>
        </p:txBody>
      </p:sp>
      <p:sp>
        <p:nvSpPr>
          <p:cNvPr id="6" name="Shape 3"/>
          <p:cNvSpPr/>
          <p:nvPr/>
        </p:nvSpPr>
        <p:spPr>
          <a:xfrm>
            <a:off x="658368" y="2194560"/>
            <a:ext cx="2567864" cy="2788920"/>
          </a:xfrm>
          <a:prstGeom prst="rect">
            <a:avLst/>
          </a:prstGeom>
          <a:solidFill>
            <a:srgbClr val="0F1738">
              <a:alpha val="80000"/>
            </a:srgbClr>
          </a:solidFill>
          <a:ln w="9525">
            <a:solidFill>
              <a:srgbClr val="2A3560"/>
            </a:solidFill>
            <a:prstDash val="solid"/>
          </a:ln>
        </p:spPr>
      </p:sp>
      <p:sp>
        <p:nvSpPr>
          <p:cNvPr id="7" name="Shape 4"/>
          <p:cNvSpPr/>
          <p:nvPr/>
        </p:nvSpPr>
        <p:spPr>
          <a:xfrm>
            <a:off x="658368" y="2194560"/>
            <a:ext cx="2567864" cy="54864"/>
          </a:xfrm>
          <a:prstGeom prst="rect">
            <a:avLst/>
          </a:prstGeom>
          <a:solidFill>
            <a:srgbClr val="8A6420"/>
          </a:solidFill>
          <a:ln/>
        </p:spPr>
      </p:sp>
      <p:sp>
        <p:nvSpPr>
          <p:cNvPr id="8" name="Text 5"/>
          <p:cNvSpPr txBox="1"/>
          <p:nvPr/>
        </p:nvSpPr>
        <p:spPr>
          <a:xfrm>
            <a:off x="859536" y="2432304"/>
            <a:ext cx="2165528" cy="274320"/>
          </a:xfrm>
          <a:prstGeom prst="rect">
            <a:avLst/>
          </a:prstGeom>
          <a:noFill/>
          <a:ln/>
        </p:spPr>
        <p:txBody>
          <a:bodyPr wrap="square" lIns="0" tIns="0" rIns="0" bIns="0" rtlCol="0" anchor="ctr"/>
          <a:lstStyle/>
          <a:p>
            <a:pPr indent="0" marL="0">
              <a:buNone/>
            </a:pPr>
            <a:r>
              <a:rPr lang="en-US" sz="950" b="1" spc="110" kern="0" dirty="0">
                <a:solidFill>
                  <a:srgbClr val="8A6420"/>
                </a:solidFill>
                <a:latin typeface="Courier New" pitchFamily="34" charset="0"/>
                <a:ea typeface="Courier New" pitchFamily="34" charset="-122"/>
                <a:cs typeface="Courier New" pitchFamily="34" charset="-120"/>
              </a:rPr>
              <a:t>IT ABSTAINS</a:t>
            </a:r>
            <a:endParaRPr lang="en-US" sz="950" dirty="0"/>
          </a:p>
        </p:txBody>
      </p:sp>
      <p:sp>
        <p:nvSpPr>
          <p:cNvPr id="9" name="Text 6"/>
          <p:cNvSpPr txBox="1"/>
          <p:nvPr/>
        </p:nvSpPr>
        <p:spPr>
          <a:xfrm>
            <a:off x="859536" y="2798064"/>
            <a:ext cx="2165528" cy="2057400"/>
          </a:xfrm>
          <a:prstGeom prst="rect">
            <a:avLst/>
          </a:prstGeom>
          <a:noFill/>
          <a:ln/>
        </p:spPr>
        <p:txBody>
          <a:bodyPr wrap="square" lIns="0" tIns="0" rIns="0" bIns="0" rtlCol="0" anchor="t"/>
          <a:lstStyle/>
          <a:p>
            <a:pPr indent="0" marL="0">
              <a:lnSpc>
                <a:spcPts val="1650"/>
              </a:lnSpc>
              <a:buNone/>
            </a:pPr>
            <a:r>
              <a:rPr lang="en-US" sz="1180" dirty="0">
                <a:solidFill>
                  <a:srgbClr val="C8CBDA"/>
                </a:solidFill>
                <a:latin typeface="Cambria" pitchFamily="34" charset="0"/>
                <a:ea typeface="Cambria" pitchFamily="34" charset="-122"/>
                <a:cs typeface="Cambria" pitchFamily="34" charset="-120"/>
              </a:rPr>
              <a:t>On any structure under five years old. There is nothing to calibrate against yet, so it declines to have an opinion.</a:t>
            </a:r>
            <a:endParaRPr lang="en-US" sz="1180" dirty="0"/>
          </a:p>
        </p:txBody>
      </p:sp>
      <p:sp>
        <p:nvSpPr>
          <p:cNvPr id="10" name="Shape 7"/>
          <p:cNvSpPr/>
          <p:nvPr/>
        </p:nvSpPr>
        <p:spPr>
          <a:xfrm>
            <a:off x="3427400" y="2194560"/>
            <a:ext cx="2567864" cy="2788920"/>
          </a:xfrm>
          <a:prstGeom prst="rect">
            <a:avLst/>
          </a:prstGeom>
          <a:solidFill>
            <a:srgbClr val="0F1738">
              <a:alpha val="80000"/>
            </a:srgbClr>
          </a:solidFill>
          <a:ln w="9525">
            <a:solidFill>
              <a:srgbClr val="2A3560"/>
            </a:solidFill>
            <a:prstDash val="solid"/>
          </a:ln>
        </p:spPr>
      </p:sp>
      <p:sp>
        <p:nvSpPr>
          <p:cNvPr id="11" name="Shape 8"/>
          <p:cNvSpPr/>
          <p:nvPr/>
        </p:nvSpPr>
        <p:spPr>
          <a:xfrm>
            <a:off x="3427400" y="2194560"/>
            <a:ext cx="2567864" cy="54864"/>
          </a:xfrm>
          <a:prstGeom prst="rect">
            <a:avLst/>
          </a:prstGeom>
          <a:solidFill>
            <a:srgbClr val="8A6420"/>
          </a:solidFill>
          <a:ln/>
        </p:spPr>
      </p:sp>
      <p:sp>
        <p:nvSpPr>
          <p:cNvPr id="12" name="Text 9"/>
          <p:cNvSpPr txBox="1"/>
          <p:nvPr/>
        </p:nvSpPr>
        <p:spPr>
          <a:xfrm>
            <a:off x="3628568" y="2432304"/>
            <a:ext cx="2165528" cy="274320"/>
          </a:xfrm>
          <a:prstGeom prst="rect">
            <a:avLst/>
          </a:prstGeom>
          <a:noFill/>
          <a:ln/>
        </p:spPr>
        <p:txBody>
          <a:bodyPr wrap="square" lIns="0" tIns="0" rIns="0" bIns="0" rtlCol="0" anchor="ctr"/>
          <a:lstStyle/>
          <a:p>
            <a:pPr indent="0" marL="0">
              <a:buNone/>
            </a:pPr>
            <a:r>
              <a:rPr lang="en-US" sz="950" b="1" spc="110" kern="0" dirty="0">
                <a:solidFill>
                  <a:srgbClr val="8A6420"/>
                </a:solidFill>
                <a:latin typeface="Courier New" pitchFamily="34" charset="0"/>
                <a:ea typeface="Courier New" pitchFamily="34" charset="-122"/>
                <a:cs typeface="Courier New" pitchFamily="34" charset="-120"/>
              </a:rPr>
              <a:t>IT UNDER-COVERS</a:t>
            </a:r>
            <a:endParaRPr lang="en-US" sz="950" dirty="0"/>
          </a:p>
        </p:txBody>
      </p:sp>
      <p:sp>
        <p:nvSpPr>
          <p:cNvPr id="13" name="Text 10"/>
          <p:cNvSpPr txBox="1"/>
          <p:nvPr/>
        </p:nvSpPr>
        <p:spPr>
          <a:xfrm>
            <a:off x="3628568" y="2798064"/>
            <a:ext cx="2165528" cy="2057400"/>
          </a:xfrm>
          <a:prstGeom prst="rect">
            <a:avLst/>
          </a:prstGeom>
          <a:noFill/>
          <a:ln/>
        </p:spPr>
        <p:txBody>
          <a:bodyPr wrap="square" lIns="0" tIns="0" rIns="0" bIns="0" rtlCol="0" anchor="t"/>
          <a:lstStyle/>
          <a:p>
            <a:pPr indent="0" marL="0">
              <a:lnSpc>
                <a:spcPts val="1650"/>
              </a:lnSpc>
              <a:buNone/>
            </a:pPr>
            <a:r>
              <a:rPr lang="en-US" sz="1180" dirty="0">
                <a:solidFill>
                  <a:srgbClr val="C8CBDA"/>
                </a:solidFill>
                <a:latin typeface="Cambria" pitchFamily="34" charset="0"/>
                <a:ea typeface="Cambria" pitchFamily="34" charset="-122"/>
                <a:cs typeface="Cambria" pitchFamily="34" charset="-120"/>
              </a:rPr>
              <a:t>Conformal intervals cover 89% against a 90% target. We report the shortfall rather than retune on the test years.</a:t>
            </a:r>
            <a:endParaRPr lang="en-US" sz="1180" dirty="0"/>
          </a:p>
        </p:txBody>
      </p:sp>
      <p:sp>
        <p:nvSpPr>
          <p:cNvPr id="14" name="Shape 11"/>
          <p:cNvSpPr/>
          <p:nvPr/>
        </p:nvSpPr>
        <p:spPr>
          <a:xfrm>
            <a:off x="6196432" y="2194560"/>
            <a:ext cx="2567864" cy="2788920"/>
          </a:xfrm>
          <a:prstGeom prst="rect">
            <a:avLst/>
          </a:prstGeom>
          <a:solidFill>
            <a:srgbClr val="0F1738">
              <a:alpha val="80000"/>
            </a:srgbClr>
          </a:solidFill>
          <a:ln w="9525">
            <a:solidFill>
              <a:srgbClr val="2A3560"/>
            </a:solidFill>
            <a:prstDash val="solid"/>
          </a:ln>
        </p:spPr>
      </p:sp>
      <p:sp>
        <p:nvSpPr>
          <p:cNvPr id="15" name="Shape 12"/>
          <p:cNvSpPr/>
          <p:nvPr/>
        </p:nvSpPr>
        <p:spPr>
          <a:xfrm>
            <a:off x="6196432" y="2194560"/>
            <a:ext cx="2567864" cy="54864"/>
          </a:xfrm>
          <a:prstGeom prst="rect">
            <a:avLst/>
          </a:prstGeom>
          <a:solidFill>
            <a:srgbClr val="8A6420"/>
          </a:solidFill>
          <a:ln/>
        </p:spPr>
      </p:sp>
      <p:sp>
        <p:nvSpPr>
          <p:cNvPr id="16" name="Text 13"/>
          <p:cNvSpPr txBox="1"/>
          <p:nvPr/>
        </p:nvSpPr>
        <p:spPr>
          <a:xfrm>
            <a:off x="6397600" y="2432304"/>
            <a:ext cx="2165528" cy="274320"/>
          </a:xfrm>
          <a:prstGeom prst="rect">
            <a:avLst/>
          </a:prstGeom>
          <a:noFill/>
          <a:ln/>
        </p:spPr>
        <p:txBody>
          <a:bodyPr wrap="square" lIns="0" tIns="0" rIns="0" bIns="0" rtlCol="0" anchor="ctr"/>
          <a:lstStyle/>
          <a:p>
            <a:pPr indent="0" marL="0">
              <a:buNone/>
            </a:pPr>
            <a:r>
              <a:rPr lang="en-US" sz="950" b="1" spc="110" kern="0" dirty="0">
                <a:solidFill>
                  <a:srgbClr val="8A6420"/>
                </a:solidFill>
                <a:latin typeface="Courier New" pitchFamily="34" charset="0"/>
                <a:ea typeface="Courier New" pitchFamily="34" charset="-122"/>
                <a:cs typeface="Courier New" pitchFamily="34" charset="-120"/>
              </a:rPr>
              <a:t>IT WITHHOLDS</a:t>
            </a:r>
            <a:endParaRPr lang="en-US" sz="950" dirty="0"/>
          </a:p>
        </p:txBody>
      </p:sp>
      <p:sp>
        <p:nvSpPr>
          <p:cNvPr id="17" name="Text 14"/>
          <p:cNvSpPr txBox="1"/>
          <p:nvPr/>
        </p:nvSpPr>
        <p:spPr>
          <a:xfrm>
            <a:off x="6397600" y="2798064"/>
            <a:ext cx="2165528" cy="2057400"/>
          </a:xfrm>
          <a:prstGeom prst="rect">
            <a:avLst/>
          </a:prstGeom>
          <a:noFill/>
          <a:ln/>
        </p:spPr>
        <p:txBody>
          <a:bodyPr wrap="square" lIns="0" tIns="0" rIns="0" bIns="0" rtlCol="0" anchor="t"/>
          <a:lstStyle/>
          <a:p>
            <a:pPr indent="0" marL="0">
              <a:lnSpc>
                <a:spcPts val="1650"/>
              </a:lnSpc>
              <a:buNone/>
            </a:pPr>
            <a:r>
              <a:rPr lang="en-US" sz="1180" dirty="0">
                <a:solidFill>
                  <a:srgbClr val="C8CBDA"/>
                </a:solidFill>
                <a:latin typeface="Cambria" pitchFamily="34" charset="0"/>
                <a:ea typeface="Cambria" pitchFamily="34" charset="-122"/>
                <a:cs typeface="Cambria" pitchFamily="34" charset="-120"/>
              </a:rPr>
              <a:t>The model calibrated on four cold, wet, Atlantic states. 27 of 51 jurisdictions sit outside that climate, so the national ranking is withheld for them. They are still audited.</a:t>
            </a:r>
            <a:endParaRPr lang="en-US" sz="1180" dirty="0"/>
          </a:p>
        </p:txBody>
      </p:sp>
      <p:sp>
        <p:nvSpPr>
          <p:cNvPr id="18" name="Shape 15"/>
          <p:cNvSpPr/>
          <p:nvPr/>
        </p:nvSpPr>
        <p:spPr>
          <a:xfrm>
            <a:off x="8965463" y="2194560"/>
            <a:ext cx="2567864" cy="2788920"/>
          </a:xfrm>
          <a:prstGeom prst="rect">
            <a:avLst/>
          </a:prstGeom>
          <a:solidFill>
            <a:srgbClr val="0F1738">
              <a:alpha val="80000"/>
            </a:srgbClr>
          </a:solidFill>
          <a:ln w="9525">
            <a:solidFill>
              <a:srgbClr val="2A3560"/>
            </a:solidFill>
            <a:prstDash val="solid"/>
          </a:ln>
        </p:spPr>
      </p:sp>
      <p:sp>
        <p:nvSpPr>
          <p:cNvPr id="19" name="Shape 16"/>
          <p:cNvSpPr/>
          <p:nvPr/>
        </p:nvSpPr>
        <p:spPr>
          <a:xfrm>
            <a:off x="8965463" y="2194560"/>
            <a:ext cx="2567864" cy="54864"/>
          </a:xfrm>
          <a:prstGeom prst="rect">
            <a:avLst/>
          </a:prstGeom>
          <a:solidFill>
            <a:srgbClr val="C6283C"/>
          </a:solidFill>
          <a:ln/>
        </p:spPr>
      </p:sp>
      <p:sp>
        <p:nvSpPr>
          <p:cNvPr id="20" name="Text 17"/>
          <p:cNvSpPr txBox="1"/>
          <p:nvPr/>
        </p:nvSpPr>
        <p:spPr>
          <a:xfrm>
            <a:off x="9166631" y="2432304"/>
            <a:ext cx="2165528" cy="274320"/>
          </a:xfrm>
          <a:prstGeom prst="rect">
            <a:avLst/>
          </a:prstGeom>
          <a:noFill/>
          <a:ln/>
        </p:spPr>
        <p:txBody>
          <a:bodyPr wrap="square" lIns="0" tIns="0" rIns="0" bIns="0" rtlCol="0" anchor="ctr"/>
          <a:lstStyle/>
          <a:p>
            <a:pPr indent="0" marL="0">
              <a:buNone/>
            </a:pPr>
            <a:r>
              <a:rPr lang="en-US" sz="950" b="1" spc="110" kern="0" dirty="0">
                <a:solidFill>
                  <a:srgbClr val="E4607A"/>
                </a:solidFill>
                <a:latin typeface="Courier New" pitchFamily="34" charset="0"/>
                <a:ea typeface="Courier New" pitchFamily="34" charset="-122"/>
                <a:cs typeface="Courier New" pitchFamily="34" charset="-120"/>
              </a:rPr>
              <a:t>IT MISSED ONE</a:t>
            </a:r>
            <a:endParaRPr lang="en-US" sz="950" dirty="0"/>
          </a:p>
        </p:txBody>
      </p:sp>
      <p:sp>
        <p:nvSpPr>
          <p:cNvPr id="21" name="Text 18"/>
          <p:cNvSpPr txBox="1"/>
          <p:nvPr/>
        </p:nvSpPr>
        <p:spPr>
          <a:xfrm>
            <a:off x="9166631" y="2798064"/>
            <a:ext cx="2165528" cy="2057400"/>
          </a:xfrm>
          <a:prstGeom prst="rect">
            <a:avLst/>
          </a:prstGeom>
          <a:noFill/>
          <a:ln/>
        </p:spPr>
        <p:txBody>
          <a:bodyPr wrap="square" lIns="0" tIns="0" rIns="0" bIns="0" rtlCol="0" anchor="t"/>
          <a:lstStyle/>
          <a:p>
            <a:pPr indent="0" marL="0">
              <a:lnSpc>
                <a:spcPts val="1650"/>
              </a:lnSpc>
              <a:buNone/>
            </a:pPr>
            <a:r>
              <a:rPr lang="en-US" sz="1180" dirty="0">
                <a:solidFill>
                  <a:srgbClr val="C8CBDA"/>
                </a:solidFill>
                <a:latin typeface="Cambria" pitchFamily="34" charset="0"/>
                <a:ea typeface="Cambria" pitchFamily="34" charset="-122"/>
                <a:cs typeface="Cambria" pitchFamily="34" charset="-120"/>
              </a:rPr>
              <a:t>The Washington Bridge closed in 2023 and we rated it slightly better than the record did. The failure was in anchor tie-down details no weather feature can see. It is displayed in the app as a miss.</a:t>
            </a:r>
            <a:endParaRPr lang="en-US" sz="1180" dirty="0"/>
          </a:p>
        </p:txBody>
      </p:sp>
      <p:sp>
        <p:nvSpPr>
          <p:cNvPr id="22" name="Text 19"/>
          <p:cNvSpPr txBox="1"/>
          <p:nvPr/>
        </p:nvSpPr>
        <p:spPr>
          <a:xfrm>
            <a:off x="658368" y="5321808"/>
            <a:ext cx="10874959" cy="365760"/>
          </a:xfrm>
          <a:prstGeom prst="rect">
            <a:avLst/>
          </a:prstGeom>
          <a:noFill/>
          <a:ln/>
        </p:spPr>
        <p:txBody>
          <a:bodyPr wrap="square" lIns="0" tIns="0" rIns="0" bIns="0" rtlCol="0" anchor="ctr"/>
          <a:lstStyle/>
          <a:p>
            <a:pPr algn="ctr" indent="0" marL="0">
              <a:buNone/>
            </a:pPr>
            <a:r>
              <a:rPr lang="en-US" sz="1350" i="1" dirty="0">
                <a:solidFill>
                  <a:srgbClr val="FAF8F4"/>
                </a:solidFill>
                <a:latin typeface="Cambria" pitchFamily="34" charset="0"/>
                <a:ea typeface="Cambria" pitchFamily="34" charset="-122"/>
                <a:cs typeface="Cambria" pitchFamily="34" charset="-120"/>
              </a:rPr>
              <a:t>A system that cannot tell you where it stops working is not a second opinion. It is a guess.</a:t>
            </a:r>
            <a:endParaRPr lang="en-US" sz="13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4_undersid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F1738">
              <a:alpha val="58000"/>
            </a:srgbClr>
          </a:solidFill>
          <a:ln/>
        </p:spPr>
      </p:sp>
      <p:sp>
        <p:nvSpPr>
          <p:cNvPr id="4" name="Text 1"/>
          <p:cNvSpPr txBox="1"/>
          <p:nvPr/>
        </p:nvSpPr>
        <p:spPr>
          <a:xfrm>
            <a:off x="658368" y="2395728"/>
            <a:ext cx="54864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PART TWO</a:t>
            </a:r>
            <a:endParaRPr lang="en-US" sz="950" dirty="0"/>
          </a:p>
        </p:txBody>
      </p:sp>
      <p:sp>
        <p:nvSpPr>
          <p:cNvPr id="5" name="Text 2"/>
          <p:cNvSpPr txBox="1"/>
          <p:nvPr/>
        </p:nvSpPr>
        <p:spPr>
          <a:xfrm>
            <a:off x="658368" y="2724912"/>
            <a:ext cx="9144000" cy="1005840"/>
          </a:xfrm>
          <a:prstGeom prst="rect">
            <a:avLst/>
          </a:prstGeom>
          <a:noFill/>
          <a:ln/>
        </p:spPr>
        <p:txBody>
          <a:bodyPr wrap="square" lIns="0" tIns="0" rIns="0" bIns="0" rtlCol="0" anchor="ctr"/>
          <a:lstStyle/>
          <a:p>
            <a:pPr indent="0" marL="0">
              <a:buNone/>
            </a:pPr>
            <a:r>
              <a:rPr lang="en-US" sz="4600" b="1" dirty="0">
                <a:solidFill>
                  <a:srgbClr val="FAF8F4"/>
                </a:solidFill>
                <a:latin typeface="Cambria" pitchFamily="34" charset="0"/>
                <a:ea typeface="Cambria" pitchFamily="34" charset="-122"/>
                <a:cs typeface="Cambria" pitchFamily="34" charset="-120"/>
              </a:rPr>
              <a:t>The thing itself.</a:t>
            </a:r>
            <a:endParaRPr lang="en-US" sz="4600" dirty="0"/>
          </a:p>
        </p:txBody>
      </p:sp>
      <p:sp>
        <p:nvSpPr>
          <p:cNvPr id="6" name="Shape 3"/>
          <p:cNvSpPr/>
          <p:nvPr/>
        </p:nvSpPr>
        <p:spPr>
          <a:xfrm>
            <a:off x="658368" y="3877056"/>
            <a:ext cx="2377440" cy="0"/>
          </a:xfrm>
          <a:prstGeom prst="line">
            <a:avLst/>
          </a:prstGeom>
          <a:noFill/>
          <a:ln w="28575">
            <a:solidFill>
              <a:srgbClr val="C6283C"/>
            </a:solidFill>
            <a:prstDash val="solid"/>
          </a:ln>
        </p:spPr>
      </p:sp>
      <p:sp>
        <p:nvSpPr>
          <p:cNvPr id="7" name="Text 4"/>
          <p:cNvSpPr txBox="1"/>
          <p:nvPr/>
        </p:nvSpPr>
        <p:spPr>
          <a:xfrm>
            <a:off x="658368" y="4114800"/>
            <a:ext cx="6766560" cy="822960"/>
          </a:xfrm>
          <a:prstGeom prst="rect">
            <a:avLst/>
          </a:prstGeom>
          <a:noFill/>
          <a:ln/>
        </p:spPr>
        <p:txBody>
          <a:bodyPr wrap="square" lIns="0" tIns="0" rIns="0" bIns="0" rtlCol="0" anchor="t"/>
          <a:lstStyle/>
          <a:p>
            <a:pPr algn="l" indent="0" marL="0">
              <a:lnSpc>
                <a:spcPts val="2280"/>
              </a:lnSpc>
              <a:buNone/>
            </a:pPr>
            <a:r>
              <a:rPr lang="en-US" sz="1500" dirty="0">
                <a:solidFill>
                  <a:srgbClr val="C8CBDA"/>
                </a:solidFill>
                <a:latin typeface="Cambria" pitchFamily="34" charset="0"/>
                <a:ea typeface="Cambria" pitchFamily="34" charset="-122"/>
                <a:cs typeface="Cambria" pitchFamily="34" charset="-120"/>
              </a:rPr>
              <a:t>Everything from here is a screenshot of software that is deployed and running right now, at a public address, that you can open on your own phone while I talk.</a:t>
            </a:r>
            <a:endParaRPr lang="en-US" sz="1500" dirty="0"/>
          </a:p>
        </p:txBody>
      </p:sp>
      <p:sp>
        <p:nvSpPr>
          <p:cNvPr id="8" name="Text 5"/>
          <p:cNvSpPr txBox="1"/>
          <p:nvPr/>
        </p:nvSpPr>
        <p:spPr>
          <a:xfrm>
            <a:off x="658368" y="5029200"/>
            <a:ext cx="6400800" cy="365760"/>
          </a:xfrm>
          <a:prstGeom prst="rect">
            <a:avLst/>
          </a:prstGeom>
          <a:noFill/>
          <a:ln/>
        </p:spPr>
        <p:txBody>
          <a:bodyPr wrap="square" lIns="0" tIns="0" rIns="0" bIns="0" rtlCol="0" anchor="ctr"/>
          <a:lstStyle/>
          <a:p>
            <a:pPr indent="0" marL="0">
              <a:buNone/>
            </a:pPr>
            <a:r>
              <a:rPr lang="en-US" sz="1300" b="1" spc="100" kern="0" dirty="0">
                <a:solidFill>
                  <a:srgbClr val="E4607A"/>
                </a:solidFill>
                <a:latin typeface="Courier New" pitchFamily="34" charset="0"/>
                <a:ea typeface="Courier New" pitchFamily="34" charset="-122"/>
                <a:cs typeface="Courier New" pitchFamily="34" charset="-120"/>
              </a:rPr>
              <a:t>dissent-nexus.netlify.app</a:t>
            </a:r>
            <a:endParaRPr lang="en-US" sz="13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1_desk_grain.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14 / THE PRODUCT — THE WORKING SURFACE</a:t>
            </a:r>
            <a:endParaRPr lang="en-US" sz="950" dirty="0"/>
          </a:p>
        </p:txBody>
      </p:sp>
      <p:sp>
        <p:nvSpPr>
          <p:cNvPr id="4" name="Text 1"/>
          <p:cNvSpPr txBox="1"/>
          <p:nvPr/>
        </p:nvSpPr>
        <p:spPr>
          <a:xfrm>
            <a:off x="658368" y="749808"/>
            <a:ext cx="7680960" cy="1051560"/>
          </a:xfrm>
          <a:prstGeom prst="rect">
            <a:avLst/>
          </a:prstGeom>
          <a:noFill/>
          <a:ln/>
        </p:spPr>
        <p:txBody>
          <a:bodyPr wrap="square" lIns="0" tIns="0" rIns="0" bIns="0" rtlCol="0" anchor="t"/>
          <a:lstStyle/>
          <a:p>
            <a:pPr indent="0" marL="0">
              <a:lnSpc>
                <a:spcPts val="2684"/>
              </a:lnSpc>
              <a:buNone/>
            </a:pPr>
            <a:r>
              <a:rPr lang="en-US" sz="2200" b="1" dirty="0">
                <a:solidFill>
                  <a:srgbClr val="FAF8F4"/>
                </a:solidFill>
                <a:latin typeface="Cambria" pitchFamily="34" charset="0"/>
                <a:ea typeface="Cambria" pitchFamily="34" charset="-122"/>
                <a:cs typeface="Cambria" pitchFamily="34" charset="-120"/>
              </a:rPr>
              <a:t>The output is not a dashboard. It is a docket:</a:t>
            </a:r>
            <a:endParaRPr lang="en-US" sz="2200" dirty="0"/>
          </a:p>
          <a:p>
            <a:pPr indent="0" marL="0">
              <a:lnSpc>
                <a:spcPts val="2684"/>
              </a:lnSpc>
              <a:buNone/>
            </a:pPr>
            <a:r>
              <a:rPr lang="en-US" sz="2200" b="1" dirty="0">
                <a:solidFill>
                  <a:srgbClr val="FAF8F4"/>
                </a:solidFill>
                <a:latin typeface="Cambria" pitchFamily="34" charset="0"/>
                <a:ea typeface="Cambria" pitchFamily="34" charset="-122"/>
                <a:cs typeface="Cambria" pitchFamily="34" charset="-120"/>
              </a:rPr>
              <a:t>a ranked list with a dated obligation on each row.</a:t>
            </a:r>
            <a:endParaRPr lang="en-US" sz="2200" dirty="0"/>
          </a:p>
        </p:txBody>
      </p:sp>
      <p:pic>
        <p:nvPicPr>
          <p:cNvPr id="5" name="Image 1" descr="/Users/arockia/Downloads/dissent/pitch/shots/prepped/docket_full.png">    </p:cNvPr>
          <p:cNvPicPr>
            <a:picLocks noChangeAspect="1"/>
          </p:cNvPicPr>
          <p:nvPr/>
        </p:nvPicPr>
        <p:blipFill>
          <a:blip r:embed="rId2"/>
          <a:stretch>
            <a:fillRect/>
          </a:stretch>
        </p:blipFill>
        <p:spPr>
          <a:xfrm>
            <a:off x="658368" y="1938528"/>
            <a:ext cx="6437376" cy="4023360"/>
          </a:xfrm>
          <a:prstGeom prst="rect">
            <a:avLst/>
          </a:prstGeom>
          <a:effectLst>
            <a:outerShdw sx="100000" sy="100000" kx="0" ky="0" algn="bl" rotWithShape="0" blurRad="228600" dist="63500" dir="5400000">
              <a:srgbClr val="000000">
                <a:alpha val="55000"/>
              </a:srgbClr>
            </a:outerShdw>
          </a:effectLst>
        </p:spPr>
      </p:pic>
      <p:sp>
        <p:nvSpPr>
          <p:cNvPr id="6" name="Text 2"/>
          <p:cNvSpPr txBox="1"/>
          <p:nvPr/>
        </p:nvSpPr>
        <p:spPr>
          <a:xfrm>
            <a:off x="8686800" y="2011680"/>
            <a:ext cx="2846527" cy="1051560"/>
          </a:xfrm>
          <a:prstGeom prst="rect">
            <a:avLst/>
          </a:prstGeom>
          <a:noFill/>
          <a:ln/>
        </p:spPr>
        <p:txBody>
          <a:bodyPr wrap="square" lIns="0" tIns="0" rIns="0" bIns="0" rtlCol="0" anchor="t"/>
          <a:lstStyle/>
          <a:p>
            <a:pPr indent="0" marL="0">
              <a:lnSpc>
                <a:spcPts val="1813"/>
              </a:lnSpc>
              <a:buNone/>
            </a:pPr>
            <a:r>
              <a:rPr lang="en-US" sz="1000" b="1" dirty="0">
                <a:solidFill>
                  <a:srgbClr val="C6283C"/>
                </a:solidFill>
                <a:latin typeface="Courier New" pitchFamily="34" charset="0"/>
                <a:ea typeface="Courier New" pitchFamily="34" charset="-122"/>
                <a:cs typeface="Courier New" pitchFamily="34" charset="-120"/>
              </a:rPr>
              <a:t>1  </a:t>
            </a:r>
            <a:pPr indent="0" marL="0">
              <a:lnSpc>
                <a:spcPts val="1813"/>
              </a:lnSpc>
              <a:buNone/>
            </a:pPr>
            <a:r>
              <a:rPr lang="en-US" sz="1250" dirty="0">
                <a:solidFill>
                  <a:srgbClr val="C8CBDA"/>
                </a:solidFill>
                <a:latin typeface="Cambria" pitchFamily="34" charset="0"/>
                <a:ea typeface="Cambria" pitchFamily="34" charset="-122"/>
                <a:cs typeface="Cambria" pitchFamily="34" charset="-120"/>
              </a:rPr>
              <a:t>Every structure the model has an opinion about, ranked by how far the record has drifted from the evidence.</a:t>
            </a:r>
            <a:endParaRPr lang="en-US" sz="1000" dirty="0"/>
          </a:p>
        </p:txBody>
      </p:sp>
      <p:sp>
        <p:nvSpPr>
          <p:cNvPr id="7" name="Text 3"/>
          <p:cNvSpPr txBox="1"/>
          <p:nvPr/>
        </p:nvSpPr>
        <p:spPr>
          <a:xfrm>
            <a:off x="8686800" y="3218688"/>
            <a:ext cx="2846527" cy="1051560"/>
          </a:xfrm>
          <a:prstGeom prst="rect">
            <a:avLst/>
          </a:prstGeom>
          <a:noFill/>
          <a:ln/>
        </p:spPr>
        <p:txBody>
          <a:bodyPr wrap="square" lIns="0" tIns="0" rIns="0" bIns="0" rtlCol="0" anchor="t"/>
          <a:lstStyle/>
          <a:p>
            <a:pPr indent="0" marL="0">
              <a:lnSpc>
                <a:spcPts val="1813"/>
              </a:lnSpc>
              <a:buNone/>
            </a:pPr>
            <a:r>
              <a:rPr lang="en-US" sz="1000" b="1" dirty="0">
                <a:solidFill>
                  <a:srgbClr val="C6283C"/>
                </a:solidFill>
                <a:latin typeface="Courier New" pitchFamily="34" charset="0"/>
                <a:ea typeface="Courier New" pitchFamily="34" charset="-122"/>
                <a:cs typeface="Courier New" pitchFamily="34" charset="-120"/>
              </a:rPr>
              <a:t>2  </a:t>
            </a:r>
            <a:pPr indent="0" marL="0">
              <a:lnSpc>
                <a:spcPts val="1813"/>
              </a:lnSpc>
              <a:buNone/>
            </a:pPr>
            <a:r>
              <a:rPr lang="en-US" sz="1250" dirty="0">
                <a:solidFill>
                  <a:srgbClr val="C8CBDA"/>
                </a:solidFill>
                <a:latin typeface="Cambria" pitchFamily="34" charset="0"/>
                <a:ea typeface="Cambria" pitchFamily="34" charset="-122"/>
                <a:cs typeface="Cambria" pitchFamily="34" charset="-120"/>
              </a:rPr>
              <a:t>The two witnesses, side by side on every row: what was filed, and what the physics says — with its interval.</a:t>
            </a:r>
            <a:endParaRPr lang="en-US" sz="1000" dirty="0"/>
          </a:p>
        </p:txBody>
      </p:sp>
      <p:sp>
        <p:nvSpPr>
          <p:cNvPr id="8" name="Text 4"/>
          <p:cNvSpPr txBox="1"/>
          <p:nvPr/>
        </p:nvSpPr>
        <p:spPr>
          <a:xfrm>
            <a:off x="8686800" y="4425696"/>
            <a:ext cx="2846527" cy="1051560"/>
          </a:xfrm>
          <a:prstGeom prst="rect">
            <a:avLst/>
          </a:prstGeom>
          <a:noFill/>
          <a:ln/>
        </p:spPr>
        <p:txBody>
          <a:bodyPr wrap="square" lIns="0" tIns="0" rIns="0" bIns="0" rtlCol="0" anchor="t"/>
          <a:lstStyle/>
          <a:p>
            <a:pPr indent="0" marL="0">
              <a:lnSpc>
                <a:spcPts val="1813"/>
              </a:lnSpc>
              <a:buNone/>
            </a:pPr>
            <a:r>
              <a:rPr lang="en-US" sz="1000" b="1" dirty="0">
                <a:solidFill>
                  <a:srgbClr val="C6283C"/>
                </a:solidFill>
                <a:latin typeface="Courier New" pitchFamily="34" charset="0"/>
                <a:ea typeface="Courier New" pitchFamily="34" charset="-122"/>
                <a:cs typeface="Courier New" pitchFamily="34" charset="-120"/>
              </a:rPr>
              <a:t>3  </a:t>
            </a:r>
            <a:pPr indent="0" marL="0">
              <a:lnSpc>
                <a:spcPts val="1813"/>
              </a:lnSpc>
              <a:buNone/>
            </a:pPr>
            <a:r>
              <a:rPr lang="en-US" sz="1250" dirty="0">
                <a:solidFill>
                  <a:srgbClr val="C8CBDA"/>
                </a:solidFill>
                <a:latin typeface="Cambria" pitchFamily="34" charset="0"/>
                <a:ea typeface="Cambria" pitchFamily="34" charset="-122"/>
                <a:cs typeface="Cambria" pitchFamily="34" charset="-120"/>
              </a:rPr>
              <a:t>Bands sized to real capacity — INSPECT NOW, SCHEDULE, WATCH — so the list is a work order, not a wall of risk.</a:t>
            </a:r>
            <a:endParaRPr lang="en-US" sz="1000" dirty="0"/>
          </a:p>
        </p:txBody>
      </p:sp>
      <p:sp>
        <p:nvSpPr>
          <p:cNvPr id="9" name="Shape 5"/>
          <p:cNvSpPr/>
          <p:nvPr/>
        </p:nvSpPr>
        <p:spPr>
          <a:xfrm>
            <a:off x="8686800" y="5678424"/>
            <a:ext cx="2846527" cy="0"/>
          </a:xfrm>
          <a:prstGeom prst="line">
            <a:avLst/>
          </a:prstGeom>
          <a:noFill/>
          <a:ln w="9525">
            <a:solidFill>
              <a:srgbClr val="2A3560"/>
            </a:solidFill>
            <a:prstDash val="solid"/>
          </a:ln>
        </p:spPr>
      </p:sp>
      <p:sp>
        <p:nvSpPr>
          <p:cNvPr id="10" name="Text 6"/>
          <p:cNvSpPr txBox="1"/>
          <p:nvPr/>
        </p:nvSpPr>
        <p:spPr>
          <a:xfrm>
            <a:off x="8686800" y="5833872"/>
            <a:ext cx="2846527" cy="822960"/>
          </a:xfrm>
          <a:prstGeom prst="rect">
            <a:avLst/>
          </a:prstGeom>
          <a:noFill/>
          <a:ln/>
        </p:spPr>
        <p:txBody>
          <a:bodyPr wrap="square" lIns="0" tIns="0" rIns="0" bIns="0" rtlCol="0" anchor="t"/>
          <a:lstStyle/>
          <a:p>
            <a:pPr indent="0" marL="0">
              <a:lnSpc>
                <a:spcPts val="1600"/>
              </a:lnSpc>
              <a:buNone/>
            </a:pPr>
            <a:r>
              <a:rPr lang="en-US" sz="1150" i="1" dirty="0">
                <a:solidFill>
                  <a:srgbClr val="8A93B8"/>
                </a:solidFill>
                <a:latin typeface="Cambria" pitchFamily="34" charset="0"/>
                <a:ea typeface="Cambria" pitchFamily="34" charset="-122"/>
                <a:cs typeface="Cambria" pitchFamily="34" charset="-120"/>
              </a:rPr>
              <a:t>Click any row and a case file opens: the full trajectory, what drove the dissent, and a satellite view of the structure.</a:t>
            </a:r>
            <a:endParaRPr lang="en-US" sz="1150" dirty="0"/>
          </a:p>
        </p:txBody>
      </p:sp>
      <p:sp>
        <p:nvSpPr>
          <p:cNvPr id="11" name="Shape 7"/>
          <p:cNvSpPr/>
          <p:nvPr/>
        </p:nvSpPr>
        <p:spPr>
          <a:xfrm>
            <a:off x="5424020" y="3038094"/>
            <a:ext cx="214884" cy="214884"/>
          </a:xfrm>
          <a:prstGeom prst="ellipse">
            <a:avLst/>
          </a:prstGeom>
          <a:solidFill>
            <a:srgbClr val="C6283C"/>
          </a:solidFill>
          <a:ln w="12700">
            <a:solidFill>
              <a:srgbClr val="FAF8F4"/>
            </a:solidFill>
            <a:prstDash val="solid"/>
          </a:ln>
        </p:spPr>
      </p:sp>
      <p:sp>
        <p:nvSpPr>
          <p:cNvPr id="12" name="Text 8"/>
          <p:cNvSpPr txBox="1"/>
          <p:nvPr/>
        </p:nvSpPr>
        <p:spPr>
          <a:xfrm>
            <a:off x="5424020" y="3049067"/>
            <a:ext cx="214884" cy="21488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1</a:t>
            </a:r>
            <a:endParaRPr lang="en-US" sz="900" dirty="0"/>
          </a:p>
        </p:txBody>
      </p:sp>
      <p:sp>
        <p:nvSpPr>
          <p:cNvPr id="13" name="Shape 9"/>
          <p:cNvSpPr/>
          <p:nvPr/>
        </p:nvSpPr>
        <p:spPr>
          <a:xfrm>
            <a:off x="4587161" y="2808762"/>
            <a:ext cx="214884" cy="214884"/>
          </a:xfrm>
          <a:prstGeom prst="ellipse">
            <a:avLst/>
          </a:prstGeom>
          <a:solidFill>
            <a:srgbClr val="C6283C"/>
          </a:solidFill>
          <a:ln w="12700">
            <a:solidFill>
              <a:srgbClr val="FAF8F4"/>
            </a:solidFill>
            <a:prstDash val="solid"/>
          </a:ln>
        </p:spPr>
      </p:sp>
      <p:sp>
        <p:nvSpPr>
          <p:cNvPr id="14" name="Text 10"/>
          <p:cNvSpPr txBox="1"/>
          <p:nvPr/>
        </p:nvSpPr>
        <p:spPr>
          <a:xfrm>
            <a:off x="4587161" y="2819735"/>
            <a:ext cx="214884" cy="21488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2</a:t>
            </a:r>
            <a:endParaRPr lang="en-US" sz="900" dirty="0"/>
          </a:p>
        </p:txBody>
      </p:sp>
      <p:sp>
        <p:nvSpPr>
          <p:cNvPr id="15" name="Shape 11"/>
          <p:cNvSpPr/>
          <p:nvPr/>
        </p:nvSpPr>
        <p:spPr>
          <a:xfrm>
            <a:off x="3994922" y="2539197"/>
            <a:ext cx="214884" cy="214884"/>
          </a:xfrm>
          <a:prstGeom prst="ellipse">
            <a:avLst/>
          </a:prstGeom>
          <a:solidFill>
            <a:srgbClr val="C6283C"/>
          </a:solidFill>
          <a:ln w="12700">
            <a:solidFill>
              <a:srgbClr val="FAF8F4"/>
            </a:solidFill>
            <a:prstDash val="solid"/>
          </a:ln>
        </p:spPr>
      </p:sp>
      <p:sp>
        <p:nvSpPr>
          <p:cNvPr id="16" name="Text 12"/>
          <p:cNvSpPr txBox="1"/>
          <p:nvPr/>
        </p:nvSpPr>
        <p:spPr>
          <a:xfrm>
            <a:off x="3994922" y="2550170"/>
            <a:ext cx="214884" cy="214884"/>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3</a:t>
            </a:r>
            <a:endParaRPr lang="en-US" sz="900" dirty="0"/>
          </a:p>
        </p:txBody>
      </p:sp>
      <p:sp>
        <p:nvSpPr>
          <p:cNvPr id="17" name="Text 13"/>
          <p:cNvSpPr txBox="1"/>
          <p:nvPr/>
        </p:nvSpPr>
        <p:spPr>
          <a:xfrm>
            <a:off x="658368" y="6089904"/>
            <a:ext cx="7818120" cy="384048"/>
          </a:xfrm>
          <a:prstGeom prst="rect">
            <a:avLst/>
          </a:prstGeom>
          <a:noFill/>
          <a:ln/>
        </p:spPr>
        <p:txBody>
          <a:bodyPr wrap="square" lIns="0" tIns="0" rIns="0" bIns="0" rtlCol="0" anchor="t"/>
          <a:lstStyle/>
          <a:p>
            <a:pPr algn="l" indent="0" marL="0">
              <a:lnSpc>
                <a:spcPts val="1491"/>
              </a:lnSpc>
              <a:buNone/>
            </a:pPr>
            <a:r>
              <a:rPr lang="en-US" sz="1050" i="1" dirty="0">
                <a:solidFill>
                  <a:srgbClr val="8A93B8"/>
                </a:solidFill>
                <a:latin typeface="Cambria" pitchFamily="34" charset="0"/>
                <a:ea typeface="Cambria" pitchFamily="34" charset="-122"/>
                <a:cs typeface="Cambria" pitchFamily="34" charset="-120"/>
              </a:rPr>
              <a:t>The Rhode Island docket. 804 structures on file, 12 flagged for immediate inspection.</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5_nation_texture.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15 / THE PRODUCT — COVERAGE</a:t>
            </a:r>
            <a:endParaRPr lang="en-US" sz="950" dirty="0"/>
          </a:p>
        </p:txBody>
      </p:sp>
      <p:sp>
        <p:nvSpPr>
          <p:cNvPr id="4" name="Text 1"/>
          <p:cNvSpPr txBox="1"/>
          <p:nvPr/>
        </p:nvSpPr>
        <p:spPr>
          <a:xfrm>
            <a:off x="658368" y="749808"/>
            <a:ext cx="10881360" cy="658368"/>
          </a:xfrm>
          <a:prstGeom prst="rect">
            <a:avLst/>
          </a:prstGeom>
          <a:noFill/>
          <a:ln/>
        </p:spPr>
        <p:txBody>
          <a:bodyPr wrap="square" lIns="0" tIns="0" rIns="0" bIns="0" rtlCol="0" anchor="t"/>
          <a:lstStyle/>
          <a:p>
            <a:pPr indent="0" marL="0">
              <a:lnSpc>
                <a:spcPts val="2928"/>
              </a:lnSpc>
              <a:buNone/>
            </a:pPr>
            <a:r>
              <a:rPr lang="en-US" sz="2400" b="1" dirty="0">
                <a:solidFill>
                  <a:srgbClr val="FAF8F4"/>
                </a:solidFill>
                <a:latin typeface="Cambria" pitchFamily="34" charset="0"/>
                <a:ea typeface="Cambria" pitchFamily="34" charset="-122"/>
                <a:cs typeface="Cambria" pitchFamily="34" charset="-120"/>
              </a:rPr>
              <a:t>All 621,137 rated structures in the United States, drawn in the browser.</a:t>
            </a:r>
            <a:endParaRPr lang="en-US" sz="2400" dirty="0"/>
          </a:p>
        </p:txBody>
      </p:sp>
      <p:pic>
        <p:nvPicPr>
          <p:cNvPr id="5" name="Image 1" descr="/Users/arockia/Downloads/dissent/pitch/shots/prepped/world_map.png">    </p:cNvPr>
          <p:cNvPicPr>
            <a:picLocks noChangeAspect="1"/>
          </p:cNvPicPr>
          <p:nvPr/>
        </p:nvPicPr>
        <p:blipFill>
          <a:blip r:embed="rId2"/>
          <a:stretch>
            <a:fillRect/>
          </a:stretch>
        </p:blipFill>
        <p:spPr>
          <a:xfrm>
            <a:off x="2858815" y="1627632"/>
            <a:ext cx="6474066" cy="3703320"/>
          </a:xfrm>
          <a:prstGeom prst="rect">
            <a:avLst/>
          </a:prstGeom>
          <a:effectLst>
            <a:outerShdw sx="100000" sy="100000" kx="0" ky="0" algn="bl" rotWithShape="0" blurRad="228600" dist="63500" dir="5400000">
              <a:srgbClr val="000000">
                <a:alpha val="55000"/>
              </a:srgbClr>
            </a:outerShdw>
          </a:effectLst>
        </p:spPr>
      </p:pic>
      <p:sp>
        <p:nvSpPr>
          <p:cNvPr id="6" name="Text 2"/>
          <p:cNvSpPr txBox="1"/>
          <p:nvPr/>
        </p:nvSpPr>
        <p:spPr>
          <a:xfrm>
            <a:off x="658368" y="5550408"/>
            <a:ext cx="3381146" cy="237744"/>
          </a:xfrm>
          <a:prstGeom prst="rect">
            <a:avLst/>
          </a:prstGeom>
          <a:noFill/>
          <a:ln/>
        </p:spPr>
        <p:txBody>
          <a:bodyPr wrap="square" lIns="0" tIns="0" rIns="0" bIns="0" rtlCol="0" anchor="ctr"/>
          <a:lstStyle/>
          <a:p>
            <a:pPr indent="0" marL="0">
              <a:buNone/>
            </a:pPr>
            <a:r>
              <a:rPr lang="en-US" sz="860" b="1" spc="110" kern="0" dirty="0">
                <a:solidFill>
                  <a:srgbClr val="8A6420"/>
                </a:solidFill>
                <a:latin typeface="Courier New" pitchFamily="34" charset="0"/>
                <a:ea typeface="Courier New" pitchFamily="34" charset="-122"/>
                <a:cs typeface="Courier New" pitchFamily="34" charset="-120"/>
              </a:rPr>
              <a:t>NO SERVER INVOLVED</a:t>
            </a:r>
            <a:endParaRPr lang="en-US" sz="860" dirty="0"/>
          </a:p>
        </p:txBody>
      </p:sp>
      <p:sp>
        <p:nvSpPr>
          <p:cNvPr id="7" name="Text 3"/>
          <p:cNvSpPr txBox="1"/>
          <p:nvPr/>
        </p:nvSpPr>
        <p:spPr>
          <a:xfrm>
            <a:off x="658368" y="5824728"/>
            <a:ext cx="3381146" cy="777240"/>
          </a:xfrm>
          <a:prstGeom prst="rect">
            <a:avLst/>
          </a:prstGeom>
          <a:noFill/>
          <a:ln/>
        </p:spPr>
        <p:txBody>
          <a:bodyPr wrap="square" lIns="0" tIns="0" rIns="0" bIns="0" rtlCol="0" anchor="t"/>
          <a:lstStyle/>
          <a:p>
            <a:pPr indent="0" marL="0">
              <a:lnSpc>
                <a:spcPts val="1600"/>
              </a:lnSpc>
              <a:buNone/>
            </a:pPr>
            <a:r>
              <a:rPr lang="en-US" sz="1150" dirty="0">
                <a:solidFill>
                  <a:srgbClr val="C8CBDA"/>
                </a:solidFill>
                <a:latin typeface="Cambria" pitchFamily="34" charset="0"/>
                <a:ea typeface="Cambria" pitchFamily="34" charset="-122"/>
                <a:cs typeface="Cambria" pitchFamily="34" charset="-120"/>
              </a:rPr>
              <a:t>This view streams a 10MB binary straight into the page. Nothing we run can crash while you are marking us.</a:t>
            </a:r>
            <a:endParaRPr lang="en-US" sz="1150" dirty="0"/>
          </a:p>
        </p:txBody>
      </p:sp>
      <p:sp>
        <p:nvSpPr>
          <p:cNvPr id="8" name="Text 4"/>
          <p:cNvSpPr txBox="1"/>
          <p:nvPr/>
        </p:nvSpPr>
        <p:spPr>
          <a:xfrm>
            <a:off x="4405274" y="5550408"/>
            <a:ext cx="3381146" cy="237744"/>
          </a:xfrm>
          <a:prstGeom prst="rect">
            <a:avLst/>
          </a:prstGeom>
          <a:noFill/>
          <a:ln/>
        </p:spPr>
        <p:txBody>
          <a:bodyPr wrap="square" lIns="0" tIns="0" rIns="0" bIns="0" rtlCol="0" anchor="ctr"/>
          <a:lstStyle/>
          <a:p>
            <a:pPr indent="0" marL="0">
              <a:buNone/>
            </a:pPr>
            <a:r>
              <a:rPr lang="en-US" sz="860" b="1" spc="110" kern="0" dirty="0">
                <a:solidFill>
                  <a:srgbClr val="8A6420"/>
                </a:solidFill>
                <a:latin typeface="Courier New" pitchFamily="34" charset="0"/>
                <a:ea typeface="Courier New" pitchFamily="34" charset="-122"/>
                <a:cs typeface="Courier New" pitchFamily="34" charset="-120"/>
              </a:rPr>
              <a:t>ZERO INSTALLED HARDWARE</a:t>
            </a:r>
            <a:endParaRPr lang="en-US" sz="860" dirty="0"/>
          </a:p>
        </p:txBody>
      </p:sp>
      <p:sp>
        <p:nvSpPr>
          <p:cNvPr id="9" name="Text 5"/>
          <p:cNvSpPr txBox="1"/>
          <p:nvPr/>
        </p:nvSpPr>
        <p:spPr>
          <a:xfrm>
            <a:off x="4405274" y="5824728"/>
            <a:ext cx="3381146" cy="777240"/>
          </a:xfrm>
          <a:prstGeom prst="rect">
            <a:avLst/>
          </a:prstGeom>
          <a:noFill/>
          <a:ln/>
        </p:spPr>
        <p:txBody>
          <a:bodyPr wrap="square" lIns="0" tIns="0" rIns="0" bIns="0" rtlCol="0" anchor="t"/>
          <a:lstStyle/>
          <a:p>
            <a:pPr indent="0" marL="0">
              <a:lnSpc>
                <a:spcPts val="1600"/>
              </a:lnSpc>
              <a:buNone/>
            </a:pPr>
            <a:r>
              <a:rPr lang="en-US" sz="1150" dirty="0">
                <a:solidFill>
                  <a:srgbClr val="C8CBDA"/>
                </a:solidFill>
                <a:latin typeface="Cambria" pitchFamily="34" charset="0"/>
                <a:ea typeface="Cambria" pitchFamily="34" charset="-122"/>
                <a:cs typeface="Cambria" pitchFamily="34" charset="-120"/>
              </a:rPr>
              <a:t>Not one of these structures needed a sensor, a site visit, or a procurement cycle to appear here.</a:t>
            </a:r>
            <a:endParaRPr lang="en-US" sz="1150" dirty="0"/>
          </a:p>
        </p:txBody>
      </p:sp>
      <p:sp>
        <p:nvSpPr>
          <p:cNvPr id="10" name="Text 6"/>
          <p:cNvSpPr txBox="1"/>
          <p:nvPr/>
        </p:nvSpPr>
        <p:spPr>
          <a:xfrm>
            <a:off x="8152181" y="5550408"/>
            <a:ext cx="3381146" cy="237744"/>
          </a:xfrm>
          <a:prstGeom prst="rect">
            <a:avLst/>
          </a:prstGeom>
          <a:noFill/>
          <a:ln/>
        </p:spPr>
        <p:txBody>
          <a:bodyPr wrap="square" lIns="0" tIns="0" rIns="0" bIns="0" rtlCol="0" anchor="ctr"/>
          <a:lstStyle/>
          <a:p>
            <a:pPr indent="0" marL="0">
              <a:buNone/>
            </a:pPr>
            <a:r>
              <a:rPr lang="en-US" sz="860" b="1" spc="110" kern="0" dirty="0">
                <a:solidFill>
                  <a:srgbClr val="8A6420"/>
                </a:solidFill>
                <a:latin typeface="Courier New" pitchFamily="34" charset="0"/>
                <a:ea typeface="Courier New" pitchFamily="34" charset="-122"/>
                <a:cs typeface="Courier New" pitchFamily="34" charset="-120"/>
              </a:rPr>
              <a:t>THE WHOLE INVENTORY</a:t>
            </a:r>
            <a:endParaRPr lang="en-US" sz="860" dirty="0"/>
          </a:p>
        </p:txBody>
      </p:sp>
      <p:sp>
        <p:nvSpPr>
          <p:cNvPr id="11" name="Text 7"/>
          <p:cNvSpPr txBox="1"/>
          <p:nvPr/>
        </p:nvSpPr>
        <p:spPr>
          <a:xfrm>
            <a:off x="8152181" y="5824728"/>
            <a:ext cx="3381146" cy="777240"/>
          </a:xfrm>
          <a:prstGeom prst="rect">
            <a:avLst/>
          </a:prstGeom>
          <a:noFill/>
          <a:ln/>
        </p:spPr>
        <p:txBody>
          <a:bodyPr wrap="square" lIns="0" tIns="0" rIns="0" bIns="0" rtlCol="0" anchor="t"/>
          <a:lstStyle/>
          <a:p>
            <a:pPr indent="0" marL="0">
              <a:lnSpc>
                <a:spcPts val="1600"/>
              </a:lnSpc>
              <a:buNone/>
            </a:pPr>
            <a:r>
              <a:rPr lang="en-US" sz="1150" dirty="0">
                <a:solidFill>
                  <a:srgbClr val="C8CBDA"/>
                </a:solidFill>
                <a:latin typeface="Cambria" pitchFamily="34" charset="0"/>
                <a:ea typeface="Cambria" pitchFamily="34" charset="-122"/>
                <a:cs typeface="Cambria" pitchFamily="34" charset="-120"/>
              </a:rPr>
              <a:t>41,319 of them are rated poor by their own inspectors. Every one is scoreable by the same model.</a:t>
            </a:r>
            <a:endParaRPr lang="en-US" sz="11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02_drafting_grid.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16 / THE PRODUCT — THE STRONGEST TEST WE CAN OFFER</a:t>
            </a:r>
            <a:endParaRPr lang="en-US" sz="950" dirty="0"/>
          </a:p>
        </p:txBody>
      </p:sp>
      <p:sp>
        <p:nvSpPr>
          <p:cNvPr id="4" name="Text 1"/>
          <p:cNvSpPr txBox="1"/>
          <p:nvPr/>
        </p:nvSpPr>
        <p:spPr>
          <a:xfrm>
            <a:off x="658368" y="749808"/>
            <a:ext cx="6309360" cy="1097280"/>
          </a:xfrm>
          <a:prstGeom prst="rect">
            <a:avLst/>
          </a:prstGeom>
          <a:noFill/>
          <a:ln/>
        </p:spPr>
        <p:txBody>
          <a:bodyPr wrap="square" lIns="0" tIns="0" rIns="0" bIns="0" rtlCol="0" anchor="t"/>
          <a:lstStyle/>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You pick a state and a year. The model</a:t>
            </a:r>
            <a:endParaRPr lang="en-US" sz="2300" dirty="0"/>
          </a:p>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grades its own past ranking, live.</a:t>
            </a:r>
            <a:endParaRPr lang="en-US" sz="2300" dirty="0"/>
          </a:p>
        </p:txBody>
      </p:sp>
      <p:sp>
        <p:nvSpPr>
          <p:cNvPr id="5" name="Text 2"/>
          <p:cNvSpPr txBox="1"/>
          <p:nvPr/>
        </p:nvSpPr>
        <p:spPr>
          <a:xfrm>
            <a:off x="658368" y="1938528"/>
            <a:ext cx="6309360" cy="960120"/>
          </a:xfrm>
          <a:prstGeom prst="rect">
            <a:avLst/>
          </a:prstGeom>
          <a:noFill/>
          <a:ln/>
        </p:spPr>
        <p:txBody>
          <a:bodyPr wrap="square" lIns="0" tIns="0" rIns="0" bIns="0" rtlCol="0" anchor="t"/>
          <a:lstStyle/>
          <a:p>
            <a:pPr algn="l" indent="0" marL="0">
              <a:lnSpc>
                <a:spcPts val="2052"/>
              </a:lnSpc>
              <a:buNone/>
            </a:pPr>
            <a:r>
              <a:rPr lang="en-US" sz="1350" dirty="0">
                <a:solidFill>
                  <a:srgbClr val="C8CBDA"/>
                </a:solidFill>
                <a:latin typeface="Cambria" pitchFamily="34" charset="0"/>
                <a:ea typeface="Cambria" pitchFamily="34" charset="-122"/>
                <a:cs typeface="Cambria" pitchFamily="34" charset="-120"/>
              </a:rPr>
              <a:t>The server pulls that year’s federal file, scores every structure with the model frozen in 2015, ranks them by dissent — then pulls the 2025 file and checks what actually happened to them.</a:t>
            </a:r>
            <a:endParaRPr lang="en-US" sz="1350" dirty="0"/>
          </a:p>
        </p:txBody>
      </p:sp>
      <p:pic>
        <p:nvPicPr>
          <p:cNvPr id="6" name="Image 1" descr="/Users/arockia/Downloads/dissent/pitch/shots/prepped/timemachine.png">    </p:cNvPr>
          <p:cNvPicPr>
            <a:picLocks noChangeAspect="1"/>
          </p:cNvPicPr>
          <p:nvPr/>
        </p:nvPicPr>
        <p:blipFill>
          <a:blip r:embed="rId2"/>
          <a:stretch>
            <a:fillRect/>
          </a:stretch>
        </p:blipFill>
        <p:spPr>
          <a:xfrm>
            <a:off x="7223760" y="868680"/>
            <a:ext cx="4309567" cy="4715013"/>
          </a:xfrm>
          <a:prstGeom prst="rect">
            <a:avLst/>
          </a:prstGeom>
          <a:effectLst>
            <a:outerShdw sx="100000" sy="100000" kx="0" ky="0" algn="bl" rotWithShape="0" blurRad="228600" dist="63500" dir="5400000">
              <a:srgbClr val="000000">
                <a:alpha val="55000"/>
              </a:srgbClr>
            </a:outerShdw>
          </a:effectLst>
        </p:spPr>
      </p:pic>
      <p:sp>
        <p:nvSpPr>
          <p:cNvPr id="7" name="Shape 3"/>
          <p:cNvSpPr/>
          <p:nvPr/>
        </p:nvSpPr>
        <p:spPr>
          <a:xfrm>
            <a:off x="658368" y="3063240"/>
            <a:ext cx="6309360" cy="2286000"/>
          </a:xfrm>
          <a:prstGeom prst="rect">
            <a:avLst/>
          </a:prstGeom>
          <a:solidFill>
            <a:srgbClr val="0F1738">
              <a:alpha val="86000"/>
            </a:srgbClr>
          </a:solidFill>
          <a:ln w="9525">
            <a:solidFill>
              <a:srgbClr val="2A3560"/>
            </a:solidFill>
            <a:prstDash val="solid"/>
          </a:ln>
        </p:spPr>
      </p:sp>
      <p:sp>
        <p:nvSpPr>
          <p:cNvPr id="8" name="Text 4"/>
          <p:cNvSpPr txBox="1"/>
          <p:nvPr/>
        </p:nvSpPr>
        <p:spPr>
          <a:xfrm>
            <a:off x="896112" y="3264408"/>
            <a:ext cx="585216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VERMONT, START YEAR 2019 — AS RUN ON THIS SLIDE</a:t>
            </a:r>
            <a:endParaRPr lang="en-US" sz="950" dirty="0"/>
          </a:p>
        </p:txBody>
      </p:sp>
      <p:sp>
        <p:nvSpPr>
          <p:cNvPr id="9" name="Text 5"/>
          <p:cNvSpPr txBox="1"/>
          <p:nvPr/>
        </p:nvSpPr>
        <p:spPr>
          <a:xfrm>
            <a:off x="896112" y="3593592"/>
            <a:ext cx="914400" cy="292608"/>
          </a:xfrm>
          <a:prstGeom prst="rect">
            <a:avLst/>
          </a:prstGeom>
          <a:noFill/>
          <a:ln/>
        </p:spPr>
        <p:txBody>
          <a:bodyPr wrap="square" lIns="0" tIns="0" rIns="0" bIns="0" rtlCol="0" anchor="ctr"/>
          <a:lstStyle/>
          <a:p>
            <a:pPr algn="r" indent="0" marL="0">
              <a:buNone/>
            </a:pPr>
            <a:r>
              <a:rPr lang="en-US" sz="1300" b="1" dirty="0">
                <a:solidFill>
                  <a:srgbClr val="FAF8F4"/>
                </a:solidFill>
                <a:latin typeface="Courier New" pitchFamily="34" charset="0"/>
                <a:ea typeface="Courier New" pitchFamily="34" charset="-122"/>
                <a:cs typeface="Courier New" pitchFamily="34" charset="-120"/>
              </a:rPr>
              <a:t>2,748</a:t>
            </a:r>
            <a:endParaRPr lang="en-US" sz="1300" dirty="0"/>
          </a:p>
        </p:txBody>
      </p:sp>
      <p:sp>
        <p:nvSpPr>
          <p:cNvPr id="10" name="Text 6"/>
          <p:cNvSpPr txBox="1"/>
          <p:nvPr/>
        </p:nvSpPr>
        <p:spPr>
          <a:xfrm>
            <a:off x="1938528" y="3621024"/>
            <a:ext cx="4754880" cy="292608"/>
          </a:xfrm>
          <a:prstGeom prst="rect">
            <a:avLst/>
          </a:prstGeom>
          <a:noFill/>
          <a:ln/>
        </p:spPr>
        <p:txBody>
          <a:bodyPr wrap="square" lIns="0" tIns="0" rIns="0" bIns="0" rtlCol="0" anchor="ctr"/>
          <a:lstStyle/>
          <a:p>
            <a:pPr indent="0" marL="0">
              <a:buNone/>
            </a:pPr>
            <a:r>
              <a:rPr lang="en-US" sz="1200" dirty="0">
                <a:solidFill>
                  <a:srgbClr val="C8CBDA"/>
                </a:solidFill>
                <a:latin typeface="Cambria" pitchFamily="34" charset="0"/>
                <a:ea typeface="Cambria" pitchFamily="34" charset="-122"/>
                <a:cs typeface="Cambria" pitchFamily="34" charset="-120"/>
              </a:rPr>
              <a:t>structures still in fair-or-better condition in 2019</a:t>
            </a:r>
            <a:endParaRPr lang="en-US" sz="1200" dirty="0"/>
          </a:p>
        </p:txBody>
      </p:sp>
      <p:sp>
        <p:nvSpPr>
          <p:cNvPr id="11" name="Text 7"/>
          <p:cNvSpPr txBox="1"/>
          <p:nvPr/>
        </p:nvSpPr>
        <p:spPr>
          <a:xfrm>
            <a:off x="896112" y="3995928"/>
            <a:ext cx="914400" cy="292608"/>
          </a:xfrm>
          <a:prstGeom prst="rect">
            <a:avLst/>
          </a:prstGeom>
          <a:noFill/>
          <a:ln/>
        </p:spPr>
        <p:txBody>
          <a:bodyPr wrap="square" lIns="0" tIns="0" rIns="0" bIns="0" rtlCol="0" anchor="ctr"/>
          <a:lstStyle/>
          <a:p>
            <a:pPr algn="r" indent="0" marL="0">
              <a:buNone/>
            </a:pPr>
            <a:r>
              <a:rPr lang="en-US" sz="1300" b="1" dirty="0">
                <a:solidFill>
                  <a:srgbClr val="FAF8F4"/>
                </a:solidFill>
                <a:latin typeface="Courier New" pitchFamily="34" charset="0"/>
                <a:ea typeface="Courier New" pitchFamily="34" charset="-122"/>
                <a:cs typeface="Courier New" pitchFamily="34" charset="-120"/>
              </a:rPr>
              <a:t>93</a:t>
            </a:r>
            <a:endParaRPr lang="en-US" sz="1300" dirty="0"/>
          </a:p>
        </p:txBody>
      </p:sp>
      <p:sp>
        <p:nvSpPr>
          <p:cNvPr id="12" name="Text 8"/>
          <p:cNvSpPr txBox="1"/>
          <p:nvPr/>
        </p:nvSpPr>
        <p:spPr>
          <a:xfrm>
            <a:off x="1938528" y="4023360"/>
            <a:ext cx="4754880" cy="292608"/>
          </a:xfrm>
          <a:prstGeom prst="rect">
            <a:avLst/>
          </a:prstGeom>
          <a:noFill/>
          <a:ln/>
        </p:spPr>
        <p:txBody>
          <a:bodyPr wrap="square" lIns="0" tIns="0" rIns="0" bIns="0" rtlCol="0" anchor="ctr"/>
          <a:lstStyle/>
          <a:p>
            <a:pPr indent="0" marL="0">
              <a:buNone/>
            </a:pPr>
            <a:r>
              <a:rPr lang="en-US" sz="1200" dirty="0">
                <a:solidFill>
                  <a:srgbClr val="C8CBDA"/>
                </a:solidFill>
                <a:latin typeface="Cambria" pitchFamily="34" charset="0"/>
                <a:ea typeface="Cambria" pitchFamily="34" charset="-122"/>
                <a:cs typeface="Cambria" pitchFamily="34" charset="-120"/>
              </a:rPr>
              <a:t>of them had crossed into POOR by 2025</a:t>
            </a:r>
            <a:endParaRPr lang="en-US" sz="1200" dirty="0"/>
          </a:p>
        </p:txBody>
      </p:sp>
      <p:sp>
        <p:nvSpPr>
          <p:cNvPr id="13" name="Text 9"/>
          <p:cNvSpPr txBox="1"/>
          <p:nvPr/>
        </p:nvSpPr>
        <p:spPr>
          <a:xfrm>
            <a:off x="896112" y="4398264"/>
            <a:ext cx="914400" cy="292608"/>
          </a:xfrm>
          <a:prstGeom prst="rect">
            <a:avLst/>
          </a:prstGeom>
          <a:noFill/>
          <a:ln/>
        </p:spPr>
        <p:txBody>
          <a:bodyPr wrap="square" lIns="0" tIns="0" rIns="0" bIns="0" rtlCol="0" anchor="ctr"/>
          <a:lstStyle/>
          <a:p>
            <a:pPr algn="r" indent="0" marL="0">
              <a:buNone/>
            </a:pPr>
            <a:r>
              <a:rPr lang="en-US" sz="1300" b="1" dirty="0">
                <a:solidFill>
                  <a:srgbClr val="FAF8F4"/>
                </a:solidFill>
                <a:latin typeface="Courier New" pitchFamily="34" charset="0"/>
                <a:ea typeface="Courier New" pitchFamily="34" charset="-122"/>
                <a:cs typeface="Courier New" pitchFamily="34" charset="-120"/>
              </a:rPr>
              <a:t>35</a:t>
            </a:r>
            <a:endParaRPr lang="en-US" sz="1300" dirty="0"/>
          </a:p>
        </p:txBody>
      </p:sp>
      <p:sp>
        <p:nvSpPr>
          <p:cNvPr id="14" name="Text 10"/>
          <p:cNvSpPr txBox="1"/>
          <p:nvPr/>
        </p:nvSpPr>
        <p:spPr>
          <a:xfrm>
            <a:off x="1938528" y="4425696"/>
            <a:ext cx="4754880" cy="292608"/>
          </a:xfrm>
          <a:prstGeom prst="rect">
            <a:avLst/>
          </a:prstGeom>
          <a:noFill/>
          <a:ln/>
        </p:spPr>
        <p:txBody>
          <a:bodyPr wrap="square" lIns="0" tIns="0" rIns="0" bIns="0" rtlCol="0" anchor="ctr"/>
          <a:lstStyle/>
          <a:p>
            <a:pPr indent="0" marL="0">
              <a:buNone/>
            </a:pPr>
            <a:r>
              <a:rPr lang="en-US" sz="1200" dirty="0">
                <a:solidFill>
                  <a:srgbClr val="C8CBDA"/>
                </a:solidFill>
                <a:latin typeface="Cambria" pitchFamily="34" charset="0"/>
                <a:ea typeface="Cambria" pitchFamily="34" charset="-122"/>
                <a:cs typeface="Cambria" pitchFamily="34" charset="-120"/>
              </a:rPr>
              <a:t>of those were bridges the 2019 file still called fine</a:t>
            </a:r>
            <a:endParaRPr lang="en-US" sz="1200" dirty="0"/>
          </a:p>
        </p:txBody>
      </p:sp>
      <p:sp>
        <p:nvSpPr>
          <p:cNvPr id="15" name="Shape 11"/>
          <p:cNvSpPr/>
          <p:nvPr/>
        </p:nvSpPr>
        <p:spPr>
          <a:xfrm>
            <a:off x="896112" y="4837176"/>
            <a:ext cx="5833872" cy="0"/>
          </a:xfrm>
          <a:prstGeom prst="line">
            <a:avLst/>
          </a:prstGeom>
          <a:noFill/>
          <a:ln w="9525">
            <a:solidFill>
              <a:srgbClr val="2A3560"/>
            </a:solidFill>
            <a:prstDash val="solid"/>
          </a:ln>
        </p:spPr>
      </p:sp>
      <p:sp>
        <p:nvSpPr>
          <p:cNvPr id="16" name="Text 12"/>
          <p:cNvSpPr txBox="1"/>
          <p:nvPr/>
        </p:nvSpPr>
        <p:spPr>
          <a:xfrm>
            <a:off x="896112" y="4946904"/>
            <a:ext cx="5833872" cy="292608"/>
          </a:xfrm>
          <a:prstGeom prst="rect">
            <a:avLst/>
          </a:prstGeom>
          <a:noFill/>
          <a:ln/>
        </p:spPr>
        <p:txBody>
          <a:bodyPr wrap="square" lIns="0" tIns="0" rIns="0" bIns="0" rtlCol="0" anchor="t"/>
          <a:lstStyle/>
          <a:p>
            <a:pPr indent="0" marL="0">
              <a:buNone/>
            </a:pPr>
            <a:r>
              <a:rPr lang="en-US" sz="1250" dirty="0">
                <a:solidFill>
                  <a:srgbClr val="8A93B8"/>
                </a:solidFill>
                <a:latin typeface="Cambria" pitchFamily="34" charset="0"/>
                <a:ea typeface="Cambria" pitchFamily="34" charset="-122"/>
                <a:cs typeface="Cambria" pitchFamily="34" charset="-120"/>
              </a:rPr>
              <a:t>On those 35:  </a:t>
            </a:r>
            <a:pPr indent="0" marL="0">
              <a:buNone/>
            </a:pPr>
            <a:r>
              <a:rPr lang="en-US" sz="1250" dirty="0">
                <a:solidFill>
                  <a:srgbClr val="C8CBDA"/>
                </a:solidFill>
                <a:latin typeface="Cambria" pitchFamily="34" charset="0"/>
                <a:ea typeface="Cambria" pitchFamily="34" charset="-122"/>
                <a:cs typeface="Cambria" pitchFamily="34" charset="-120"/>
              </a:rPr>
              <a:t>sorting by worst rating found 1.  </a:t>
            </a:r>
            <a:pPr indent="0" marL="0">
              <a:buNone/>
            </a:pPr>
            <a:r>
              <a:rPr lang="en-US" sz="1250" b="1" dirty="0">
                <a:solidFill>
                  <a:srgbClr val="E4607A"/>
                </a:solidFill>
                <a:latin typeface="Cambria" pitchFamily="34" charset="0"/>
                <a:ea typeface="Cambria" pitchFamily="34" charset="-122"/>
                <a:cs typeface="Cambria" pitchFamily="34" charset="-120"/>
              </a:rPr>
              <a:t>Dissent found 9.</a:t>
            </a:r>
            <a:endParaRPr lang="en-US" sz="1250" dirty="0"/>
          </a:p>
        </p:txBody>
      </p:sp>
      <p:sp>
        <p:nvSpPr>
          <p:cNvPr id="17" name="Shape 13"/>
          <p:cNvSpPr/>
          <p:nvPr/>
        </p:nvSpPr>
        <p:spPr>
          <a:xfrm>
            <a:off x="658368" y="5596128"/>
            <a:ext cx="6309360" cy="621792"/>
          </a:xfrm>
          <a:prstGeom prst="rect">
            <a:avLst/>
          </a:prstGeom>
          <a:solidFill>
            <a:srgbClr val="C6283C">
              <a:alpha val="18000"/>
            </a:srgbClr>
          </a:solidFill>
          <a:ln w="12700">
            <a:solidFill>
              <a:srgbClr val="C6283C"/>
            </a:solidFill>
            <a:prstDash val="solid"/>
          </a:ln>
        </p:spPr>
      </p:sp>
      <p:sp>
        <p:nvSpPr>
          <p:cNvPr id="18" name="Text 14"/>
          <p:cNvSpPr txBox="1"/>
          <p:nvPr/>
        </p:nvSpPr>
        <p:spPr>
          <a:xfrm>
            <a:off x="841248" y="5687568"/>
            <a:ext cx="5943600" cy="457200"/>
          </a:xfrm>
          <a:prstGeom prst="rect">
            <a:avLst/>
          </a:prstGeom>
          <a:noFill/>
          <a:ln/>
        </p:spPr>
        <p:txBody>
          <a:bodyPr wrap="square" lIns="0" tIns="0" rIns="0" bIns="0" rtlCol="0" anchor="t"/>
          <a:lstStyle/>
          <a:p>
            <a:pPr indent="0" marL="0">
              <a:lnSpc>
                <a:spcPts val="1600"/>
              </a:lnSpc>
              <a:buNone/>
            </a:pPr>
            <a:r>
              <a:rPr lang="en-US" sz="1180" b="1" dirty="0">
                <a:solidFill>
                  <a:srgbClr val="FAF8F4"/>
                </a:solidFill>
                <a:latin typeface="Cambria" pitchFamily="34" charset="0"/>
                <a:ea typeface="Cambria" pitchFamily="34" charset="-122"/>
                <a:cs typeface="Cambria" pitchFamily="34" charset="-120"/>
              </a:rPr>
              <a:t>The base rate and the baseline that beats us are printed on screen every single time — including on the states where we lose.</a:t>
            </a:r>
            <a:endParaRPr lang="en-US" sz="118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5_scatt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457200"/>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17 / THE PRODUCT — AND THE MOST TRUSTWORTHY THING IN IT</a:t>
            </a:r>
            <a:endParaRPr lang="en-US" sz="950" dirty="0"/>
          </a:p>
        </p:txBody>
      </p:sp>
      <p:sp>
        <p:nvSpPr>
          <p:cNvPr id="4" name="Text 1"/>
          <p:cNvSpPr txBox="1"/>
          <p:nvPr/>
        </p:nvSpPr>
        <p:spPr>
          <a:xfrm>
            <a:off x="658368" y="749808"/>
            <a:ext cx="6309360" cy="1097280"/>
          </a:xfrm>
          <a:prstGeom prst="rect">
            <a:avLst/>
          </a:prstGeom>
          <a:noFill/>
          <a:ln/>
        </p:spPr>
        <p:txBody>
          <a:bodyPr wrap="square" lIns="0" tIns="0" rIns="0" bIns="0" rtlCol="0" anchor="t"/>
          <a:lstStyle/>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We scored all 51 jurisdictions.</a:t>
            </a:r>
            <a:endParaRPr lang="en-US" sz="2300" dirty="0"/>
          </a:p>
          <a:p>
            <a:pPr indent="0" marL="0">
              <a:lnSpc>
                <a:spcPts val="2806"/>
              </a:lnSpc>
              <a:buNone/>
            </a:pPr>
            <a:r>
              <a:rPr lang="en-US" sz="2300" b="1" dirty="0">
                <a:solidFill>
                  <a:srgbClr val="FAF8F4"/>
                </a:solidFill>
                <a:latin typeface="Cambria" pitchFamily="34" charset="0"/>
                <a:ea typeface="Cambria" pitchFamily="34" charset="-122"/>
                <a:cs typeface="Cambria" pitchFamily="34" charset="-120"/>
              </a:rPr>
              <a:t>Then we refused to rank 27 of them.</a:t>
            </a:r>
            <a:endParaRPr lang="en-US" sz="2300" dirty="0"/>
          </a:p>
        </p:txBody>
      </p:sp>
      <p:sp>
        <p:nvSpPr>
          <p:cNvPr id="5" name="Text 2"/>
          <p:cNvSpPr txBox="1"/>
          <p:nvPr/>
        </p:nvSpPr>
        <p:spPr>
          <a:xfrm>
            <a:off x="658368" y="1938528"/>
            <a:ext cx="6309360" cy="777240"/>
          </a:xfrm>
          <a:prstGeom prst="rect">
            <a:avLst/>
          </a:prstGeom>
          <a:noFill/>
          <a:ln/>
        </p:spPr>
        <p:txBody>
          <a:bodyPr wrap="square" lIns="0" tIns="0" rIns="0" bIns="0" rtlCol="0" anchor="t"/>
          <a:lstStyle/>
          <a:p>
            <a:pPr algn="l" indent="0" marL="0">
              <a:lnSpc>
                <a:spcPts val="2052"/>
              </a:lnSpc>
              <a:buNone/>
            </a:pPr>
            <a:r>
              <a:rPr lang="en-US" sz="1350" dirty="0">
                <a:solidFill>
                  <a:srgbClr val="C8CBDA"/>
                </a:solidFill>
                <a:latin typeface="Cambria" pitchFamily="34" charset="0"/>
                <a:ea typeface="Cambria" pitchFamily="34" charset="-122"/>
                <a:cs typeface="Cambria" pitchFamily="34" charset="-120"/>
              </a:rPr>
              <a:t>Every audit measures one thing across a whole jurisdiction: how much sunnier its filed ratings run than the physics witness. All 51 jurisdictions, every rated structure in each.</a:t>
            </a:r>
            <a:endParaRPr lang="en-US" sz="1350" dirty="0"/>
          </a:p>
        </p:txBody>
      </p:sp>
      <p:pic>
        <p:nvPicPr>
          <p:cNvPr id="6" name="Image 1" descr="/Users/arockia/Downloads/dissent/pitch/shots/prepped/index_top.png">    </p:cNvPr>
          <p:cNvPicPr>
            <a:picLocks noChangeAspect="1"/>
          </p:cNvPicPr>
          <p:nvPr/>
        </p:nvPicPr>
        <p:blipFill>
          <a:blip r:embed="rId2"/>
          <a:stretch>
            <a:fillRect/>
          </a:stretch>
        </p:blipFill>
        <p:spPr>
          <a:xfrm>
            <a:off x="7223760" y="960120"/>
            <a:ext cx="3718927" cy="2286000"/>
          </a:xfrm>
          <a:prstGeom prst="rect">
            <a:avLst/>
          </a:prstGeom>
          <a:effectLst>
            <a:outerShdw sx="100000" sy="100000" kx="0" ky="0" algn="bl" rotWithShape="0" blurRad="228600" dist="63500" dir="5400000">
              <a:srgbClr val="000000">
                <a:alpha val="55000"/>
              </a:srgbClr>
            </a:outerShdw>
          </a:effectLst>
        </p:spPr>
      </p:pic>
      <p:pic>
        <p:nvPicPr>
          <p:cNvPr id="7" name="Image 2" descr="/Users/arockia/Downloads/dissent/pitch/shots/prepped/withheld.png">    </p:cNvPr>
          <p:cNvPicPr>
            <a:picLocks noChangeAspect="1"/>
          </p:cNvPicPr>
          <p:nvPr/>
        </p:nvPicPr>
        <p:blipFill>
          <a:blip r:embed="rId3"/>
          <a:stretch>
            <a:fillRect/>
          </a:stretch>
        </p:blipFill>
        <p:spPr>
          <a:xfrm>
            <a:off x="7223760" y="3566160"/>
            <a:ext cx="4051371" cy="1691640"/>
          </a:xfrm>
          <a:prstGeom prst="rect">
            <a:avLst/>
          </a:prstGeom>
          <a:effectLst>
            <a:outerShdw sx="100000" sy="100000" kx="0" ky="0" algn="bl" rotWithShape="0" blurRad="228600" dist="63500" dir="5400000">
              <a:srgbClr val="000000">
                <a:alpha val="55000"/>
              </a:srgbClr>
            </a:outerShdw>
          </a:effectLst>
        </p:spPr>
      </p:pic>
      <p:sp>
        <p:nvSpPr>
          <p:cNvPr id="8" name="Shape 3"/>
          <p:cNvSpPr/>
          <p:nvPr/>
        </p:nvSpPr>
        <p:spPr>
          <a:xfrm>
            <a:off x="658368" y="2834640"/>
            <a:ext cx="6309360" cy="1627632"/>
          </a:xfrm>
          <a:prstGeom prst="rect">
            <a:avLst/>
          </a:prstGeom>
          <a:solidFill>
            <a:srgbClr val="0F1738">
              <a:alpha val="84000"/>
            </a:srgbClr>
          </a:solidFill>
          <a:ln w="9525">
            <a:solidFill>
              <a:srgbClr val="2A3560"/>
            </a:solidFill>
            <a:prstDash val="solid"/>
          </a:ln>
        </p:spPr>
      </p:sp>
      <p:sp>
        <p:nvSpPr>
          <p:cNvPr id="9" name="Text 4"/>
          <p:cNvSpPr txBox="1"/>
          <p:nvPr/>
        </p:nvSpPr>
        <p:spPr>
          <a:xfrm>
            <a:off x="896112" y="3017520"/>
            <a:ext cx="5852160" cy="237744"/>
          </a:xfrm>
          <a:prstGeom prst="rect">
            <a:avLst/>
          </a:prstGeom>
          <a:noFill/>
          <a:ln/>
        </p:spPr>
        <p:txBody>
          <a:bodyPr wrap="square" lIns="0" tIns="0" rIns="0" bIns="0" rtlCol="0" anchor="t"/>
          <a:lstStyle/>
          <a:p>
            <a:pPr algn="l" indent="0" marL="0">
              <a:buNone/>
            </a:pPr>
            <a:r>
              <a:rPr lang="en-US" sz="950" b="1" spc="160" kern="0" dirty="0">
                <a:solidFill>
                  <a:srgbClr val="0E8A78"/>
                </a:solidFill>
                <a:latin typeface="Courier New" pitchFamily="34" charset="0"/>
                <a:ea typeface="Courier New" pitchFamily="34" charset="-122"/>
                <a:cs typeface="Courier New" pitchFamily="34" charset="-120"/>
              </a:rPr>
              <a:t>WHAT WE WILL SAY — AFTER DETRENDING OURSELVES</a:t>
            </a:r>
            <a:endParaRPr lang="en-US" sz="950" dirty="0"/>
          </a:p>
        </p:txBody>
      </p:sp>
      <p:sp>
        <p:nvSpPr>
          <p:cNvPr id="10" name="Text 5"/>
          <p:cNvSpPr txBox="1"/>
          <p:nvPr/>
        </p:nvSpPr>
        <p:spPr>
          <a:xfrm>
            <a:off x="896112" y="3310128"/>
            <a:ext cx="5833872" cy="1005840"/>
          </a:xfrm>
          <a:prstGeom prst="rect">
            <a:avLst/>
          </a:prstGeom>
          <a:noFill/>
          <a:ln/>
        </p:spPr>
        <p:txBody>
          <a:bodyPr wrap="square" lIns="0" tIns="0" rIns="0" bIns="0" rtlCol="0" anchor="t"/>
          <a:lstStyle/>
          <a:p>
            <a:pPr indent="0" marL="0">
              <a:lnSpc>
                <a:spcPts val="1700"/>
              </a:lnSpc>
              <a:buNone/>
            </a:pPr>
            <a:r>
              <a:rPr lang="en-US" sz="1250" dirty="0">
                <a:solidFill>
                  <a:srgbClr val="C8CBDA"/>
                </a:solidFill>
                <a:latin typeface="Cambria" pitchFamily="34" charset="0"/>
                <a:ea typeface="Cambria" pitchFamily="34" charset="-122"/>
                <a:cs typeface="Cambria" pitchFamily="34" charset="-120"/>
              </a:rPr>
              <a:t>Georgia’s filings run </a:t>
            </a:r>
            <a:pPr indent="0" marL="0">
              <a:lnSpc>
                <a:spcPts val="1700"/>
              </a:lnSpc>
              <a:buNone/>
            </a:pPr>
            <a:r>
              <a:rPr lang="en-US" sz="1250" b="1" dirty="0">
                <a:solidFill>
                  <a:srgbClr val="FAF8F4"/>
                </a:solidFill>
                <a:latin typeface="Courier New" pitchFamily="34" charset="0"/>
                <a:ea typeface="Courier New" pitchFamily="34" charset="-122"/>
                <a:cs typeface="Courier New" pitchFamily="34" charset="-120"/>
              </a:rPr>
              <a:t>+1.30 </a:t>
            </a:r>
            <a:pPr indent="0" marL="0">
              <a:lnSpc>
                <a:spcPts val="1700"/>
              </a:lnSpc>
              <a:buNone/>
            </a:pPr>
            <a:r>
              <a:rPr lang="en-US" sz="1250" dirty="0">
                <a:solidFill>
                  <a:srgbClr val="C8CBDA"/>
                </a:solidFill>
                <a:latin typeface="Cambria" pitchFamily="34" charset="0"/>
                <a:ea typeface="Cambria" pitchFamily="34" charset="-122"/>
                <a:cs typeface="Cambria" pitchFamily="34" charset="-120"/>
              </a:rPr>
              <a:t>of a rating step sunnier than the evidence — </a:t>
            </a:r>
            <a:pPr indent="0" marL="0">
              <a:lnSpc>
                <a:spcPts val="1700"/>
              </a:lnSpc>
              <a:buNone/>
            </a:pPr>
            <a:r>
              <a:rPr lang="en-US" sz="1250" b="1" dirty="0">
                <a:solidFill>
                  <a:srgbClr val="0E8A78"/>
                </a:solidFill>
                <a:latin typeface="Courier New" pitchFamily="34" charset="0"/>
                <a:ea typeface="Courier New" pitchFamily="34" charset="-122"/>
                <a:cs typeface="Courier New" pitchFamily="34" charset="-120"/>
              </a:rPr>
              <a:t>+0.91 </a:t>
            </a:r>
            <a:pPr indent="0" marL="0">
              <a:lnSpc>
                <a:spcPts val="1700"/>
              </a:lnSpc>
              <a:buNone/>
            </a:pPr>
            <a:r>
              <a:rPr lang="en-US" sz="1250" dirty="0">
                <a:solidFill>
                  <a:srgbClr val="C8CBDA"/>
                </a:solidFill>
                <a:latin typeface="Cambria" pitchFamily="34" charset="0"/>
                <a:ea typeface="Cambria" pitchFamily="34" charset="-122"/>
                <a:cs typeface="Cambria" pitchFamily="34" charset="-120"/>
              </a:rPr>
              <a:t>once we subtract our own extrapolation. Even inside the rankable band, climate distance explains a quarter of what we call optimism (r = 0.51). We publish the residual, not the raw number.</a:t>
            </a:r>
            <a:endParaRPr lang="en-US" sz="1250" dirty="0"/>
          </a:p>
        </p:txBody>
      </p:sp>
      <p:sp>
        <p:nvSpPr>
          <p:cNvPr id="11" name="Shape 6"/>
          <p:cNvSpPr/>
          <p:nvPr/>
        </p:nvSpPr>
        <p:spPr>
          <a:xfrm>
            <a:off x="658368" y="4617720"/>
            <a:ext cx="6309360" cy="1828800"/>
          </a:xfrm>
          <a:prstGeom prst="rect">
            <a:avLst/>
          </a:prstGeom>
          <a:solidFill>
            <a:srgbClr val="C6283C">
              <a:alpha val="14000"/>
            </a:srgbClr>
          </a:solidFill>
          <a:ln w="12700">
            <a:solidFill>
              <a:srgbClr val="C6283C"/>
            </a:solidFill>
            <a:prstDash val="solid"/>
          </a:ln>
        </p:spPr>
      </p:sp>
      <p:sp>
        <p:nvSpPr>
          <p:cNvPr id="12" name="Text 7"/>
          <p:cNvSpPr txBox="1"/>
          <p:nvPr/>
        </p:nvSpPr>
        <p:spPr>
          <a:xfrm>
            <a:off x="896112" y="4791456"/>
            <a:ext cx="585216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WHAT WE WILL NOT SAY</a:t>
            </a:r>
            <a:endParaRPr lang="en-US" sz="950" dirty="0"/>
          </a:p>
        </p:txBody>
      </p:sp>
      <p:sp>
        <p:nvSpPr>
          <p:cNvPr id="13" name="Text 8"/>
          <p:cNvSpPr txBox="1"/>
          <p:nvPr/>
        </p:nvSpPr>
        <p:spPr>
          <a:xfrm>
            <a:off x="896112" y="5065776"/>
            <a:ext cx="5833872" cy="329184"/>
          </a:xfrm>
          <a:prstGeom prst="rect">
            <a:avLst/>
          </a:prstGeom>
          <a:noFill/>
          <a:ln/>
        </p:spPr>
        <p:txBody>
          <a:bodyPr wrap="square" lIns="0" tIns="0" rIns="0" bIns="0" rtlCol="0" anchor="ctr"/>
          <a:lstStyle/>
          <a:p>
            <a:pPr indent="0" marL="0">
              <a:buNone/>
            </a:pPr>
            <a:r>
              <a:rPr lang="en-US" sz="1500" b="1" dirty="0">
                <a:solidFill>
                  <a:srgbClr val="FAF8F4"/>
                </a:solidFill>
                <a:latin typeface="Cambria" pitchFamily="34" charset="0"/>
                <a:ea typeface="Cambria" pitchFamily="34" charset="-122"/>
                <a:cs typeface="Cambria" pitchFamily="34" charset="-120"/>
              </a:rPr>
              <a:t>Anything at all about California, Texas or Arizona.</a:t>
            </a:r>
            <a:endParaRPr lang="en-US" sz="1500" dirty="0"/>
          </a:p>
        </p:txBody>
      </p:sp>
      <p:sp>
        <p:nvSpPr>
          <p:cNvPr id="14" name="Text 9"/>
          <p:cNvSpPr txBox="1"/>
          <p:nvPr/>
        </p:nvSpPr>
        <p:spPr>
          <a:xfrm>
            <a:off x="896112" y="5431536"/>
            <a:ext cx="5833872" cy="1005840"/>
          </a:xfrm>
          <a:prstGeom prst="rect">
            <a:avLst/>
          </a:prstGeom>
          <a:noFill/>
          <a:ln/>
        </p:spPr>
        <p:txBody>
          <a:bodyPr wrap="square" lIns="0" tIns="0" rIns="0" bIns="0" rtlCol="0" anchor="t"/>
          <a:lstStyle/>
          <a:p>
            <a:pPr indent="0" marL="0">
              <a:lnSpc>
                <a:spcPts val="1600"/>
              </a:lnSpc>
              <a:buNone/>
            </a:pPr>
            <a:r>
              <a:rPr lang="en-US" sz="1150" dirty="0">
                <a:solidFill>
                  <a:srgbClr val="F0DDE1"/>
                </a:solidFill>
                <a:latin typeface="Cambria" pitchFamily="34" charset="0"/>
                <a:ea typeface="Cambria" pitchFamily="34" charset="-122"/>
                <a:cs typeface="Cambria" pitchFamily="34" charset="-120"/>
              </a:rPr>
              <a:t>The model calibrated on four cold, wet, Atlantic states. Arizona sits five climate-envelope widths outside that. Out there we cannot separate “their inspectors are optimistic” from “our model is wrong”, so we publish no number. We still audit them, and they still get a docket. We just decline to pretend.</a:t>
            </a:r>
            <a:endParaRPr lang="en-US" sz="1150" dirty="0"/>
          </a:p>
        </p:txBody>
      </p:sp>
      <p:sp>
        <p:nvSpPr>
          <p:cNvPr id="15" name="Text 10"/>
          <p:cNvSpPr txBox="1"/>
          <p:nvPr/>
        </p:nvSpPr>
        <p:spPr>
          <a:xfrm>
            <a:off x="7223760" y="5349240"/>
            <a:ext cx="4309567" cy="868680"/>
          </a:xfrm>
          <a:prstGeom prst="rect">
            <a:avLst/>
          </a:prstGeom>
          <a:noFill/>
          <a:ln/>
        </p:spPr>
        <p:txBody>
          <a:bodyPr wrap="square" lIns="0" tIns="0" rIns="0" bIns="0" rtlCol="0" anchor="t"/>
          <a:lstStyle/>
          <a:p>
            <a:pPr algn="l" indent="0" marL="0">
              <a:lnSpc>
                <a:spcPts val="1491"/>
              </a:lnSpc>
              <a:buNone/>
            </a:pPr>
            <a:r>
              <a:rPr lang="en-US" sz="1050" i="1" dirty="0">
                <a:solidFill>
                  <a:srgbClr val="8A93B8"/>
                </a:solidFill>
                <a:latin typeface="Cambria" pitchFamily="34" charset="0"/>
                <a:ea typeface="Cambria" pitchFamily="34" charset="-122"/>
                <a:cs typeface="Cambria" pitchFamily="34" charset="-120"/>
              </a:rPr>
              <a:t>The index, and the second table listing every jurisdiction whose ranking is withheld and why. The 621,735 in its header is the server’s own per-state audit; the browser map on the previous slide draws 621,137 from the national snapshot. Two pipelines, 598 structures apart, and we would rather show you both than quietly pick one.</a:t>
            </a:r>
            <a:endParaRPr lang="en-US" sz="10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10_residual_traces.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6766560" cy="6858000"/>
          </a:xfrm>
          <a:prstGeom prst="rect">
            <a:avLst/>
          </a:prstGeom>
          <a:solidFill>
            <a:srgbClr val="0F1738">
              <a:alpha val="86000"/>
            </a:srgbClr>
          </a:solidFill>
          <a:ln/>
        </p:spPr>
      </p:sp>
      <p:sp>
        <p:nvSpPr>
          <p:cNvPr id="4" name="Text 1"/>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18 / IT IS A SYSTEM, NOT A NOTEBOOK</a:t>
            </a:r>
            <a:endParaRPr lang="en-US" sz="950" dirty="0"/>
          </a:p>
        </p:txBody>
      </p:sp>
      <p:sp>
        <p:nvSpPr>
          <p:cNvPr id="5" name="Text 2"/>
          <p:cNvSpPr txBox="1"/>
          <p:nvPr/>
        </p:nvSpPr>
        <p:spPr>
          <a:xfrm>
            <a:off x="658368" y="859536"/>
            <a:ext cx="5943600" cy="822960"/>
          </a:xfrm>
          <a:prstGeom prst="rect">
            <a:avLst/>
          </a:prstGeom>
          <a:noFill/>
          <a:ln/>
        </p:spPr>
        <p:txBody>
          <a:bodyPr wrap="square" lIns="0" tIns="0" rIns="0" bIns="0" rtlCol="0" anchor="t"/>
          <a:lstStyle/>
          <a:p>
            <a:pPr indent="0" marL="0">
              <a:lnSpc>
                <a:spcPts val="3172"/>
              </a:lnSpc>
              <a:buNone/>
            </a:pPr>
            <a:r>
              <a:rPr lang="en-US" sz="2600" b="1" dirty="0">
                <a:solidFill>
                  <a:srgbClr val="FAF8F4"/>
                </a:solidFill>
                <a:latin typeface="Cambria" pitchFamily="34" charset="0"/>
                <a:ea typeface="Cambria" pitchFamily="34" charset="-122"/>
                <a:cs typeface="Cambria" pitchFamily="34" charset="-120"/>
              </a:rPr>
              <a:t>Half of this physically cannot run in a browser.</a:t>
            </a:r>
            <a:endParaRPr lang="en-US" sz="2600" dirty="0"/>
          </a:p>
        </p:txBody>
      </p:sp>
      <p:sp>
        <p:nvSpPr>
          <p:cNvPr id="6" name="Text 3"/>
          <p:cNvSpPr txBox="1"/>
          <p:nvPr/>
        </p:nvSpPr>
        <p:spPr>
          <a:xfrm>
            <a:off x="658368" y="1828800"/>
            <a:ext cx="5760720" cy="960120"/>
          </a:xfrm>
          <a:prstGeom prst="rect">
            <a:avLst/>
          </a:prstGeom>
          <a:noFill/>
          <a:ln/>
        </p:spPr>
        <p:txBody>
          <a:bodyPr wrap="square" lIns="0" tIns="0" rIns="0" bIns="0" rtlCol="0" anchor="t"/>
          <a:lstStyle/>
          <a:p>
            <a:pPr algn="l" indent="0" marL="0">
              <a:lnSpc>
                <a:spcPts val="2052"/>
              </a:lnSpc>
              <a:buNone/>
            </a:pPr>
            <a:r>
              <a:rPr lang="en-US" sz="1350" dirty="0">
                <a:solidFill>
                  <a:srgbClr val="C8CBDA"/>
                </a:solidFill>
                <a:latin typeface="Cambria" pitchFamily="34" charset="0"/>
                <a:ea typeface="Cambria" pitchFamily="34" charset="-122"/>
                <a:cs typeface="Cambria" pitchFamily="34" charset="-120"/>
              </a:rPr>
              <a:t>The federal files are tens of megabytes and their origin sends no cross-origin headers, so the browser is not allowed to fetch them at all. That half runs on a real server.</a:t>
            </a:r>
            <a:endParaRPr lang="en-US" sz="1350" dirty="0"/>
          </a:p>
        </p:txBody>
      </p:sp>
      <p:sp>
        <p:nvSpPr>
          <p:cNvPr id="7" name="Text 4"/>
          <p:cNvSpPr txBox="1"/>
          <p:nvPr/>
        </p:nvSpPr>
        <p:spPr>
          <a:xfrm>
            <a:off x="658368" y="2926080"/>
            <a:ext cx="5760720" cy="237744"/>
          </a:xfrm>
          <a:prstGeom prst="rect">
            <a:avLst/>
          </a:prstGeom>
          <a:noFill/>
          <a:ln/>
        </p:spPr>
        <p:txBody>
          <a:bodyPr wrap="square" lIns="0" tIns="0" rIns="0" bIns="0" rtlCol="0" anchor="ctr"/>
          <a:lstStyle/>
          <a:p>
            <a:pPr indent="0" marL="0">
              <a:buNone/>
            </a:pPr>
            <a:r>
              <a:rPr lang="en-US" sz="900" b="1" spc="110" kern="0" dirty="0">
                <a:solidFill>
                  <a:srgbClr val="8A6420"/>
                </a:solidFill>
                <a:latin typeface="Courier New" pitchFamily="34" charset="0"/>
                <a:ea typeface="Courier New" pitchFamily="34" charset="-122"/>
                <a:cs typeface="Courier New" pitchFamily="34" charset="-120"/>
              </a:rPr>
              <a:t>FASTAPI ON RENDER</a:t>
            </a:r>
            <a:endParaRPr lang="en-US" sz="900" dirty="0"/>
          </a:p>
        </p:txBody>
      </p:sp>
      <p:sp>
        <p:nvSpPr>
          <p:cNvPr id="8" name="Text 5"/>
          <p:cNvSpPr txBox="1"/>
          <p:nvPr/>
        </p:nvSpPr>
        <p:spPr>
          <a:xfrm>
            <a:off x="658368" y="3182112"/>
            <a:ext cx="5760720" cy="512064"/>
          </a:xfrm>
          <a:prstGeom prst="rect">
            <a:avLst/>
          </a:prstGeom>
          <a:noFill/>
          <a:ln/>
        </p:spPr>
        <p:txBody>
          <a:bodyPr wrap="square" lIns="0" tIns="0" rIns="0" bIns="0" rtlCol="0" anchor="t"/>
          <a:lstStyle/>
          <a:p>
            <a:pPr indent="0" marL="0">
              <a:lnSpc>
                <a:spcPts val="1600"/>
              </a:lnSpc>
              <a:buNone/>
            </a:pPr>
            <a:r>
              <a:rPr lang="en-US" sz="1180" dirty="0">
                <a:solidFill>
                  <a:srgbClr val="C8CBDA"/>
                </a:solidFill>
                <a:latin typeface="Cambria" pitchFamily="34" charset="0"/>
                <a:ea typeface="Cambria" pitchFamily="34" charset="-122"/>
                <a:cs typeface="Cambria" pitchFamily="34" charset="-120"/>
              </a:rPr>
              <a:t>Pulls any state’s live federal file and live weather, scores every structure, and returns a docket.</a:t>
            </a:r>
            <a:endParaRPr lang="en-US" sz="1180" dirty="0"/>
          </a:p>
        </p:txBody>
      </p:sp>
      <p:sp>
        <p:nvSpPr>
          <p:cNvPr id="9" name="Text 6"/>
          <p:cNvSpPr txBox="1"/>
          <p:nvPr/>
        </p:nvSpPr>
        <p:spPr>
          <a:xfrm>
            <a:off x="658368" y="3767328"/>
            <a:ext cx="5760720" cy="237744"/>
          </a:xfrm>
          <a:prstGeom prst="rect">
            <a:avLst/>
          </a:prstGeom>
          <a:noFill/>
          <a:ln/>
        </p:spPr>
        <p:txBody>
          <a:bodyPr wrap="square" lIns="0" tIns="0" rIns="0" bIns="0" rtlCol="0" anchor="ctr"/>
          <a:lstStyle/>
          <a:p>
            <a:pPr indent="0" marL="0">
              <a:buNone/>
            </a:pPr>
            <a:r>
              <a:rPr lang="en-US" sz="900" b="1" spc="110" kern="0" dirty="0">
                <a:solidFill>
                  <a:srgbClr val="8A6420"/>
                </a:solidFill>
                <a:latin typeface="Courier New" pitchFamily="34" charset="0"/>
                <a:ea typeface="Courier New" pitchFamily="34" charset="-122"/>
                <a:cs typeface="Courier New" pitchFamily="34" charset="-120"/>
              </a:rPr>
              <a:t>BOUNDED MEMORY</a:t>
            </a:r>
            <a:endParaRPr lang="en-US" sz="900" dirty="0"/>
          </a:p>
        </p:txBody>
      </p:sp>
      <p:sp>
        <p:nvSpPr>
          <p:cNvPr id="10" name="Text 7"/>
          <p:cNvSpPr txBox="1"/>
          <p:nvPr/>
        </p:nvSpPr>
        <p:spPr>
          <a:xfrm>
            <a:off x="658368" y="4023360"/>
            <a:ext cx="5760720" cy="512064"/>
          </a:xfrm>
          <a:prstGeom prst="rect">
            <a:avLst/>
          </a:prstGeom>
          <a:noFill/>
          <a:ln/>
        </p:spPr>
        <p:txBody>
          <a:bodyPr wrap="square" lIns="0" tIns="0" rIns="0" bIns="0" rtlCol="0" anchor="t"/>
          <a:lstStyle/>
          <a:p>
            <a:pPr indent="0" marL="0">
              <a:lnSpc>
                <a:spcPts val="1600"/>
              </a:lnSpc>
              <a:buNone/>
            </a:pPr>
            <a:r>
              <a:rPr lang="en-US" sz="1180" dirty="0">
                <a:solidFill>
                  <a:srgbClr val="C8CBDA"/>
                </a:solidFill>
                <a:latin typeface="Cambria" pitchFamily="34" charset="0"/>
                <a:ea typeface="Cambria" pitchFamily="34" charset="-122"/>
                <a:cs typeface="Cambria" pitchFamily="34" charset="-120"/>
              </a:rPr>
              <a:t>Texas is 56,951 structures and completes in about fifteen seconds on a free 512MB instance.</a:t>
            </a:r>
            <a:endParaRPr lang="en-US" sz="1180" dirty="0"/>
          </a:p>
        </p:txBody>
      </p:sp>
      <p:sp>
        <p:nvSpPr>
          <p:cNvPr id="11" name="Text 8"/>
          <p:cNvSpPr txBox="1"/>
          <p:nvPr/>
        </p:nvSpPr>
        <p:spPr>
          <a:xfrm>
            <a:off x="658368" y="4608576"/>
            <a:ext cx="5760720" cy="237744"/>
          </a:xfrm>
          <a:prstGeom prst="rect">
            <a:avLst/>
          </a:prstGeom>
          <a:noFill/>
          <a:ln/>
        </p:spPr>
        <p:txBody>
          <a:bodyPr wrap="square" lIns="0" tIns="0" rIns="0" bIns="0" rtlCol="0" anchor="ctr"/>
          <a:lstStyle/>
          <a:p>
            <a:pPr indent="0" marL="0">
              <a:buNone/>
            </a:pPr>
            <a:r>
              <a:rPr lang="en-US" sz="900" b="1" spc="110" kern="0" dirty="0">
                <a:solidFill>
                  <a:srgbClr val="8A6420"/>
                </a:solidFill>
                <a:latin typeface="Courier New" pitchFamily="34" charset="0"/>
                <a:ea typeface="Courier New" pitchFamily="34" charset="-122"/>
                <a:cs typeface="Courier New" pitchFamily="34" charset="-120"/>
              </a:rPr>
              <a:t>SERVER-RENDERED PDFs</a:t>
            </a:r>
            <a:endParaRPr lang="en-US" sz="900" dirty="0"/>
          </a:p>
        </p:txBody>
      </p:sp>
      <p:sp>
        <p:nvSpPr>
          <p:cNvPr id="12" name="Text 9"/>
          <p:cNvSpPr txBox="1"/>
          <p:nvPr/>
        </p:nvSpPr>
        <p:spPr>
          <a:xfrm>
            <a:off x="658368" y="4864608"/>
            <a:ext cx="5760720" cy="512064"/>
          </a:xfrm>
          <a:prstGeom prst="rect">
            <a:avLst/>
          </a:prstGeom>
          <a:noFill/>
          <a:ln/>
        </p:spPr>
        <p:txBody>
          <a:bodyPr wrap="square" lIns="0" tIns="0" rIns="0" bIns="0" rtlCol="0" anchor="t"/>
          <a:lstStyle/>
          <a:p>
            <a:pPr indent="0" marL="0">
              <a:lnSpc>
                <a:spcPts val="1600"/>
              </a:lnSpc>
              <a:buNone/>
            </a:pPr>
            <a:r>
              <a:rPr lang="en-US" sz="1180" dirty="0">
                <a:solidFill>
                  <a:srgbClr val="C8CBDA"/>
                </a:solidFill>
                <a:latin typeface="Cambria" pitchFamily="34" charset="0"/>
                <a:ea typeface="Cambria" pitchFamily="34" charset="-122"/>
                <a:cs typeface="Cambria" pitchFamily="34" charset="-120"/>
              </a:rPr>
              <a:t>Any case file downloads as a real document an engineer can sign.</a:t>
            </a:r>
            <a:endParaRPr lang="en-US" sz="1180" dirty="0"/>
          </a:p>
        </p:txBody>
      </p:sp>
      <p:sp>
        <p:nvSpPr>
          <p:cNvPr id="13" name="Text 10"/>
          <p:cNvSpPr txBox="1"/>
          <p:nvPr/>
        </p:nvSpPr>
        <p:spPr>
          <a:xfrm>
            <a:off x="658368" y="5449824"/>
            <a:ext cx="5760720" cy="237744"/>
          </a:xfrm>
          <a:prstGeom prst="rect">
            <a:avLst/>
          </a:prstGeom>
          <a:noFill/>
          <a:ln/>
        </p:spPr>
        <p:txBody>
          <a:bodyPr wrap="square" lIns="0" tIns="0" rIns="0" bIns="0" rtlCol="0" anchor="ctr"/>
          <a:lstStyle/>
          <a:p>
            <a:pPr indent="0" marL="0">
              <a:buNone/>
            </a:pPr>
            <a:r>
              <a:rPr lang="en-US" sz="900" b="1" spc="110" kern="0" dirty="0">
                <a:solidFill>
                  <a:srgbClr val="8A6420"/>
                </a:solidFill>
                <a:latin typeface="Courier New" pitchFamily="34" charset="0"/>
                <a:ea typeface="Courier New" pitchFamily="34" charset="-122"/>
                <a:cs typeface="Courier New" pitchFamily="34" charset="-120"/>
              </a:rPr>
              <a:t>THE WRITE-BACK LOOP</a:t>
            </a:r>
            <a:endParaRPr lang="en-US" sz="900" dirty="0"/>
          </a:p>
        </p:txBody>
      </p:sp>
      <p:sp>
        <p:nvSpPr>
          <p:cNvPr id="14" name="Text 11"/>
          <p:cNvSpPr txBox="1"/>
          <p:nvPr/>
        </p:nvSpPr>
        <p:spPr>
          <a:xfrm>
            <a:off x="658368" y="5705856"/>
            <a:ext cx="5760720" cy="512064"/>
          </a:xfrm>
          <a:prstGeom prst="rect">
            <a:avLst/>
          </a:prstGeom>
          <a:noFill/>
          <a:ln/>
        </p:spPr>
        <p:txBody>
          <a:bodyPr wrap="square" lIns="0" tIns="0" rIns="0" bIns="0" rtlCol="0" anchor="t"/>
          <a:lstStyle/>
          <a:p>
            <a:pPr indent="0" marL="0">
              <a:lnSpc>
                <a:spcPts val="1600"/>
              </a:lnSpc>
              <a:buNone/>
            </a:pPr>
            <a:r>
              <a:rPr lang="en-US" sz="1180" dirty="0">
                <a:solidFill>
                  <a:srgbClr val="C8CBDA"/>
                </a:solidFill>
                <a:latin typeface="Cambria" pitchFamily="34" charset="0"/>
                <a:ea typeface="Cambria" pitchFamily="34" charset="-122"/>
                <a:cs typeface="Cambria" pitchFamily="34" charset="-120"/>
              </a:rPr>
              <a:t>A field inspection outcome is filed back and stored as a label for the next build. The loop closes.</a:t>
            </a:r>
            <a:endParaRPr lang="en-US" sz="1180" dirty="0"/>
          </a:p>
        </p:txBody>
      </p:sp>
      <p:sp>
        <p:nvSpPr>
          <p:cNvPr id="15" name="Text 12"/>
          <p:cNvSpPr txBox="1"/>
          <p:nvPr/>
        </p:nvSpPr>
        <p:spPr>
          <a:xfrm>
            <a:off x="658368" y="6272784"/>
            <a:ext cx="5760720" cy="274320"/>
          </a:xfrm>
          <a:prstGeom prst="rect">
            <a:avLst/>
          </a:prstGeom>
          <a:noFill/>
          <a:ln/>
        </p:spPr>
        <p:txBody>
          <a:bodyPr wrap="square" lIns="0" tIns="0" rIns="0" bIns="0" rtlCol="0" anchor="ctr"/>
          <a:lstStyle/>
          <a:p>
            <a:pPr indent="0" marL="0">
              <a:buNone/>
            </a:pPr>
            <a:r>
              <a:rPr lang="en-US" sz="1000" b="1" spc="70" kern="0" dirty="0">
                <a:solidFill>
                  <a:srgbClr val="E4607A"/>
                </a:solidFill>
                <a:latin typeface="Courier New" pitchFamily="34" charset="0"/>
                <a:ea typeface="Courier New" pitchFamily="34" charset="-122"/>
                <a:cs typeface="Courier New" pitchFamily="34" charset="-120"/>
              </a:rPr>
              <a:t>dissent-api-jgod.onrender.com/docs</a:t>
            </a:r>
            <a:endParaRPr lang="en-US" sz="10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8F4"/>
        </a:solidFill>
      </p:bgPr>
    </p:bg>
    <p:spTree>
      <p:nvGrpSpPr>
        <p:cNvPr id="1" name=""/>
        <p:cNvGrpSpPr/>
        <p:nvPr/>
      </p:nvGrpSpPr>
      <p:grpSpPr>
        <a:xfrm>
          <a:off x="0" y="0"/>
          <a:ext cx="0" cy="0"/>
          <a:chOff x="0" y="0"/>
          <a:chExt cx="0" cy="0"/>
        </a:xfrm>
      </p:grpSpPr>
      <p:pic>
        <p:nvPicPr>
          <p:cNvPr id="2" name="Image 0" descr="/Users/arockia/Downloads/dissent/pitch/bg/bg03_paper.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66928"/>
            <a:ext cx="6400800" cy="237744"/>
          </a:xfrm>
          <a:prstGeom prst="rect">
            <a:avLst/>
          </a:prstGeom>
          <a:noFill/>
          <a:ln/>
        </p:spPr>
        <p:txBody>
          <a:bodyPr wrap="square" lIns="0" tIns="0" rIns="0" bIns="0" rtlCol="0" anchor="t"/>
          <a:lstStyle/>
          <a:p>
            <a:pPr algn="l" indent="0" marL="0">
              <a:buNone/>
            </a:pPr>
            <a:r>
              <a:rPr lang="en-US" sz="950" b="1" spc="160" kern="0" dirty="0">
                <a:solidFill>
                  <a:srgbClr val="8A6420"/>
                </a:solidFill>
                <a:latin typeface="Courier New" pitchFamily="34" charset="0"/>
                <a:ea typeface="Courier New" pitchFamily="34" charset="-122"/>
                <a:cs typeface="Courier New" pitchFamily="34" charset="-120"/>
              </a:rPr>
              <a:t>19 / THE CATEGORY</a:t>
            </a:r>
            <a:endParaRPr lang="en-US" sz="950" dirty="0"/>
          </a:p>
        </p:txBody>
      </p:sp>
      <p:sp>
        <p:nvSpPr>
          <p:cNvPr id="4" name="Text 1"/>
          <p:cNvSpPr txBox="1"/>
          <p:nvPr/>
        </p:nvSpPr>
        <p:spPr>
          <a:xfrm>
            <a:off x="658368" y="914400"/>
            <a:ext cx="10874959" cy="1371600"/>
          </a:xfrm>
          <a:prstGeom prst="rect">
            <a:avLst/>
          </a:prstGeom>
          <a:noFill/>
          <a:ln/>
        </p:spPr>
        <p:txBody>
          <a:bodyPr wrap="square" lIns="0" tIns="0" rIns="0" bIns="0" rtlCol="0" anchor="t"/>
          <a:lstStyle/>
          <a:p>
            <a:pPr indent="0" marL="0">
              <a:lnSpc>
                <a:spcPts val="3294"/>
              </a:lnSpc>
              <a:buNone/>
            </a:pPr>
            <a:r>
              <a:rPr lang="en-US" sz="2700" b="1" dirty="0">
                <a:solidFill>
                  <a:srgbClr val="20263E"/>
                </a:solidFill>
                <a:latin typeface="Cambria" pitchFamily="34" charset="0"/>
                <a:ea typeface="Cambria" pitchFamily="34" charset="-122"/>
                <a:cs typeface="Cambria" pitchFamily="34" charset="-120"/>
              </a:rPr>
              <a:t>Everything on the market measures the asset.</a:t>
            </a:r>
            <a:endParaRPr lang="en-US" sz="2700" dirty="0"/>
          </a:p>
          <a:p>
            <a:pPr indent="0" marL="0">
              <a:lnSpc>
                <a:spcPts val="3294"/>
              </a:lnSpc>
              <a:buNone/>
            </a:pPr>
            <a:r>
              <a:rPr lang="en-US" sz="2700" b="1" dirty="0">
                <a:solidFill>
                  <a:srgbClr val="20263E"/>
                </a:solidFill>
                <a:latin typeface="Cambria" pitchFamily="34" charset="0"/>
                <a:ea typeface="Cambria" pitchFamily="34" charset="-122"/>
                <a:cs typeface="Cambria" pitchFamily="34" charset="-120"/>
              </a:rPr>
              <a:t>We audit the paperwork against it.</a:t>
            </a:r>
            <a:endParaRPr lang="en-US" sz="2700" dirty="0"/>
          </a:p>
        </p:txBody>
      </p:sp>
      <p:sp>
        <p:nvSpPr>
          <p:cNvPr id="5" name="Shape 2"/>
          <p:cNvSpPr/>
          <p:nvPr/>
        </p:nvSpPr>
        <p:spPr>
          <a:xfrm>
            <a:off x="658368" y="2395728"/>
            <a:ext cx="4846320" cy="3200400"/>
          </a:xfrm>
          <a:prstGeom prst="rect">
            <a:avLst/>
          </a:prstGeom>
          <a:solidFill>
            <a:srgbClr val="FFFFFF"/>
          </a:solidFill>
          <a:ln w="9525">
            <a:solidFill>
              <a:srgbClr val="D9D5C9"/>
            </a:solidFill>
            <a:prstDash val="solid"/>
          </a:ln>
        </p:spPr>
      </p:sp>
      <p:sp>
        <p:nvSpPr>
          <p:cNvPr id="6" name="Text 3"/>
          <p:cNvSpPr txBox="1"/>
          <p:nvPr/>
        </p:nvSpPr>
        <p:spPr>
          <a:xfrm>
            <a:off x="914400" y="2615184"/>
            <a:ext cx="4334256" cy="237744"/>
          </a:xfrm>
          <a:prstGeom prst="rect">
            <a:avLst/>
          </a:prstGeom>
          <a:noFill/>
          <a:ln/>
        </p:spPr>
        <p:txBody>
          <a:bodyPr wrap="square" lIns="0" tIns="0" rIns="0" bIns="0" rtlCol="0" anchor="t"/>
          <a:lstStyle/>
          <a:p>
            <a:pPr algn="l" indent="0" marL="0">
              <a:buNone/>
            </a:pPr>
            <a:r>
              <a:rPr lang="en-US" sz="950" b="1" spc="160" kern="0" dirty="0">
                <a:solidFill>
                  <a:srgbClr val="6A7088"/>
                </a:solidFill>
                <a:latin typeface="Courier New" pitchFamily="34" charset="0"/>
                <a:ea typeface="Courier New" pitchFamily="34" charset="-122"/>
                <a:cs typeface="Courier New" pitchFamily="34" charset="-120"/>
              </a:rPr>
              <a:t>WHAT ALREADY EXISTS</a:t>
            </a:r>
            <a:endParaRPr lang="en-US" sz="950" dirty="0"/>
          </a:p>
        </p:txBody>
      </p:sp>
      <p:sp>
        <p:nvSpPr>
          <p:cNvPr id="7" name="Text 4"/>
          <p:cNvSpPr txBox="1"/>
          <p:nvPr/>
        </p:nvSpPr>
        <p:spPr>
          <a:xfrm>
            <a:off x="914400" y="2889504"/>
            <a:ext cx="4334256" cy="384048"/>
          </a:xfrm>
          <a:prstGeom prst="rect">
            <a:avLst/>
          </a:prstGeom>
          <a:noFill/>
          <a:ln/>
        </p:spPr>
        <p:txBody>
          <a:bodyPr wrap="square" lIns="0" tIns="0" rIns="0" bIns="0" rtlCol="0" anchor="ctr"/>
          <a:lstStyle/>
          <a:p>
            <a:pPr indent="0" marL="0">
              <a:buNone/>
            </a:pPr>
            <a:r>
              <a:rPr lang="en-US" sz="1800" b="1" dirty="0">
                <a:solidFill>
                  <a:srgbClr val="20263E"/>
                </a:solidFill>
                <a:latin typeface="Cambria" pitchFamily="34" charset="0"/>
                <a:ea typeface="Cambria" pitchFamily="34" charset="-122"/>
                <a:cs typeface="Cambria" pitchFamily="34" charset="-120"/>
              </a:rPr>
              <a:t>Measure the structure</a:t>
            </a:r>
            <a:endParaRPr lang="en-US" sz="1800" dirty="0"/>
          </a:p>
        </p:txBody>
      </p:sp>
      <p:sp>
        <p:nvSpPr>
          <p:cNvPr id="8" name="Text 5"/>
          <p:cNvSpPr txBox="1"/>
          <p:nvPr/>
        </p:nvSpPr>
        <p:spPr>
          <a:xfrm>
            <a:off x="914400" y="3364992"/>
            <a:ext cx="4334256" cy="1371600"/>
          </a:xfrm>
          <a:prstGeom prst="rect">
            <a:avLst/>
          </a:prstGeom>
          <a:noFill/>
          <a:ln/>
        </p:spPr>
        <p:txBody>
          <a:bodyPr wrap="square" lIns="0" tIns="0" rIns="0" bIns="0" rtlCol="0" anchor="t"/>
          <a:lstStyle/>
          <a:p>
            <a:pPr indent="0" marL="0">
              <a:lnSpc>
                <a:spcPts val="1700"/>
              </a:lnSpc>
              <a:buNone/>
            </a:pPr>
            <a:r>
              <a:rPr lang="en-US" sz="1200" dirty="0">
                <a:solidFill>
                  <a:srgbClr val="6A7088"/>
                </a:solidFill>
                <a:latin typeface="Cambria" pitchFamily="34" charset="0"/>
                <a:ea typeface="Cambria" pitchFamily="34" charset="-122"/>
                <a:cs typeface="Cambria" pitchFamily="34" charset="-120"/>
              </a:rPr>
              <a:t>Strain gauges. Satellite interferometry. Drone photogrammetry. Inspection-photo classifiers. Every one of them is good, and every one needs something installed, flown, or visited — so every one covers a fraction of an inventory.</a:t>
            </a:r>
            <a:endParaRPr lang="en-US" sz="1200" dirty="0"/>
          </a:p>
        </p:txBody>
      </p:sp>
      <p:sp>
        <p:nvSpPr>
          <p:cNvPr id="9" name="Text 6"/>
          <p:cNvSpPr txBox="1"/>
          <p:nvPr/>
        </p:nvSpPr>
        <p:spPr>
          <a:xfrm>
            <a:off x="914400" y="5010912"/>
            <a:ext cx="4334256" cy="365760"/>
          </a:xfrm>
          <a:prstGeom prst="rect">
            <a:avLst/>
          </a:prstGeom>
          <a:noFill/>
          <a:ln/>
        </p:spPr>
        <p:txBody>
          <a:bodyPr wrap="square" lIns="0" tIns="0" rIns="0" bIns="0" rtlCol="0" anchor="ctr"/>
          <a:lstStyle/>
          <a:p>
            <a:pPr indent="0" marL="0">
              <a:buNone/>
            </a:pPr>
            <a:r>
              <a:rPr lang="en-US" sz="1150" i="1" dirty="0">
                <a:solidFill>
                  <a:srgbClr val="6A7088"/>
                </a:solidFill>
                <a:latin typeface="Cambria" pitchFamily="34" charset="0"/>
                <a:ea typeface="Cambria" pitchFamily="34" charset="-122"/>
                <a:cs typeface="Cambria" pitchFamily="34" charset="-120"/>
              </a:rPr>
              <a:t>Coverage: the assets you paid to instrument.</a:t>
            </a:r>
            <a:endParaRPr lang="en-US" sz="1150" dirty="0"/>
          </a:p>
        </p:txBody>
      </p:sp>
      <p:sp>
        <p:nvSpPr>
          <p:cNvPr id="10" name="Shape 7"/>
          <p:cNvSpPr/>
          <p:nvPr/>
        </p:nvSpPr>
        <p:spPr>
          <a:xfrm>
            <a:off x="5961888" y="2395728"/>
            <a:ext cx="4846320" cy="3200400"/>
          </a:xfrm>
          <a:prstGeom prst="rect">
            <a:avLst/>
          </a:prstGeom>
          <a:solidFill>
            <a:srgbClr val="0F1738"/>
          </a:solidFill>
          <a:ln w="9525">
            <a:solidFill>
              <a:srgbClr val="2A3560"/>
            </a:solidFill>
            <a:prstDash val="solid"/>
          </a:ln>
        </p:spPr>
      </p:sp>
      <p:sp>
        <p:nvSpPr>
          <p:cNvPr id="11" name="Text 8"/>
          <p:cNvSpPr txBox="1"/>
          <p:nvPr/>
        </p:nvSpPr>
        <p:spPr>
          <a:xfrm>
            <a:off x="6217920" y="2615184"/>
            <a:ext cx="4334256"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WHAT WE DO</a:t>
            </a:r>
            <a:endParaRPr lang="en-US" sz="950" dirty="0"/>
          </a:p>
        </p:txBody>
      </p:sp>
      <p:sp>
        <p:nvSpPr>
          <p:cNvPr id="12" name="Text 9"/>
          <p:cNvSpPr txBox="1"/>
          <p:nvPr/>
        </p:nvSpPr>
        <p:spPr>
          <a:xfrm>
            <a:off x="6217920" y="2889504"/>
            <a:ext cx="4334256" cy="384048"/>
          </a:xfrm>
          <a:prstGeom prst="rect">
            <a:avLst/>
          </a:prstGeom>
          <a:noFill/>
          <a:ln/>
        </p:spPr>
        <p:txBody>
          <a:bodyPr wrap="square" lIns="0" tIns="0" rIns="0" bIns="0" rtlCol="0" anchor="ctr"/>
          <a:lstStyle/>
          <a:p>
            <a:pPr indent="0" marL="0">
              <a:buNone/>
            </a:pPr>
            <a:r>
              <a:rPr lang="en-US" sz="1800" b="1" dirty="0">
                <a:solidFill>
                  <a:srgbClr val="FAF8F4"/>
                </a:solidFill>
                <a:latin typeface="Cambria" pitchFamily="34" charset="0"/>
                <a:ea typeface="Cambria" pitchFamily="34" charset="-122"/>
                <a:cs typeface="Cambria" pitchFamily="34" charset="-120"/>
              </a:rPr>
              <a:t>Audit the account of it</a:t>
            </a:r>
            <a:endParaRPr lang="en-US" sz="1800" dirty="0"/>
          </a:p>
        </p:txBody>
      </p:sp>
      <p:sp>
        <p:nvSpPr>
          <p:cNvPr id="13" name="Text 10"/>
          <p:cNvSpPr txBox="1"/>
          <p:nvPr/>
        </p:nvSpPr>
        <p:spPr>
          <a:xfrm>
            <a:off x="6217920" y="3364992"/>
            <a:ext cx="4334256" cy="1691640"/>
          </a:xfrm>
          <a:prstGeom prst="rect">
            <a:avLst/>
          </a:prstGeom>
          <a:noFill/>
          <a:ln/>
        </p:spPr>
        <p:txBody>
          <a:bodyPr wrap="square" lIns="0" tIns="0" rIns="0" bIns="0" rtlCol="0" anchor="t"/>
          <a:lstStyle/>
          <a:p>
            <a:pPr indent="0" marL="0">
              <a:lnSpc>
                <a:spcPts val="1600"/>
              </a:lnSpc>
              <a:buNone/>
            </a:pPr>
            <a:r>
              <a:rPr lang="en-US" sz="1150" dirty="0">
                <a:solidFill>
                  <a:srgbClr val="C8CBDA"/>
                </a:solidFill>
                <a:latin typeface="Cambria" pitchFamily="34" charset="0"/>
                <a:ea typeface="Cambria" pitchFamily="34" charset="-122"/>
                <a:cs typeface="Cambria" pitchFamily="34" charset="-120"/>
              </a:rPr>
              <a:t>A blind re-inspection setup in which no filed rating is ever an input. Conformal calibration, so every verdict carries valid uncertainty. A Bayesian changepoint detector on the record-versus-physics residual. And one deliberate refusal: we never train a rare-event classifier, because failures are one in thousands. We train a rating predictor on hundreds of thousands of pairs and mine the disagreements.</a:t>
            </a:r>
            <a:endParaRPr lang="en-US" sz="1150" dirty="0"/>
          </a:p>
        </p:txBody>
      </p:sp>
      <p:sp>
        <p:nvSpPr>
          <p:cNvPr id="14" name="Text 11"/>
          <p:cNvSpPr txBox="1"/>
          <p:nvPr/>
        </p:nvSpPr>
        <p:spPr>
          <a:xfrm>
            <a:off x="6217920" y="5138928"/>
            <a:ext cx="4334256" cy="365760"/>
          </a:xfrm>
          <a:prstGeom prst="rect">
            <a:avLst/>
          </a:prstGeom>
          <a:noFill/>
          <a:ln/>
        </p:spPr>
        <p:txBody>
          <a:bodyPr wrap="square" lIns="0" tIns="0" rIns="0" bIns="0" rtlCol="0" anchor="ctr"/>
          <a:lstStyle/>
          <a:p>
            <a:pPr indent="0" marL="0">
              <a:buNone/>
            </a:pPr>
            <a:r>
              <a:rPr lang="en-US" sz="1150" b="1" i="1" dirty="0">
                <a:solidFill>
                  <a:srgbClr val="E4607A"/>
                </a:solidFill>
                <a:latin typeface="Cambria" pitchFamily="34" charset="0"/>
                <a:ea typeface="Cambria" pitchFamily="34" charset="-122"/>
                <a:cs typeface="Cambria" pitchFamily="34" charset="-120"/>
              </a:rPr>
              <a:t>Coverage: 100% of any inventory that files a record.</a:t>
            </a:r>
            <a:endParaRPr lang="en-US" sz="1150" dirty="0"/>
          </a:p>
        </p:txBody>
      </p:sp>
      <p:sp>
        <p:nvSpPr>
          <p:cNvPr id="15" name="Text 12"/>
          <p:cNvSpPr txBox="1"/>
          <p:nvPr/>
        </p:nvSpPr>
        <p:spPr>
          <a:xfrm>
            <a:off x="658368" y="5779008"/>
            <a:ext cx="10874959" cy="365760"/>
          </a:xfrm>
          <a:prstGeom prst="rect">
            <a:avLst/>
          </a:prstGeom>
          <a:noFill/>
          <a:ln/>
        </p:spPr>
        <p:txBody>
          <a:bodyPr wrap="square" lIns="0" tIns="0" rIns="0" bIns="0" rtlCol="0" anchor="ctr"/>
          <a:lstStyle/>
          <a:p>
            <a:pPr algn="ctr" indent="0" marL="0">
              <a:buNone/>
            </a:pPr>
            <a:r>
              <a:rPr lang="en-US" sz="1350" i="1" dirty="0">
                <a:solidFill>
                  <a:srgbClr val="20263E"/>
                </a:solidFill>
                <a:latin typeface="Cambria" pitchFamily="34" charset="0"/>
                <a:ea typeface="Cambria" pitchFamily="34" charset="-122"/>
                <a:cs typeface="Cambria" pitchFamily="34" charset="-120"/>
              </a:rPr>
              <a:t>That is a different category, and it is why there is nothing to install and nothing to buy.</a:t>
            </a:r>
            <a:endParaRPr lang="en-US" sz="135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B3AC9A"/>
                </a:solidFill>
                <a:latin typeface="Courier New"/>
                <a:ea typeface="Courier New"/>
                <a:cs typeface="Courier New"/>
              </a:defRPr>
            </a:lvl1pPr>
          </a:lstStyle>
          <a:p>
            <a:pPr algn="l"/>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4_underside.jp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7071183" cy="6858000"/>
          </a:xfrm>
          <a:prstGeom prst="rect">
            <a:avLst/>
          </a:prstGeom>
          <a:solidFill>
            <a:srgbClr val="0F1738">
              <a:alpha val="88000"/>
            </a:srgbClr>
          </a:solidFill>
          <a:ln/>
        </p:spPr>
      </p:sp>
      <p:sp>
        <p:nvSpPr>
          <p:cNvPr id="4" name="Text 1"/>
          <p:cNvSpPr txBox="1"/>
          <p:nvPr/>
        </p:nvSpPr>
        <p:spPr>
          <a:xfrm>
            <a:off x="658368" y="530352"/>
            <a:ext cx="6400800" cy="237744"/>
          </a:xfrm>
          <a:prstGeom prst="rect">
            <a:avLst/>
          </a:prstGeom>
          <a:noFill/>
          <a:ln/>
        </p:spPr>
        <p:txBody>
          <a:bodyPr wrap="square" lIns="0" tIns="0" rIns="0" bIns="0" rtlCol="0" anchor="t"/>
          <a:lstStyle/>
          <a:p>
            <a:pPr algn="l" indent="0" marL="0">
              <a:buNone/>
            </a:pPr>
            <a:r>
              <a:rPr lang="en-US" sz="950" b="1" spc="160" kern="0" dirty="0">
                <a:solidFill>
                  <a:srgbClr val="E4607A"/>
                </a:solidFill>
                <a:latin typeface="Courier New" pitchFamily="34" charset="0"/>
                <a:ea typeface="Courier New" pitchFamily="34" charset="-122"/>
                <a:cs typeface="Courier New" pitchFamily="34" charset="-120"/>
              </a:rPr>
              <a:t>20 / WHAT CHANGES</a:t>
            </a:r>
            <a:endParaRPr lang="en-US" sz="950" dirty="0"/>
          </a:p>
        </p:txBody>
      </p:sp>
      <p:sp>
        <p:nvSpPr>
          <p:cNvPr id="5" name="Text 2"/>
          <p:cNvSpPr txBox="1"/>
          <p:nvPr/>
        </p:nvSpPr>
        <p:spPr>
          <a:xfrm>
            <a:off x="658368" y="859536"/>
            <a:ext cx="6035040" cy="1234440"/>
          </a:xfrm>
          <a:prstGeom prst="rect">
            <a:avLst/>
          </a:prstGeom>
          <a:noFill/>
          <a:ln/>
        </p:spPr>
        <p:txBody>
          <a:bodyPr wrap="square" lIns="0" tIns="0" rIns="0" bIns="0" rtlCol="0" anchor="t"/>
          <a:lstStyle/>
          <a:p>
            <a:pPr indent="0" marL="0">
              <a:lnSpc>
                <a:spcPts val="3172"/>
              </a:lnSpc>
              <a:buNone/>
            </a:pPr>
            <a:r>
              <a:rPr lang="en-US" sz="2600" b="1" dirty="0">
                <a:solidFill>
                  <a:srgbClr val="FAF8F4"/>
                </a:solidFill>
                <a:latin typeface="Cambria" pitchFamily="34" charset="0"/>
                <a:ea typeface="Cambria" pitchFamily="34" charset="-122"/>
                <a:cs typeface="Cambria" pitchFamily="34" charset="-120"/>
              </a:rPr>
              <a:t>Seven hundred and thirty days between</a:t>
            </a:r>
            <a:endParaRPr lang="en-US" sz="2600" dirty="0"/>
          </a:p>
          <a:p>
            <a:pPr indent="0" marL="0">
              <a:lnSpc>
                <a:spcPts val="3172"/>
              </a:lnSpc>
              <a:buNone/>
            </a:pPr>
            <a:r>
              <a:rPr lang="en-US" sz="2600" b="1" dirty="0">
                <a:solidFill>
                  <a:srgbClr val="FAF8F4"/>
                </a:solidFill>
                <a:latin typeface="Cambria" pitchFamily="34" charset="0"/>
                <a:ea typeface="Cambria" pitchFamily="34" charset="-122"/>
                <a:cs typeface="Cambria" pitchFamily="34" charset="-120"/>
              </a:rPr>
              <a:t>looks becomes one model run.</a:t>
            </a:r>
            <a:endParaRPr lang="en-US" sz="2600" dirty="0"/>
          </a:p>
        </p:txBody>
      </p:sp>
      <p:sp>
        <p:nvSpPr>
          <p:cNvPr id="6" name="Text 3"/>
          <p:cNvSpPr txBox="1"/>
          <p:nvPr/>
        </p:nvSpPr>
        <p:spPr>
          <a:xfrm>
            <a:off x="658368" y="2395728"/>
            <a:ext cx="5669280" cy="1143000"/>
          </a:xfrm>
          <a:prstGeom prst="rect">
            <a:avLst/>
          </a:prstGeom>
          <a:noFill/>
          <a:ln/>
        </p:spPr>
        <p:txBody>
          <a:bodyPr wrap="square" lIns="0" tIns="0" rIns="0" bIns="0" rtlCol="0" anchor="t"/>
          <a:lstStyle/>
          <a:p>
            <a:pPr algn="l" indent="0" marL="0">
              <a:lnSpc>
                <a:spcPts val="2128"/>
              </a:lnSpc>
              <a:buNone/>
            </a:pPr>
            <a:r>
              <a:rPr lang="en-US" sz="1400" dirty="0">
                <a:solidFill>
                  <a:srgbClr val="C8CBDA"/>
                </a:solidFill>
                <a:latin typeface="Cambria" pitchFamily="34" charset="0"/>
                <a:ea typeface="Cambria" pitchFamily="34" charset="-122"/>
                <a:cs typeface="Cambria" pitchFamily="34" charset="-120"/>
              </a:rPr>
              <a:t>A second opinion costs one model run. It can be re-run the day a new federal file lands, or the day the weather record updates. There is no visit to schedule and no hardware to wait for.</a:t>
            </a:r>
            <a:endParaRPr lang="en-US" sz="1400" dirty="0"/>
          </a:p>
        </p:txBody>
      </p:sp>
      <p:sp>
        <p:nvSpPr>
          <p:cNvPr id="7" name="Text 4"/>
          <p:cNvSpPr txBox="1"/>
          <p:nvPr/>
        </p:nvSpPr>
        <p:spPr>
          <a:xfrm>
            <a:off x="658368" y="3703320"/>
            <a:ext cx="2743200" cy="438912"/>
          </a:xfrm>
          <a:prstGeom prst="rect">
            <a:avLst/>
          </a:prstGeom>
          <a:noFill/>
          <a:ln/>
        </p:spPr>
        <p:txBody>
          <a:bodyPr wrap="square" lIns="0" tIns="0" rIns="0" bIns="0" rtlCol="0" anchor="ctr"/>
          <a:lstStyle/>
          <a:p>
            <a:pPr indent="0" marL="0">
              <a:buNone/>
            </a:pPr>
            <a:r>
              <a:rPr lang="en-US" sz="2400" b="1" dirty="0">
                <a:solidFill>
                  <a:srgbClr val="8A93B8"/>
                </a:solidFill>
                <a:latin typeface="Cambria" pitchFamily="34" charset="0"/>
                <a:ea typeface="Cambria" pitchFamily="34" charset="-122"/>
                <a:cs typeface="Cambria" pitchFamily="34" charset="-120"/>
              </a:rPr>
              <a:t>730 days</a:t>
            </a:r>
            <a:endParaRPr lang="en-US" sz="2400" dirty="0"/>
          </a:p>
        </p:txBody>
      </p:sp>
      <p:sp>
        <p:nvSpPr>
          <p:cNvPr id="8" name="Text 5"/>
          <p:cNvSpPr txBox="1"/>
          <p:nvPr/>
        </p:nvSpPr>
        <p:spPr>
          <a:xfrm>
            <a:off x="3584448" y="3813048"/>
            <a:ext cx="2834640" cy="457200"/>
          </a:xfrm>
          <a:prstGeom prst="rect">
            <a:avLst/>
          </a:prstGeom>
          <a:noFill/>
          <a:ln/>
        </p:spPr>
        <p:txBody>
          <a:bodyPr wrap="square" lIns="0" tIns="0" rIns="0" bIns="0" rtlCol="0" anchor="t"/>
          <a:lstStyle/>
          <a:p>
            <a:pPr indent="0" marL="0">
              <a:lnSpc>
                <a:spcPts val="1550"/>
              </a:lnSpc>
              <a:buNone/>
            </a:pPr>
            <a:r>
              <a:rPr lang="en-US" sz="1150" dirty="0">
                <a:solidFill>
                  <a:srgbClr val="C8CBDA"/>
                </a:solidFill>
                <a:latin typeface="Cambria" pitchFamily="34" charset="0"/>
                <a:ea typeface="Cambria" pitchFamily="34" charset="-122"/>
                <a:cs typeface="Cambria" pitchFamily="34" charset="-120"/>
              </a:rPr>
              <a:t>today, between routine inspections</a:t>
            </a:r>
            <a:endParaRPr lang="en-US" sz="1150" dirty="0"/>
          </a:p>
        </p:txBody>
      </p:sp>
      <p:sp>
        <p:nvSpPr>
          <p:cNvPr id="9" name="Text 6"/>
          <p:cNvSpPr txBox="1"/>
          <p:nvPr/>
        </p:nvSpPr>
        <p:spPr>
          <a:xfrm>
            <a:off x="658368" y="4617720"/>
            <a:ext cx="2743200" cy="438912"/>
          </a:xfrm>
          <a:prstGeom prst="rect">
            <a:avLst/>
          </a:prstGeom>
          <a:noFill/>
          <a:ln/>
        </p:spPr>
        <p:txBody>
          <a:bodyPr wrap="square" lIns="0" tIns="0" rIns="0" bIns="0" rtlCol="0" anchor="ctr"/>
          <a:lstStyle/>
          <a:p>
            <a:pPr indent="0" marL="0">
              <a:buNone/>
            </a:pPr>
            <a:r>
              <a:rPr lang="en-US" sz="2400" b="1" dirty="0">
                <a:solidFill>
                  <a:srgbClr val="E4607A"/>
                </a:solidFill>
                <a:latin typeface="Cambria" pitchFamily="34" charset="0"/>
                <a:ea typeface="Cambria" pitchFamily="34" charset="-122"/>
                <a:cs typeface="Cambria" pitchFamily="34" charset="-120"/>
              </a:rPr>
              <a:t>one model run</a:t>
            </a:r>
            <a:endParaRPr lang="en-US" sz="2400" dirty="0"/>
          </a:p>
        </p:txBody>
      </p:sp>
      <p:sp>
        <p:nvSpPr>
          <p:cNvPr id="10" name="Text 7"/>
          <p:cNvSpPr txBox="1"/>
          <p:nvPr/>
        </p:nvSpPr>
        <p:spPr>
          <a:xfrm>
            <a:off x="3584448" y="4727448"/>
            <a:ext cx="2834640" cy="457200"/>
          </a:xfrm>
          <a:prstGeom prst="rect">
            <a:avLst/>
          </a:prstGeom>
          <a:noFill/>
          <a:ln/>
        </p:spPr>
        <p:txBody>
          <a:bodyPr wrap="square" lIns="0" tIns="0" rIns="0" bIns="0" rtlCol="0" anchor="t"/>
          <a:lstStyle/>
          <a:p>
            <a:pPr indent="0" marL="0">
              <a:lnSpc>
                <a:spcPts val="1550"/>
              </a:lnSpc>
              <a:buNone/>
            </a:pPr>
            <a:r>
              <a:rPr lang="en-US" sz="1150" dirty="0">
                <a:solidFill>
                  <a:srgbClr val="C8CBDA"/>
                </a:solidFill>
                <a:latin typeface="Cambria" pitchFamily="34" charset="0"/>
                <a:ea typeface="Cambria" pitchFamily="34" charset="-122"/>
                <a:cs typeface="Cambria" pitchFamily="34" charset="-120"/>
              </a:rPr>
              <a:t>to re-audit an entire national inventory</a:t>
            </a:r>
            <a:endParaRPr lang="en-US" sz="1150" dirty="0"/>
          </a:p>
        </p:txBody>
      </p:sp>
      <p:sp>
        <p:nvSpPr>
          <p:cNvPr id="11" name="Shape 8"/>
          <p:cNvSpPr/>
          <p:nvPr/>
        </p:nvSpPr>
        <p:spPr>
          <a:xfrm>
            <a:off x="658368" y="5577840"/>
            <a:ext cx="5669280" cy="0"/>
          </a:xfrm>
          <a:prstGeom prst="line">
            <a:avLst/>
          </a:prstGeom>
          <a:noFill/>
          <a:ln w="9525">
            <a:solidFill>
              <a:srgbClr val="2A3560"/>
            </a:solidFill>
            <a:prstDash val="solid"/>
          </a:ln>
        </p:spPr>
      </p:sp>
      <p:sp>
        <p:nvSpPr>
          <p:cNvPr id="12" name="Text 9"/>
          <p:cNvSpPr txBox="1"/>
          <p:nvPr/>
        </p:nvSpPr>
        <p:spPr>
          <a:xfrm>
            <a:off x="658368" y="5724144"/>
            <a:ext cx="5669280" cy="640080"/>
          </a:xfrm>
          <a:prstGeom prst="rect">
            <a:avLst/>
          </a:prstGeom>
          <a:noFill/>
          <a:ln/>
        </p:spPr>
        <p:txBody>
          <a:bodyPr wrap="square" lIns="0" tIns="0" rIns="0" bIns="0" rtlCol="0" anchor="t"/>
          <a:lstStyle/>
          <a:p>
            <a:pPr indent="0" marL="0">
              <a:lnSpc>
                <a:spcPts val="1650"/>
              </a:lnSpc>
              <a:buNone/>
            </a:pPr>
            <a:r>
              <a:rPr lang="en-US" sz="1200" i="1" dirty="0">
                <a:solidFill>
                  <a:srgbClr val="FAF8F4"/>
                </a:solidFill>
                <a:latin typeface="Cambria" pitchFamily="34" charset="0"/>
                <a:ea typeface="Cambria" pitchFamily="34" charset="-122"/>
                <a:cs typeface="Cambria" pitchFamily="34" charset="-120"/>
              </a:rPr>
              <a:t>A county with five bridges and one engineer gets exactly what a national railway gets, because there is nothing to install and nothing to buy.</a:t>
            </a:r>
            <a:endParaRPr lang="en-US" sz="12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38"/>
        </a:solidFill>
      </p:bgPr>
    </p:bg>
    <p:spTree>
      <p:nvGrpSpPr>
        <p:cNvPr id="1" name=""/>
        <p:cNvGrpSpPr/>
        <p:nvPr/>
      </p:nvGrpSpPr>
      <p:grpSpPr>
        <a:xfrm>
          <a:off x="0" y="0"/>
          <a:ext cx="0" cy="0"/>
          <a:chOff x="0" y="0"/>
          <a:chExt cx="0" cy="0"/>
        </a:xfrm>
      </p:grpSpPr>
      <p:pic>
        <p:nvPicPr>
          <p:cNvPr id="2" name="Image 0" descr="/Users/arockia/Downloads/dissent/pitch/bg/bg01_truss.jp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658368" y="566928"/>
            <a:ext cx="5486400" cy="237744"/>
          </a:xfrm>
          <a:prstGeom prst="rect">
            <a:avLst/>
          </a:prstGeom>
          <a:noFill/>
          <a:ln/>
        </p:spPr>
        <p:txBody>
          <a:bodyPr wrap="square" lIns="0" tIns="0" rIns="0" bIns="0" rtlCol="0" anchor="t"/>
          <a:lstStyle/>
          <a:p>
            <a:pPr algn="l" indent="0" marL="0">
              <a:buNone/>
            </a:pPr>
            <a:r>
              <a:rPr lang="en-US" sz="950" b="1" spc="160" kern="0" dirty="0">
                <a:solidFill>
                  <a:srgbClr val="7E88B4"/>
                </a:solidFill>
                <a:latin typeface="Courier New" pitchFamily="34" charset="0"/>
                <a:ea typeface="Courier New" pitchFamily="34" charset="-122"/>
                <a:cs typeface="Courier New" pitchFamily="34" charset="-120"/>
              </a:rPr>
              <a:t>IN CLOSING</a:t>
            </a:r>
            <a:endParaRPr lang="en-US" sz="950" dirty="0"/>
          </a:p>
        </p:txBody>
      </p:sp>
      <p:sp>
        <p:nvSpPr>
          <p:cNvPr id="4" name="Text 1"/>
          <p:cNvSpPr txBox="1"/>
          <p:nvPr/>
        </p:nvSpPr>
        <p:spPr>
          <a:xfrm>
            <a:off x="658368" y="932688"/>
            <a:ext cx="8686800" cy="868680"/>
          </a:xfrm>
          <a:prstGeom prst="rect">
            <a:avLst/>
          </a:prstGeom>
          <a:noFill/>
          <a:ln/>
        </p:spPr>
        <p:txBody>
          <a:bodyPr wrap="square" lIns="0" tIns="0" rIns="0" bIns="0" rtlCol="0" anchor="t"/>
          <a:lstStyle/>
          <a:p>
            <a:pPr indent="0" marL="0">
              <a:lnSpc>
                <a:spcPts val="4148"/>
              </a:lnSpc>
              <a:buNone/>
            </a:pPr>
            <a:r>
              <a:rPr lang="en-US" sz="3400" b="1" dirty="0">
                <a:solidFill>
                  <a:srgbClr val="FAF8F4"/>
                </a:solidFill>
                <a:latin typeface="Cambria" pitchFamily="34" charset="0"/>
                <a:ea typeface="Cambria" pitchFamily="34" charset="-122"/>
                <a:cs typeface="Cambria" pitchFamily="34" charset="-120"/>
              </a:rPr>
              <a:t>We did not simulate a single bridge.</a:t>
            </a:r>
            <a:endParaRPr lang="en-US" sz="3400" dirty="0"/>
          </a:p>
        </p:txBody>
      </p:sp>
      <p:sp>
        <p:nvSpPr>
          <p:cNvPr id="5" name="Text 2"/>
          <p:cNvSpPr txBox="1"/>
          <p:nvPr/>
        </p:nvSpPr>
        <p:spPr>
          <a:xfrm>
            <a:off x="658368" y="1975104"/>
            <a:ext cx="6309360" cy="1280160"/>
          </a:xfrm>
          <a:prstGeom prst="rect">
            <a:avLst/>
          </a:prstGeom>
          <a:noFill/>
          <a:ln/>
        </p:spPr>
        <p:txBody>
          <a:bodyPr wrap="square" lIns="0" tIns="0" rIns="0" bIns="0" rtlCol="0" anchor="t"/>
          <a:lstStyle/>
          <a:p>
            <a:pPr algn="l" indent="0" marL="0">
              <a:lnSpc>
                <a:spcPts val="2204"/>
              </a:lnSpc>
              <a:buNone/>
            </a:pPr>
            <a:r>
              <a:rPr lang="en-US" sz="1450" dirty="0">
                <a:solidFill>
                  <a:srgbClr val="C8CBDA"/>
                </a:solidFill>
                <a:latin typeface="Cambria" pitchFamily="34" charset="0"/>
                <a:ea typeface="Cambria" pitchFamily="34" charset="-122"/>
                <a:cs typeface="Cambria" pitchFamily="34" charset="-120"/>
              </a:rPr>
              <a:t>Every figure in this deck comes out of a file the United States government publishes for free, and both halves of the system are deployed and running tonight. If you want to check any number in it, the download script is in our repository.</a:t>
            </a:r>
            <a:endParaRPr lang="en-US" sz="1450" dirty="0"/>
          </a:p>
        </p:txBody>
      </p:sp>
      <p:sp>
        <p:nvSpPr>
          <p:cNvPr id="6" name="Shape 3"/>
          <p:cNvSpPr/>
          <p:nvPr/>
        </p:nvSpPr>
        <p:spPr>
          <a:xfrm>
            <a:off x="658368" y="3520440"/>
            <a:ext cx="2834640" cy="0"/>
          </a:xfrm>
          <a:prstGeom prst="line">
            <a:avLst/>
          </a:prstGeom>
          <a:noFill/>
          <a:ln w="28575">
            <a:solidFill>
              <a:srgbClr val="C6283C"/>
            </a:solidFill>
            <a:prstDash val="solid"/>
          </a:ln>
        </p:spPr>
      </p:sp>
      <p:sp>
        <p:nvSpPr>
          <p:cNvPr id="7" name="Text 4"/>
          <p:cNvSpPr txBox="1"/>
          <p:nvPr/>
        </p:nvSpPr>
        <p:spPr>
          <a:xfrm>
            <a:off x="658368" y="3822192"/>
            <a:ext cx="1737360" cy="256032"/>
          </a:xfrm>
          <a:prstGeom prst="rect">
            <a:avLst/>
          </a:prstGeom>
          <a:noFill/>
          <a:ln/>
        </p:spPr>
        <p:txBody>
          <a:bodyPr wrap="square" lIns="0" tIns="0" rIns="0" bIns="0" rtlCol="0" anchor="ctr"/>
          <a:lstStyle/>
          <a:p>
            <a:pPr indent="0" marL="0">
              <a:buNone/>
            </a:pPr>
            <a:r>
              <a:rPr lang="en-US" sz="860" b="1" spc="110" kern="0" dirty="0">
                <a:solidFill>
                  <a:srgbClr val="8A93B8"/>
                </a:solidFill>
                <a:latin typeface="Courier New" pitchFamily="34" charset="0"/>
                <a:ea typeface="Courier New" pitchFamily="34" charset="-122"/>
                <a:cs typeface="Courier New" pitchFamily="34" charset="-120"/>
              </a:rPr>
              <a:t>THE CONSOLE</a:t>
            </a:r>
            <a:endParaRPr lang="en-US" sz="860" dirty="0"/>
          </a:p>
        </p:txBody>
      </p:sp>
      <p:sp>
        <p:nvSpPr>
          <p:cNvPr id="8" name="Text 5"/>
          <p:cNvSpPr txBox="1"/>
          <p:nvPr/>
        </p:nvSpPr>
        <p:spPr>
          <a:xfrm>
            <a:off x="2532888" y="3794760"/>
            <a:ext cx="5486400" cy="310896"/>
          </a:xfrm>
          <a:prstGeom prst="rect">
            <a:avLst/>
          </a:prstGeom>
          <a:noFill/>
          <a:ln/>
        </p:spPr>
        <p:txBody>
          <a:bodyPr wrap="square" lIns="0" tIns="0" rIns="0" bIns="0" rtlCol="0" anchor="ctr"/>
          <a:lstStyle/>
          <a:p>
            <a:pPr indent="0" marL="0">
              <a:buNone/>
            </a:pPr>
            <a:r>
              <a:rPr lang="en-US" sz="1200" b="1" spc="50" kern="0" dirty="0">
                <a:solidFill>
                  <a:srgbClr val="E4607A"/>
                </a:solidFill>
                <a:latin typeface="Courier New" pitchFamily="34" charset="0"/>
                <a:ea typeface="Courier New" pitchFamily="34" charset="-122"/>
                <a:cs typeface="Courier New" pitchFamily="34" charset="-120"/>
              </a:rPr>
              <a:t>dissent-nexus.netlify.app</a:t>
            </a:r>
            <a:endParaRPr lang="en-US" sz="1200" dirty="0"/>
          </a:p>
        </p:txBody>
      </p:sp>
      <p:sp>
        <p:nvSpPr>
          <p:cNvPr id="9" name="Text 6"/>
          <p:cNvSpPr txBox="1"/>
          <p:nvPr/>
        </p:nvSpPr>
        <p:spPr>
          <a:xfrm>
            <a:off x="658368" y="4425696"/>
            <a:ext cx="1737360" cy="256032"/>
          </a:xfrm>
          <a:prstGeom prst="rect">
            <a:avLst/>
          </a:prstGeom>
          <a:noFill/>
          <a:ln/>
        </p:spPr>
        <p:txBody>
          <a:bodyPr wrap="square" lIns="0" tIns="0" rIns="0" bIns="0" rtlCol="0" anchor="ctr"/>
          <a:lstStyle/>
          <a:p>
            <a:pPr indent="0" marL="0">
              <a:buNone/>
            </a:pPr>
            <a:r>
              <a:rPr lang="en-US" sz="860" b="1" spc="110" kern="0" dirty="0">
                <a:solidFill>
                  <a:srgbClr val="8A93B8"/>
                </a:solidFill>
                <a:latin typeface="Courier New" pitchFamily="34" charset="0"/>
                <a:ea typeface="Courier New" pitchFamily="34" charset="-122"/>
                <a:cs typeface="Courier New" pitchFamily="34" charset="-120"/>
              </a:rPr>
              <a:t>THE API</a:t>
            </a:r>
            <a:endParaRPr lang="en-US" sz="860" dirty="0"/>
          </a:p>
        </p:txBody>
      </p:sp>
      <p:sp>
        <p:nvSpPr>
          <p:cNvPr id="10" name="Text 7"/>
          <p:cNvSpPr txBox="1"/>
          <p:nvPr/>
        </p:nvSpPr>
        <p:spPr>
          <a:xfrm>
            <a:off x="2532888" y="4398264"/>
            <a:ext cx="5486400" cy="310896"/>
          </a:xfrm>
          <a:prstGeom prst="rect">
            <a:avLst/>
          </a:prstGeom>
          <a:noFill/>
          <a:ln/>
        </p:spPr>
        <p:txBody>
          <a:bodyPr wrap="square" lIns="0" tIns="0" rIns="0" bIns="0" rtlCol="0" anchor="ctr"/>
          <a:lstStyle/>
          <a:p>
            <a:pPr indent="0" marL="0">
              <a:buNone/>
            </a:pPr>
            <a:r>
              <a:rPr lang="en-US" sz="1200" b="1" spc="50" kern="0" dirty="0">
                <a:solidFill>
                  <a:srgbClr val="FAF8F4"/>
                </a:solidFill>
                <a:latin typeface="Courier New" pitchFamily="34" charset="0"/>
                <a:ea typeface="Courier New" pitchFamily="34" charset="-122"/>
                <a:cs typeface="Courier New" pitchFamily="34" charset="-120"/>
              </a:rPr>
              <a:t>dissent-api-jgod.onrender.com/docs</a:t>
            </a:r>
            <a:endParaRPr lang="en-US" sz="1200" dirty="0"/>
          </a:p>
        </p:txBody>
      </p:sp>
      <p:sp>
        <p:nvSpPr>
          <p:cNvPr id="11" name="Text 8"/>
          <p:cNvSpPr txBox="1"/>
          <p:nvPr/>
        </p:nvSpPr>
        <p:spPr>
          <a:xfrm>
            <a:off x="658368" y="5029200"/>
            <a:ext cx="1737360" cy="256032"/>
          </a:xfrm>
          <a:prstGeom prst="rect">
            <a:avLst/>
          </a:prstGeom>
          <a:noFill/>
          <a:ln/>
        </p:spPr>
        <p:txBody>
          <a:bodyPr wrap="square" lIns="0" tIns="0" rIns="0" bIns="0" rtlCol="0" anchor="ctr"/>
          <a:lstStyle/>
          <a:p>
            <a:pPr indent="0" marL="0">
              <a:buNone/>
            </a:pPr>
            <a:r>
              <a:rPr lang="en-US" sz="860" b="1" spc="110" kern="0" dirty="0">
                <a:solidFill>
                  <a:srgbClr val="8A93B8"/>
                </a:solidFill>
                <a:latin typeface="Courier New" pitchFamily="34" charset="0"/>
                <a:ea typeface="Courier New" pitchFamily="34" charset="-122"/>
                <a:cs typeface="Courier New" pitchFamily="34" charset="-120"/>
              </a:rPr>
              <a:t>THE SOURCE</a:t>
            </a:r>
            <a:endParaRPr lang="en-US" sz="860" dirty="0"/>
          </a:p>
        </p:txBody>
      </p:sp>
      <p:sp>
        <p:nvSpPr>
          <p:cNvPr id="12" name="Text 9"/>
          <p:cNvSpPr txBox="1"/>
          <p:nvPr/>
        </p:nvSpPr>
        <p:spPr>
          <a:xfrm>
            <a:off x="2532888" y="5001768"/>
            <a:ext cx="5486400" cy="310896"/>
          </a:xfrm>
          <a:prstGeom prst="rect">
            <a:avLst/>
          </a:prstGeom>
          <a:noFill/>
          <a:ln/>
        </p:spPr>
        <p:txBody>
          <a:bodyPr wrap="square" lIns="0" tIns="0" rIns="0" bIns="0" rtlCol="0" anchor="ctr"/>
          <a:lstStyle/>
          <a:p>
            <a:pPr indent="0" marL="0">
              <a:buNone/>
            </a:pPr>
            <a:r>
              <a:rPr lang="en-US" sz="1200" b="1" spc="50" kern="0" dirty="0">
                <a:solidFill>
                  <a:srgbClr val="FAF8F4"/>
                </a:solidFill>
                <a:latin typeface="Courier New" pitchFamily="34" charset="0"/>
                <a:ea typeface="Courier New" pitchFamily="34" charset="-122"/>
                <a:cs typeface="Courier New" pitchFamily="34" charset="-120"/>
              </a:rPr>
              <a:t>github.com/ArockiaRajamanickam/dissent</a:t>
            </a:r>
            <a:endParaRPr lang="en-US" sz="1200" dirty="0"/>
          </a:p>
        </p:txBody>
      </p:sp>
      <p:sp>
        <p:nvSpPr>
          <p:cNvPr id="13" name="Shape 10"/>
          <p:cNvSpPr/>
          <p:nvPr/>
        </p:nvSpPr>
        <p:spPr>
          <a:xfrm>
            <a:off x="658368" y="5687568"/>
            <a:ext cx="10874959" cy="0"/>
          </a:xfrm>
          <a:prstGeom prst="line">
            <a:avLst/>
          </a:prstGeom>
          <a:noFill/>
          <a:ln w="9525">
            <a:solidFill>
              <a:srgbClr val="3A4570"/>
            </a:solidFill>
            <a:prstDash val="solid"/>
          </a:ln>
        </p:spPr>
      </p:sp>
      <p:sp>
        <p:nvSpPr>
          <p:cNvPr id="14" name="Text 11"/>
          <p:cNvSpPr txBox="1"/>
          <p:nvPr/>
        </p:nvSpPr>
        <p:spPr>
          <a:xfrm>
            <a:off x="658368" y="5852160"/>
            <a:ext cx="5486400" cy="274320"/>
          </a:xfrm>
          <a:prstGeom prst="rect">
            <a:avLst/>
          </a:prstGeom>
          <a:noFill/>
          <a:ln/>
        </p:spPr>
        <p:txBody>
          <a:bodyPr wrap="square" lIns="0" tIns="0" rIns="0" bIns="0" rtlCol="0" anchor="ctr"/>
          <a:lstStyle/>
          <a:p>
            <a:pPr indent="0" marL="0">
              <a:buNone/>
            </a:pPr>
            <a:r>
              <a:rPr lang="en-US" sz="1200" b="1" spc="160" kern="0" dirty="0">
                <a:solidFill>
                  <a:srgbClr val="FAF8F4"/>
                </a:solidFill>
                <a:latin typeface="Courier New" pitchFamily="34" charset="0"/>
                <a:ea typeface="Courier New" pitchFamily="34" charset="-122"/>
                <a:cs typeface="Courier New" pitchFamily="34" charset="-120"/>
              </a:rPr>
              <a:t>TEAM NEXUS NETWORK</a:t>
            </a:r>
            <a:endParaRPr lang="en-US" sz="1200" dirty="0"/>
          </a:p>
        </p:txBody>
      </p:sp>
      <p:sp>
        <p:nvSpPr>
          <p:cNvPr id="15" name="Text 12"/>
          <p:cNvSpPr txBox="1"/>
          <p:nvPr/>
        </p:nvSpPr>
        <p:spPr>
          <a:xfrm>
            <a:off x="658368" y="6199632"/>
            <a:ext cx="5486400" cy="237744"/>
          </a:xfrm>
          <a:prstGeom prst="rect">
            <a:avLst/>
          </a:prstGeom>
          <a:noFill/>
          <a:ln/>
        </p:spPr>
        <p:txBody>
          <a:bodyPr wrap="square" lIns="0" tIns="0" rIns="0" bIns="0" rtlCol="0" anchor="t"/>
          <a:lstStyle/>
          <a:p>
            <a:pPr algn="l" indent="0" marL="0">
              <a:buNone/>
            </a:pPr>
            <a:r>
              <a:rPr lang="en-US" sz="950" b="1" spc="160" kern="0" dirty="0">
                <a:solidFill>
                  <a:srgbClr val="6E78A4"/>
                </a:solidFill>
                <a:latin typeface="Courier New" pitchFamily="34" charset="0"/>
                <a:ea typeface="Courier New" pitchFamily="34" charset="-122"/>
                <a:cs typeface="Courier New" pitchFamily="34" charset="-120"/>
              </a:rPr>
              <a:t>DEPT. OF CSE (CYBER SECURITY)</a:t>
            </a:r>
            <a:endParaRPr lang="en-US" sz="950" dirty="0"/>
          </a:p>
        </p:txBody>
      </p:sp>
      <p:sp>
        <p:nvSpPr>
          <p:cNvPr id="16" name="Text 13"/>
          <p:cNvSpPr txBox="1"/>
          <p:nvPr/>
        </p:nvSpPr>
        <p:spPr>
          <a:xfrm>
            <a:off x="6412687" y="5779008"/>
            <a:ext cx="5120640" cy="731520"/>
          </a:xfrm>
          <a:prstGeom prst="rect">
            <a:avLst/>
          </a:prstGeom>
          <a:noFill/>
          <a:ln/>
        </p:spPr>
        <p:txBody>
          <a:bodyPr wrap="square" lIns="0" tIns="0" rIns="0" bIns="0" rtlCol="0" anchor="ctr"/>
          <a:lstStyle/>
          <a:p>
            <a:pPr algn="r" indent="0" marL="0">
              <a:lnSpc>
                <a:spcPts val="2100"/>
              </a:lnSpc>
              <a:buNone/>
            </a:pPr>
            <a:r>
              <a:rPr lang="en-US" sz="1500" i="1" dirty="0">
                <a:solidFill>
                  <a:srgbClr val="9AA3C6"/>
                </a:solidFill>
                <a:latin typeface="Cambria" pitchFamily="34" charset="0"/>
                <a:ea typeface="Cambria" pitchFamily="34" charset="-122"/>
                <a:cs typeface="Cambria" pitchFamily="34" charset="-120"/>
              </a:rPr>
              <a:t>Infrastructure does not fail silently.</a:t>
            </a:r>
            <a:endParaRPr lang="en-US" sz="1500" dirty="0"/>
          </a:p>
          <a:p>
            <a:pPr algn="r" indent="0" marL="0">
              <a:lnSpc>
                <a:spcPts val="2100"/>
              </a:lnSpc>
              <a:buNone/>
            </a:pPr>
            <a:r>
              <a:rPr lang="en-US" sz="1500" i="1" dirty="0">
                <a:solidFill>
                  <a:srgbClr val="9AA3C6"/>
                </a:solidFill>
                <a:latin typeface="Cambria" pitchFamily="34" charset="0"/>
                <a:ea typeface="Cambria" pitchFamily="34" charset="-122"/>
                <a:cs typeface="Cambria" pitchFamily="34" charset="-120"/>
              </a:rPr>
              <a:t>It fails contradicted.</a:t>
            </a:r>
            <a:endParaRPr lang="en-US" sz="1500" dirty="0"/>
          </a:p>
        </p:txBody>
      </p:sp>
      <p:sp>
        <p:nvSpPr>
          <p:cNvPr id="25" name="Slide Number Placeholder 0"/>
          <p:cNvSpPr>
            <a:spLocks noGrp="1"/>
          </p:cNvSpPr>
          <p:nvPr>
            <p:ph type="sldNum" sz="quarter" idx="4294967295"/>
          </p:nvPr>
        </p:nvSpPr>
        <p:spPr>
          <a:xfrm>
            <a:off x="11688775" y="6528816"/>
            <a:ext cx="800000" cy="300000"/>
          </a:xfrm>
          <a:prstGeom prst="rect">
            <a:avLst/>
          </a:prstGeom>
          <a:extLst>
            <a:ext uri="{C572A759-6A51-4108-AA02-DFA0A04FC94B}">
              <ma14:wrappingTextBoxFlag xmlns:ma14="http://schemas.microsoft.com/office/mac/drawingml/2011/main" val="0"/>
            </a:ext>
          </a:extLst>
        </p:spPr>
        <p:txBody>
          <a:bodyPr/>
          <a:lstStyle>
            <a:lvl1pPr>
              <a:defRPr sz="850">
                <a:solidFill>
                  <a:srgbClr val="4A5480"/>
                </a:solidFill>
                <a:latin typeface="Courier New"/>
                <a:ea typeface="Courier New"/>
                <a:cs typeface="Courier New"/>
              </a:defRPr>
            </a:lvl1pPr>
          </a:lstStyle>
          <a:p>
            <a:pPr algn="l"/>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Dept. of CSE (Cyber Security)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DISSENT — the machine second opinion on America’s bridges</dc:title>
  <dc:subject>PptxGenJS Presentation</dc:subject>
  <dc:creator>Team Nexus Network</dc:creator>
  <cp:lastModifiedBy>Team Nexus Network</cp:lastModifiedBy>
  <cp:revision>1</cp:revision>
  <dcterms:created xsi:type="dcterms:W3CDTF">2026-08-26T18:17:29Z</dcterms:created>
  <dcterms:modified xsi:type="dcterms:W3CDTF">2026-08-26T18:17:29Z</dcterms:modified>
</cp:coreProperties>
</file>