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Official record</c:v>
                </c:pt>
              </c:strCache>
            </c:strRef>
          </c:tx>
          <c:spPr>
            <a:solidFill>
              <a:srgbClr val="20263E"/>
            </a:solidFill>
            <a:ln w="38100" cap="flat">
              <a:solidFill>
                <a:srgbClr val="2026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0263E"/>
              </a:solidFill>
              <a:ln w="9525" cap="flat">
                <a:solidFill>
                  <a:srgbClr val="2026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2005</c:v>
                  </c:pt>
                  <c:pt idx="1">
                    <c:v>2006</c:v>
                  </c:pt>
                  <c:pt idx="2">
                    <c:v>2007</c:v>
                  </c:pt>
                  <c:pt idx="3">
                    <c:v>2008</c:v>
                  </c:pt>
                  <c:pt idx="4">
                    <c:v>2009</c:v>
                  </c:pt>
                  <c:pt idx="5">
                    <c:v>2010</c:v>
                  </c:pt>
                  <c:pt idx="6">
                    <c:v>2011</c:v>
                  </c:pt>
                  <c:pt idx="7">
                    <c:v>2012</c:v>
                  </c:pt>
                  <c:pt idx="8">
                    <c:v>2013</c:v>
                  </c:pt>
                  <c:pt idx="9">
                    <c:v>2014</c:v>
                  </c:pt>
                  <c:pt idx="10">
                    <c:v>2015</c:v>
                  </c:pt>
                  <c:pt idx="11">
                    <c:v>2016</c:v>
                  </c:pt>
                  <c:pt idx="12">
                    <c:v>2017</c:v>
                  </c:pt>
                  <c:pt idx="13">
                    <c:v>2018</c:v>
                  </c:pt>
                  <c:pt idx="14">
                    <c:v>2019</c:v>
                  </c:pt>
                  <c:pt idx="15">
                    <c:v>2020</c:v>
                  </c:pt>
                  <c:pt idx="16">
                    <c:v>2021</c:v>
                  </c:pt>
                  <c:pt idx="17">
                    <c:v>2022</c:v>
                  </c:pt>
                  <c:pt idx="18">
                    <c:v>2023</c:v>
                  </c:pt>
                  <c:pt idx="19">
                    <c:v>2025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8</c:v>
                </c:pt>
                <c:pt idx="16">
                  <c:v>8</c:v>
                </c:pt>
                <c:pt idx="17">
                  <c:v>8</c:v>
                </c:pt>
                <c:pt idx="18">
                  <c:v>8</c:v>
                </c:pt>
                <c:pt idx="19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Physics witness</c:v>
                </c:pt>
              </c:strCache>
            </c:strRef>
          </c:tx>
          <c:spPr>
            <a:solidFill>
              <a:srgbClr val="3A5CA8"/>
            </a:solidFill>
            <a:ln w="38100" cap="flat">
              <a:solidFill>
                <a:srgbClr val="3A5C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5CA8"/>
              </a:solidFill>
              <a:ln w="9525" cap="flat">
                <a:solidFill>
                  <a:srgbClr val="3A5C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2005</c:v>
                  </c:pt>
                  <c:pt idx="1">
                    <c:v>2006</c:v>
                  </c:pt>
                  <c:pt idx="2">
                    <c:v>2007</c:v>
                  </c:pt>
                  <c:pt idx="3">
                    <c:v>2008</c:v>
                  </c:pt>
                  <c:pt idx="4">
                    <c:v>2009</c:v>
                  </c:pt>
                  <c:pt idx="5">
                    <c:v>2010</c:v>
                  </c:pt>
                  <c:pt idx="6">
                    <c:v>2011</c:v>
                  </c:pt>
                  <c:pt idx="7">
                    <c:v>2012</c:v>
                  </c:pt>
                  <c:pt idx="8">
                    <c:v>2013</c:v>
                  </c:pt>
                  <c:pt idx="9">
                    <c:v>2014</c:v>
                  </c:pt>
                  <c:pt idx="10">
                    <c:v>2015</c:v>
                  </c:pt>
                  <c:pt idx="11">
                    <c:v>2016</c:v>
                  </c:pt>
                  <c:pt idx="12">
                    <c:v>2017</c:v>
                  </c:pt>
                  <c:pt idx="13">
                    <c:v>2018</c:v>
                  </c:pt>
                  <c:pt idx="14">
                    <c:v>2019</c:v>
                  </c:pt>
                  <c:pt idx="15">
                    <c:v>2020</c:v>
                  </c:pt>
                  <c:pt idx="16">
                    <c:v>2021</c:v>
                  </c:pt>
                  <c:pt idx="17">
                    <c:v>2022</c:v>
                  </c:pt>
                  <c:pt idx="18">
                    <c:v>2023</c:v>
                  </c:pt>
                  <c:pt idx="19">
                    <c:v>2025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5.34</c:v>
                </c:pt>
                <c:pt idx="1">
                  <c:v>5.33</c:v>
                </c:pt>
                <c:pt idx="2">
                  <c:v>5.53</c:v>
                </c:pt>
                <c:pt idx="3">
                  <c:v>5.41</c:v>
                </c:pt>
                <c:pt idx="4">
                  <c:v>5.5</c:v>
                </c:pt>
                <c:pt idx="5">
                  <c:v>5.69</c:v>
                </c:pt>
                <c:pt idx="6">
                  <c:v>5.82</c:v>
                </c:pt>
                <c:pt idx="7">
                  <c:v>5.99</c:v>
                </c:pt>
                <c:pt idx="8">
                  <c:v>6.04</c:v>
                </c:pt>
                <c:pt idx="9">
                  <c:v>6.03</c:v>
                </c:pt>
                <c:pt idx="10">
                  <c:v>6.03</c:v>
                </c:pt>
                <c:pt idx="11">
                  <c:v>5.95</c:v>
                </c:pt>
                <c:pt idx="12">
                  <c:v>5.95</c:v>
                </c:pt>
                <c:pt idx="13">
                  <c:v>5.48</c:v>
                </c:pt>
                <c:pt idx="14">
                  <c:v>5.98</c:v>
                </c:pt>
                <c:pt idx="15">
                  <c:v>5.97</c:v>
                </c:pt>
                <c:pt idx="16">
                  <c:v>6.16</c:v>
                </c:pt>
                <c:pt idx="17">
                  <c:v>6.21</c:v>
                </c:pt>
                <c:pt idx="18">
                  <c:v>5.83</c:v>
                </c:pt>
                <c:pt idx="19">
                  <c:v>6.11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A7088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12700" cap="flat">
              <a:solidFill>
                <a:srgbClr val="E4E0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A7088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solidFill>
          <a:srgbClr val="FFFFFF"/>
        </a:solidFill>
        <a:ln w="9525" cap="flat">
          <a:solidFill>
            <a:srgbClr val="D9D5C9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A7088"/>
              </a:solidFill>
              <a:latin typeface="Courier New"/>
              <a:cs typeface="Courier New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cold: "Every dot on this map is a real bridge in the federal record. 41,000 of them are rated poor. Tonight I am going to show you the ones whose paperwork is lying."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gap. Inspections are slow, the record is coarse, and hardware does not scale. Nobody owns the disagreement between the file and the physical asset.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six. Pick Morandi and Surfside: satellite evidence existed in both, published, before the collapse. The pattern is the product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sentence to land. Two witnesses, one never sees the other. The product is the disagreement, not another risk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fast here. The point of step 3 is the time-split: frozen at 2015, judged on years it never saw. Step 6 is what makes it operational rather than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flat black line: that is the official record, unchanged for years. The blue line is physics. The gap is the product. This case is one of 38 the frozen model caught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a technical judge will interrogate. Emphasise: frozen model, pure holdout, budgeted alerts. The coverage number is deliberately reported below target because we refuse to retune on test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tell. This is the live map in the app: the whole national inventory rendered client-side from a 9.9 MB binary. Red is poor condition. It traces the road network because that is where bridges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differentiator in one line: everyone else measures the asset. We audit the paperwork against the asset. That is a different product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trust teams that volunteer limits. Say plainly: we abstain, we report our shortfall, and we cite the paper that disagrees with our own showcase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to home. India has the record and is refreshing it right now. Morbi is the Indian Surfside: the renovation paperwork was never audited against the physical cables.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line, then stop talking: "Every number you have seen tonight is downloadable from the federal government. We did not simulate a single bridge." Then open the live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B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B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rockia/Downloads/dissent/pitch/national_map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F17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0F173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INNOVATION CHALLENGE 2026   |   ROUND 3: AI EVOLUTION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DISSENT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58704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second opinion on America’s bridges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63276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RATED BRIDGE IN THE UNITED STATES  ·  621,137 STRUCTURES  ·  41,319 RATED POOR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394192" y="5989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NEXUS NETWORK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394192" y="6327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DEPT. OF CSE (CYBER SECURITY)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B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32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bridge does not fail</a:t>
            </a:r>
            <a:endParaRPr lang="en-US" sz="4000" dirty="0"/>
          </a:p>
          <a:p>
            <a:pPr indent="0" marL="0">
              <a:lnSpc>
                <a:spcPts val="432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day it becomes unsafe.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697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C8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fails the day the paperwork and the physical bridge stop agreeing — and nobody is looking at both.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C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months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3758184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8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routine inspections, so a defect born the day after one waits a year on average to be seen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636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C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0–9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4690872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8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coarse, inspector-subjective condition scale is the entire official record of a structure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55686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C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20%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56235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8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world’s long-span bridges carry any monitoring hardware at all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FORENSIC RECORD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every collapse, the warning already existed.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3"/>
              </a:lnSpc>
              <a:buNone/>
            </a:pPr>
            <a:r>
              <a:rPr lang="en-US" sz="145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documented failures across three continents. In each one the evidence was on file, in time to act, and belonged to nobody.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3456432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865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Morandi Bridge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15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GENOA, ITALY  ·  14 AUG 2018  ·  43 DEAD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satellite radar scatterer on the deck beside the failed pier accelerated from about 10 to 70 mm/yr starting March 2017, seventeen months before collapse (Milillo e…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79392" y="2240280"/>
            <a:ext cx="3456432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2272" y="23865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I-35W Mississippi River Bridge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62272" y="2715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MINNEAPOLIS, USA  ·  1 AUG 2007  ·  13 DEAD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2971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photographs from 1999 and 2003 already showed visibly bowed gusset plates (NTSB HAR-08/03).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64424" y="2240280"/>
            <a:ext cx="3456432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47304" y="23865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FIU pedestrian bridge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147304" y="2715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MIAMI, USA  ·  15 MAR 2018  ·  6 DEAD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147304" y="2971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growing structural cracks, photographed and discussed by the engineer of record in the days before failure.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4297680"/>
            <a:ext cx="3456432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4439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Champlain Towers South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7731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SURFSIDE, USA  ·  24 JUN 2021  ·  98 DEAD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029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satellite study published in 2020 had identified the site subsiding by about 2 mm/yr in the 1990s (Fiaschi and Wdowinski); a 2018 engineering report documented maj…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79392" y="4297680"/>
            <a:ext cx="3456432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62272" y="44439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Morbi suspension footbridge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62272" y="47731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GUJARAT, INDIA  ·  30 OCT 2022  ·  135 DEAD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462272" y="5029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Reopened four days after a renovation that never replaced or load-tested the original main cables; the inquiry later found 22 of the 49 wires in the failed cable alr…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64424" y="4297680"/>
            <a:ext cx="3456432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47304" y="44439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Carola Bridge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147304" y="47731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DRESDEN, GERMANY  ·  11 SEP 2024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8147304" y="5029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hydrogen-induced corrosion of the prestressing steel, progressing for decades inside the one deck not yet refurbished (Marx report, TU Dresden).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88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does not fail silently.</a:t>
            </a:r>
            <a:endParaRPr lang="en-US" sz="3600" dirty="0"/>
          </a:p>
          <a:p>
            <a:pPr indent="0" marL="0">
              <a:lnSpc>
                <a:spcPts val="3888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fails contradicted.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C8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 keeps two independent accounts of every structure and files their disagreement.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3063240"/>
            <a:ext cx="5166360" cy="1965960"/>
          </a:xfrm>
          <a:prstGeom prst="rect">
            <a:avLst/>
          </a:prstGeom>
          <a:solidFill>
            <a:srgbClr val="FAF8F4"/>
          </a:solidFill>
          <a:ln w="9525">
            <a:solidFill>
              <a:srgbClr val="FAF8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3063240"/>
            <a:ext cx="5166360" cy="384048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31272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PAPER WITNESS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institution believes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91363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ratings 0–9, thirty-four years of filings, maintenance and construction history — every human judgement quarantined here.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3063240"/>
            <a:ext cx="5166360" cy="1965960"/>
          </a:xfrm>
          <a:prstGeom prst="rect">
            <a:avLst/>
          </a:prstGeom>
          <a:solidFill>
            <a:srgbClr val="FAF8F4"/>
          </a:solidFill>
          <a:ln w="9525">
            <a:solidFill>
              <a:srgbClr val="FAF8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3063240"/>
            <a:ext cx="5166360" cy="384048"/>
          </a:xfrm>
          <a:prstGeom prst="rect">
            <a:avLst/>
          </a:prstGeom>
          <a:solidFill>
            <a:srgbClr val="3A5C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91072" y="31272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PHYSICS WITNESS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91072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evidence shows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391363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traffic and truck load, structural form, and real freeze–thaw and flood exposure. It is never shown a single inspector’s opinion.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two stop agreeing, the machine files a dissent: a dated obligation with the evidence attached.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federal record to a dated obligation.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18488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E0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550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8424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234,801 inspection filings across 4 states parsed into one trajectory per structure.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618488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E0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16550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98424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features joined per asset: age, works history, traffic, form, and real ERA5 weather exposure.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191256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E0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278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RE-INSPECT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557016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gradient-boosted model predicts the rating from physics alone. Trained only to 2015; everything after is unseen.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191256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E0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32278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CALIBRATE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557016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Split-conformal intervals: every verdict ships with ±1.4 rating steps of honest uncertainty.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764024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E0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8006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DISSENT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12978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channels: the record claims better than evidence; the gap is accelerating; physics alone says the asset is severe.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4764024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E0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48006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512978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to real capacity — 12 mandatory, 24 scheduled, 48 watched per quarter.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60350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installed hardware. Every input is free and public.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PROOF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Flagged 9 years before the record caught up.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544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3"/>
              </a:lnSpc>
              <a:buNone/>
            </a:pPr>
            <a:r>
              <a:rPr lang="en-US" sz="145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Vermont structure 101412003714121: the official rating fell from 8 to 3 in 2025. The model, frozen at 2015 and blind to everything after, had it inside the top-15% alert budget 9 years earlier — and kept it there every year since.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2377440"/>
          <a:ext cx="74523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2377440"/>
            <a:ext cx="29260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49640" y="2606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yrs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108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 TIME BEFORE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RECORD MOVED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37398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→ 3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42428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RECORD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 FILED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48737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5376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THE PAPERWORK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CAUGHT UP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60533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federal data. The model never saw a single post-2018 filing.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ON THE FUTURE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hid the answers, then checked.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54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1,835 "the record was forced to catch up" events were mined from the trajectories: sudden drops of two or more rating steps, or closures. The 166 that happen after 2018 are pure holdout — the model was frozen in 2015 and never saw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514600"/>
            <a:ext cx="1978762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514600"/>
            <a:ext cx="1978762" cy="82296"/>
          </a:xfrm>
          <a:prstGeom prst="rect">
            <a:avLst/>
          </a:prstGeom>
          <a:solidFill>
            <a:srgbClr val="1620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788920"/>
            <a:ext cx="1704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234,801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20440"/>
            <a:ext cx="17044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INSPECTION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FILINGS AUDITED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74290" y="2514600"/>
            <a:ext cx="1978762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74290" y="2514600"/>
            <a:ext cx="1978762" cy="82296"/>
          </a:xfrm>
          <a:prstGeom prst="rect">
            <a:avLst/>
          </a:prstGeom>
          <a:solidFill>
            <a:srgbClr val="1620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11450" y="2788920"/>
            <a:ext cx="1704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911450" y="3520440"/>
            <a:ext cx="17044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 STEPS OF ERROR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UNSEEN YEARS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54219" y="2514600"/>
            <a:ext cx="1978762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54219" y="2514600"/>
            <a:ext cx="1978762" cy="82296"/>
          </a:xfrm>
          <a:prstGeom prst="rect">
            <a:avLst/>
          </a:prstGeom>
          <a:solidFill>
            <a:srgbClr val="16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91379" y="2788920"/>
            <a:ext cx="1704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091379" y="3520440"/>
            <a:ext cx="17044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CONFORMAL COVERAGE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(TARGET 90%, REPORTED HONESTLY)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134149" y="2514600"/>
            <a:ext cx="1978762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4149" y="2514600"/>
            <a:ext cx="1978762" cy="82296"/>
          </a:xfrm>
          <a:prstGeom prst="rect">
            <a:avLst/>
          </a:prstGeom>
          <a:solidFill>
            <a:srgbClr val="C6283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71309" y="2788920"/>
            <a:ext cx="1704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271309" y="3520440"/>
            <a:ext cx="17044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HELD-OUT FAILURES CAUGHT EARLY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1.5× BETTER THAN CHANCE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314078" y="2514600"/>
            <a:ext cx="1978762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14078" y="2514600"/>
            <a:ext cx="1978762" cy="82296"/>
          </a:xfrm>
          <a:prstGeom prst="rect">
            <a:avLst/>
          </a:prstGeom>
          <a:solidFill>
            <a:srgbClr val="C628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51238" y="2788920"/>
            <a:ext cx="1704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yrs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451238" y="3520440"/>
            <a:ext cx="17044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WARNING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THE RECORD MOVED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4360" y="4663440"/>
            <a:ext cx="10698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8006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62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an alert budget, not an accuracy score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120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flags everything catches everything and helps nobody. Ours is scored the way an inspection team actually works: a fixed number of alerts per quarter, and we count only the real failures that fall inside it.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rockia/Downloads/dissent/pitch/national_map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822960"/>
            <a:ext cx="12188952" cy="5486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3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9436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5029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8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rated bridge in the United States, on one screen.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0F173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59344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621,137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63733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STRUCTURES PLOTTED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59344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6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41,319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63733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RATED POOR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59344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9,765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63733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AUDITED IN DEPTH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961120" y="59344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 MB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0" y="63733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BACKEND REQUIRED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IS NEW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else waits for one signal to get loud.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698480" cy="384048"/>
          </a:xfrm>
          <a:prstGeom prst="rect">
            <a:avLst/>
          </a:prstGeom>
          <a:solidFill>
            <a:srgbClr val="1620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" y="16733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APPROACH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593592" y="16733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DOES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3560552" y="16733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STOPS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1984248"/>
            <a:ext cx="1069848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" y="21671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monitoring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1671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on one bridge, alarms on a threshold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21671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per channel; almost nothing is instrumented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2953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screening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9535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Millimetre ground movement, delivered as reports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159752" y="29535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modality, and no owner for the finding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557016"/>
            <a:ext cx="1069848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8952" y="37398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37398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cohorts by age and material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159752" y="37398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an individual asset drift between inspections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4526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AI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593592" y="4526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on inspection photographs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59752" y="4526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the inspector’s verdict as ground truth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5358384"/>
            <a:ext cx="10698480" cy="1371600"/>
          </a:xfrm>
          <a:prstGeom prst="rect">
            <a:avLst/>
          </a:prstGeom>
          <a:solidFill>
            <a:srgbClr val="16204A"/>
          </a:solidFill>
          <a:ln w="9525">
            <a:solidFill>
              <a:srgbClr val="1620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5229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DISSENT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888736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the record itself, on 100% of an inventory, with zero installed hardware — and its output is a calibrated contradiction with a dated obligation attached, not another dashboard.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CANNOT 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limits, stated before you ask.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1663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abstains rather than guess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2860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newer than five years sit outside the model’s training support, so it issues no verdict on them at all — 81 of them in Rhode Island alone.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1663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is reported, not tuned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27648" y="22860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conformal intervals cover 89% of unseen cases against a 90% target. We report the shortfall rather than retune on the test years.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657600"/>
            <a:ext cx="51663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failures have no precursor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42519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scour in a flood, or a construction-phase error on a structure too young to have a record, is invisible to any method built on filings.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657600"/>
            <a:ext cx="51663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7648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satellite channel is not in this pilot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42519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processed radar covers these states, so the replay demonstrates that detector on a published record instead — and cites the paper that disputes it.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806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tool that audits records has to be auditable itself.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72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fixed inspection workforce,</a:t>
            </a:r>
            <a:endParaRPr lang="en-US" sz="3400" dirty="0"/>
          </a:p>
          <a:p>
            <a:pPr indent="0" marL="0">
              <a:lnSpc>
                <a:spcPts val="3672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pointed at the right bridges.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2651760"/>
            <a:ext cx="3291840" cy="1371600"/>
          </a:xfrm>
          <a:prstGeom prst="rect">
            <a:avLst/>
          </a:prstGeom>
          <a:solidFill>
            <a:srgbClr val="FAF8F4"/>
          </a:solidFill>
          <a:ln w="9525">
            <a:solidFill>
              <a:srgbClr val="FAF8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730 days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TODAY: THE AVERAGE GAP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 LOOKS AT A STRUCTURE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51960" y="2651760"/>
            <a:ext cx="3291840" cy="1371600"/>
          </a:xfrm>
          <a:prstGeom prst="rect">
            <a:avLst/>
          </a:prstGeom>
          <a:solidFill>
            <a:srgbClr val="FAF8F4"/>
          </a:solidFill>
          <a:ln w="9525">
            <a:solidFill>
              <a:srgbClr val="FAF8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6–12 days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DISSENT: THE CADENCE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A FREE SATELLITE REVISIT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909560" y="2651760"/>
            <a:ext cx="3291840" cy="1371600"/>
          </a:xfrm>
          <a:prstGeom prst="rect">
            <a:avLst/>
          </a:prstGeom>
          <a:solidFill>
            <a:srgbClr val="FAF8F4"/>
          </a:solidFill>
          <a:ln w="9525">
            <a:solidFill>
              <a:srgbClr val="FAF8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244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$0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MARGINAL COST PER STRUCTURE: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A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INPUT IS PUBLIC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251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3"/>
              </a:lnSpc>
              <a:buNone/>
            </a:pPr>
            <a:r>
              <a:rPr lang="en-US" sz="1450" dirty="0">
                <a:solidFill>
                  <a:srgbClr val="C8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county with five bridges and one engineer gets the same second opinion as a national railway, because there is nothing to install and nothing to buy.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5029200"/>
            <a:ext cx="10698480" cy="1234440"/>
          </a:xfrm>
          <a:prstGeom prst="rect">
            <a:avLst/>
          </a:prstGeom>
          <a:solidFill>
            <a:srgbClr val="0F1738"/>
          </a:solidFill>
          <a:ln w="9525">
            <a:solidFill>
              <a:srgbClr val="0F17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1663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4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JURISDICTION: INDIA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4681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8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IBMS already inventories 172,517 National Highway structures on the same 0–9 idea, and MoRTH’s nationwide digital re-survey is creating exactly the fresh paper baseline this method audits. Morbi — 135 dead, four days after a renovation nobody checked against the physical bridge — is the failure mode, precisely.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508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72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does not fail silently.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331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E46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fails contradicted. DISSENT is the machine that files the dissent.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LIVE CONSOLE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dissent-nexus.netlify.app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SOURCE CODE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github.com/ArockiaRajamanickam/dissent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54112" y="5440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NEXUS NETWORK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54112" y="57790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OF CSE (CYBER SECURITY)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6172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234,801 REAL FILINGS  ·  621,137 STRUCTURES MAPPED  ·  NOT ONE INVENTED NUMBER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DISSENT: the machine second opinion</dc:title>
  <dc:subject>PptxGenJS Presentation</dc:subject>
  <dc:creator>Team Nexus Network</dc:creator>
  <cp:lastModifiedBy>Team Nexus Network</cp:lastModifiedBy>
  <cp:revision>1</cp:revision>
  <dcterms:created xsi:type="dcterms:W3CDTF">2026-08-26T14:45:48Z</dcterms:created>
  <dcterms:modified xsi:type="dcterms:W3CDTF">2026-08-26T14:45:48Z</dcterms:modified>
</cp:coreProperties>
</file>