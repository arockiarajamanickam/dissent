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Official record</c:v>
                </c:pt>
              </c:strCache>
            </c:strRef>
          </c:tx>
          <c:spPr>
            <a:solidFill>
              <a:srgbClr val="16204A"/>
            </a:solidFill>
            <a:ln w="38100" cap="flat">
              <a:solidFill>
                <a:srgbClr val="16204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6204A"/>
              </a:solidFill>
              <a:ln w="9525" cap="flat">
                <a:solidFill>
                  <a:srgbClr val="16204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2005</c:v>
                  </c:pt>
                  <c:pt idx="1">
                    <c:v>2006</c:v>
                  </c:pt>
                  <c:pt idx="2">
                    <c:v>2007</c:v>
                  </c:pt>
                  <c:pt idx="3">
                    <c:v>2008</c:v>
                  </c:pt>
                  <c:pt idx="4">
                    <c:v>2009</c:v>
                  </c:pt>
                  <c:pt idx="5">
                    <c:v>2010</c:v>
                  </c:pt>
                  <c:pt idx="6">
                    <c:v>2011</c:v>
                  </c:pt>
                  <c:pt idx="7">
                    <c:v>2012</c:v>
                  </c:pt>
                  <c:pt idx="8">
                    <c:v>2013</c:v>
                  </c:pt>
                  <c:pt idx="9">
                    <c:v>2014</c:v>
                  </c:pt>
                  <c:pt idx="10">
                    <c:v>2015</c:v>
                  </c:pt>
                  <c:pt idx="11">
                    <c:v>2016</c:v>
                  </c:pt>
                  <c:pt idx="12">
                    <c:v>2017</c:v>
                  </c:pt>
                  <c:pt idx="13">
                    <c:v>2018</c:v>
                  </c:pt>
                  <c:pt idx="14">
                    <c:v>2019</c:v>
                  </c:pt>
                  <c:pt idx="15">
                    <c:v>2020</c:v>
                  </c:pt>
                  <c:pt idx="16">
                    <c:v>2021</c:v>
                  </c:pt>
                  <c:pt idx="17">
                    <c:v>2022</c:v>
                  </c:pt>
                  <c:pt idx="18">
                    <c:v>2023</c:v>
                  </c:pt>
                  <c:pt idx="19">
                    <c:v>2024</c:v>
                  </c:pt>
                  <c:pt idx="20">
                    <c:v>2025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5</c:v>
                </c:pt>
                <c:pt idx="1">
                  <c:v>6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4</c:v>
                </c:pt>
                <c:pt idx="6">
                  <c:v>4</c:v>
                </c:pt>
                <c:pt idx="7">
                  <c:v>4</c:v>
                </c:pt>
                <c:pt idx="8">
                  <c:v>4</c:v>
                </c:pt>
                <c:pt idx="9">
                  <c:v>7</c:v>
                </c:pt>
                <c:pt idx="10">
                  <c:v>7</c:v>
                </c:pt>
                <c:pt idx="11">
                  <c:v>7</c:v>
                </c:pt>
                <c:pt idx="12">
                  <c:v>7</c:v>
                </c:pt>
                <c:pt idx="13">
                  <c:v>7</c:v>
                </c:pt>
                <c:pt idx="14">
                  <c:v>7</c:v>
                </c:pt>
                <c:pt idx="15">
                  <c:v>8</c:v>
                </c:pt>
                <c:pt idx="16">
                  <c:v>8</c:v>
                </c:pt>
                <c:pt idx="17">
                  <c:v>8</c:v>
                </c:pt>
                <c:pt idx="18">
                  <c:v>8</c:v>
                </c:pt>
                <c:pt idx="19">
                  <c:v/>
                </c:pt>
                <c:pt idx="20">
                  <c:v>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Physics witness</c:v>
                </c:pt>
              </c:strCache>
            </c:strRef>
          </c:tx>
          <c:spPr>
            <a:solidFill>
              <a:srgbClr val="3A5CA8"/>
            </a:solidFill>
            <a:ln w="38100" cap="flat">
              <a:solidFill>
                <a:srgbClr val="3A5C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A5CA8"/>
              </a:solidFill>
              <a:ln w="9525" cap="flat">
                <a:solidFill>
                  <a:srgbClr val="3A5C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2005</c:v>
                  </c:pt>
                  <c:pt idx="1">
                    <c:v>2006</c:v>
                  </c:pt>
                  <c:pt idx="2">
                    <c:v>2007</c:v>
                  </c:pt>
                  <c:pt idx="3">
                    <c:v>2008</c:v>
                  </c:pt>
                  <c:pt idx="4">
                    <c:v>2009</c:v>
                  </c:pt>
                  <c:pt idx="5">
                    <c:v>2010</c:v>
                  </c:pt>
                  <c:pt idx="6">
                    <c:v>2011</c:v>
                  </c:pt>
                  <c:pt idx="7">
                    <c:v>2012</c:v>
                  </c:pt>
                  <c:pt idx="8">
                    <c:v>2013</c:v>
                  </c:pt>
                  <c:pt idx="9">
                    <c:v>2014</c:v>
                  </c:pt>
                  <c:pt idx="10">
                    <c:v>2015</c:v>
                  </c:pt>
                  <c:pt idx="11">
                    <c:v>2016</c:v>
                  </c:pt>
                  <c:pt idx="12">
                    <c:v>2017</c:v>
                  </c:pt>
                  <c:pt idx="13">
                    <c:v>2018</c:v>
                  </c:pt>
                  <c:pt idx="14">
                    <c:v>2019</c:v>
                  </c:pt>
                  <c:pt idx="15">
                    <c:v>2020</c:v>
                  </c:pt>
                  <c:pt idx="16">
                    <c:v>2021</c:v>
                  </c:pt>
                  <c:pt idx="17">
                    <c:v>2022</c:v>
                  </c:pt>
                  <c:pt idx="18">
                    <c:v>2023</c:v>
                  </c:pt>
                  <c:pt idx="19">
                    <c:v>2024</c:v>
                  </c:pt>
                  <c:pt idx="20">
                    <c:v>2025</c:v>
                  </c:pt>
                </c:lvl>
              </c:multiLvlStrCache>
            </c:multiLvl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5.34</c:v>
                </c:pt>
                <c:pt idx="1">
                  <c:v>5.33</c:v>
                </c:pt>
                <c:pt idx="2">
                  <c:v>5.53</c:v>
                </c:pt>
                <c:pt idx="3">
                  <c:v>5.41</c:v>
                </c:pt>
                <c:pt idx="4">
                  <c:v>5.5</c:v>
                </c:pt>
                <c:pt idx="5">
                  <c:v>5.69</c:v>
                </c:pt>
                <c:pt idx="6">
                  <c:v>5.82</c:v>
                </c:pt>
                <c:pt idx="7">
                  <c:v>5.99</c:v>
                </c:pt>
                <c:pt idx="8">
                  <c:v>6.04</c:v>
                </c:pt>
                <c:pt idx="9">
                  <c:v>6.03</c:v>
                </c:pt>
                <c:pt idx="10">
                  <c:v>6.03</c:v>
                </c:pt>
                <c:pt idx="11">
                  <c:v>5.95</c:v>
                </c:pt>
                <c:pt idx="12">
                  <c:v>5.95</c:v>
                </c:pt>
                <c:pt idx="13">
                  <c:v>5.48</c:v>
                </c:pt>
                <c:pt idx="14">
                  <c:v>5.98</c:v>
                </c:pt>
                <c:pt idx="15">
                  <c:v>5.97</c:v>
                </c:pt>
                <c:pt idx="16">
                  <c:v>6.16</c:v>
                </c:pt>
                <c:pt idx="17">
                  <c:v>6.21</c:v>
                </c:pt>
                <c:pt idx="18">
                  <c:v>5.83</c:v>
                </c:pt>
                <c:pt idx="19">
                  <c:v/>
                </c:pt>
                <c:pt idx="20">
                  <c:v>6.11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A7088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2"/>
        </c:scaling>
        <c:delete val="0"/>
        <c:axPos val="l"/>
        <c:majorGridlines>
          <c:spPr>
            <a:ln w="12700" cap="flat">
              <a:solidFill>
                <a:srgbClr val="E4E0D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A7088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/>
        </a:solidFill>
        <a:ln w="9525" cap="flat">
          <a:solidFill>
            <a:srgbClr val="D9D5C9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A7088"/>
              </a:solidFill>
              <a:latin typeface="Courier New"/>
              <a:cs typeface="Courier New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cold: "Every dot on this map is a real bridge in the federal record. 41,000 of them are rated poor. Tonight I am going to show you the ones whose paperwork is lying."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gap. Inspections are slow, the record is coarse, and hardware does not scale. Nobody owns the disagreement between the file and the physical asset.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read all six. Pick Morandi and Surfside: satellite evidence existed in both, published, before the collapse. The pattern is the product thesis.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one sentence to land. Two witnesses, one never sees the other. The product is the disagreement, not another risk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 fast here. The point of step 3 is the time-split: frozen at 2015, judged on years it never saw. Step 6 is what makes it operational rather than academic.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flat black line: that is the official record, unchanged for years. The blue line is physics. The gap is the product. This case is one of 38 the frozen model caught early.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a technical judge will interrogate. Frozen model, pure holdout, budgeted alerts. Do NOT claim we beat the naive baseline outright: on raw count it catches 40 of 166 and we catch 38. Claim the true and stronger thing: on the 108 failures where the record still read fine, worst-first found 0 and we found 25. Against a rating-matched blind pick we run 1.338x. Coverage is reported below target because we refuse to retune on test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Show, do not tell. This is the live map in the app: the whole national inventory rendered client-side from a 9.9 MB binary. Red is poor condition. It traces the road network because that is where bridges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differentiator in one line: everyone else measures the asset. We audit the paperwork against the asset. That is a different product category.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Judges trust teams that volunteer limits. Say plainly: we abstain, we report our shortfall, and we cite the paper that disagrees with our own showcase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loop to home. India has the record and is refreshing it right now. Morbi is the Indian Surfside: the renovation paperwork was never audited against the physical cables.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line, then stop talking: "Every number you have seen tonight is downloadable from the federal government. We did not simulate a single bridge." Then open the live console.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22024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79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22024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79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rockia/Downloads/dissent/pitch/national_map.png">    </p:cNvPr>
          <p:cNvPicPr>
            <a:picLocks noChangeAspect="1"/>
          </p:cNvPicPr>
          <p:nvPr/>
        </p:nvPicPr>
        <p:blipFill>
          <a:blip r:embed="rId1">
            <a:alphaModFix amt="72000"/>
          </a:blip>
          <a:stretch>
            <a:fillRect/>
          </a:stretch>
        </p:blipFill>
        <p:spPr>
          <a:xfrm>
            <a:off x="0" y="502920"/>
            <a:ext cx="12188952" cy="665683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F1738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806440"/>
            <a:ext cx="12188952" cy="1051560"/>
          </a:xfrm>
          <a:prstGeom prst="rect">
            <a:avLst/>
          </a:prstGeom>
          <a:solidFill>
            <a:srgbClr val="0F1738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spc="120" kern="0" dirty="0">
                <a:solidFill>
                  <a:srgbClr val="8A9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INNOVATION CHALLENGE 2026   |   ROUND 3: AI EVOLUTION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658368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DISSENT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5870448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machine second opinion on America’s bridges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6327648"/>
            <a:ext cx="5669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spc="120" kern="0" dirty="0">
                <a:solidFill>
                  <a:srgbClr val="8A9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621,137 STRUCTURES  ·  41,319 RATED POOR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394192" y="5989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 NEXUS NETWORK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754112" y="632764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spc="120" kern="0" dirty="0">
                <a:solidFill>
                  <a:srgbClr val="8A9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DEPT. OF CSE (CYBER SECURITY)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22024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79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2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spc="120" kern="0" dirty="0">
                <a:solidFill>
                  <a:srgbClr val="E460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86868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32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bridge does not fail</a:t>
            </a:r>
            <a:endParaRPr lang="en-US" sz="4000" dirty="0"/>
          </a:p>
          <a:p>
            <a:pPr indent="0" marL="0">
              <a:lnSpc>
                <a:spcPts val="432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day it becomes unsafe.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269748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65"/>
              </a:lnSpc>
              <a:buNone/>
            </a:pPr>
            <a:r>
              <a:rPr lang="en-US" sz="1700" dirty="0">
                <a:solidFill>
                  <a:srgbClr val="C8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fails the day the paperwork and the physical bridge stop agreeing, and nobody is looking at both.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37033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700" b="1" dirty="0">
                <a:solidFill>
                  <a:srgbClr val="E46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months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3739896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C8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routine inspections, so a defect born the day after one waits a year on average to be seen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463600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700" b="1" dirty="0">
                <a:solidFill>
                  <a:srgbClr val="E46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0–9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4672584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C8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coarse, inspector-subjective condition scale is the entire official record of a structure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5568696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700" b="1" dirty="0">
                <a:solidFill>
                  <a:srgbClr val="E46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20%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56052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C8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world’s long-span bridges carry any monitoring hardware at all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22024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79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spc="120" kern="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FORENSIC RECORD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77240"/>
            <a:ext cx="11000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every collapse, the warning already existed.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6002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3"/>
              </a:lnSpc>
              <a:buNone/>
            </a:pPr>
            <a:r>
              <a:rPr lang="en-US" sz="1450" dirty="0">
                <a:solidFill>
                  <a:srgbClr val="6A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of the eight documented failures we studied, across three continents. In each one the evidence was on file, in time to act, and belonged to nobody.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94360" y="2240280"/>
            <a:ext cx="33832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5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8658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Morandi Bridge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1576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GENOA, ITALY  ·  14 AUG 2018  ·  43 DEAD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953512"/>
            <a:ext cx="303580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satellite radar scatterer on the deck beside the failed pier accelerated from about 10 to 70 mm/yr starting March 2017, seventeen months before collapse (Milillo et al. 2019; contested by Lanari et al. 2020).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251960" y="2240280"/>
            <a:ext cx="33832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5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34840" y="238658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I-35W Mississippi River Bridge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434840" y="271576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MINNEAPOLIS, USA  ·  1 AUG 2007  ·  13 DEAD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2953512"/>
            <a:ext cx="303580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photographs from 1999 and 2003 already showed visibly bowed gusset plates (NTSB HAR-08/03).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909560" y="2240280"/>
            <a:ext cx="33832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5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92440" y="238658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FIU pedestrian bridge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271576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MIAMI, USA  ·  15 MAR 2018  ·  6 DEAD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092440" y="2953512"/>
            <a:ext cx="303580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Rapidly growing structural cracks, photographed and discussed by the engineer of record in the days before failure.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4360" y="4297680"/>
            <a:ext cx="33832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5C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444398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Champlain Towers South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77316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SURFSIDE, USA  ·  24 JUN 2021  ·  98 DEAD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5010912"/>
            <a:ext cx="303580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satellite study published in 2020 had identified the site subsiding by about 2 mm/yr in the 1990s (Fiaschi and Wdowinski); a 2018 engineering report documented major structural damage.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251960" y="4297680"/>
            <a:ext cx="33832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5C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34840" y="444398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Morbi suspension footbridge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434840" y="477316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GUJARAT, INDIA  ·  30 OCT 2022  ·  135 DEAD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4434840" y="5010912"/>
            <a:ext cx="303580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Reopened four days after a renovation that never replaced or load-tested the original main cables; the inquiry later found 22 of the 49 wires in the failed cable already corroded.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909560" y="4297680"/>
            <a:ext cx="33832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5C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92440" y="444398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Carola Bridge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8092440" y="477316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DRESDEN, GERMANY  ·  11 SEP 2024  ·  0 DEAD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8092440" y="5010912"/>
            <a:ext cx="303580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hydrogen-induced corrosion of the prestressing steel, progressing for decades inside the one deck not yet refurbished (Marx report, TU Dresden).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22024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3AC9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spc="120" kern="0" dirty="0">
                <a:solidFill>
                  <a:srgbClr val="E460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IDEA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8686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88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Infrastructure does not fail silently.</a:t>
            </a:r>
            <a:endParaRPr lang="en-US" sz="3600" dirty="0"/>
          </a:p>
          <a:p>
            <a:pPr indent="0" marL="0">
              <a:lnSpc>
                <a:spcPts val="3888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fails contradicted.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2331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C8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DISSENT keeps two independent accounts of every structure and files their disagreement.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94360" y="3063240"/>
            <a:ext cx="5166360" cy="1965960"/>
          </a:xfrm>
          <a:prstGeom prst="rect">
            <a:avLst/>
          </a:prstGeom>
          <a:solidFill>
            <a:srgbClr val="FAF8F4"/>
          </a:solidFill>
          <a:ln w="9525">
            <a:solidFill>
              <a:srgbClr val="FAF8F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3063240"/>
            <a:ext cx="5166360" cy="384048"/>
          </a:xfrm>
          <a:prstGeom prst="rect">
            <a:avLst/>
          </a:prstGeom>
          <a:solidFill>
            <a:srgbClr val="8A64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58952" y="312724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PAPER WITNESS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5661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institution believes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58952" y="38404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ratings 0–9, thirty-four years of filings, maintenance and construction history. Every human judgement is quarantined here.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0" y="3063240"/>
            <a:ext cx="5166360" cy="1965960"/>
          </a:xfrm>
          <a:prstGeom prst="rect">
            <a:avLst/>
          </a:prstGeom>
          <a:solidFill>
            <a:srgbClr val="FAF8F4"/>
          </a:solidFill>
          <a:ln w="9525">
            <a:solidFill>
              <a:srgbClr val="FAF8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26480" y="3063240"/>
            <a:ext cx="5166360" cy="384048"/>
          </a:xfrm>
          <a:prstGeom prst="rect">
            <a:avLst/>
          </a:prstGeom>
          <a:solidFill>
            <a:srgbClr val="3A5CA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91072" y="312724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PHYSICS WITNESS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291072" y="35661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evidence shows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291072" y="38404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traffic and truck load, structural form, and real freeze–thaw and flood exposure. It is never shown a single inspector’s opinion.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 two stop agreeing, the machine files a dissent: a dated obligation with the evidence attached.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22024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79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spc="120" kern="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77240"/>
            <a:ext cx="11000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0"/>
              </a:lnSpc>
              <a:buNone/>
            </a:pPr>
            <a:r>
              <a:rPr lang="en-US" sz="30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federal record to a dated obligation.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618488"/>
            <a:ext cx="658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BA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5506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96596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234,801 inspection filings across 4 states parsed into one trajectory per structure.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126480" y="1618488"/>
            <a:ext cx="658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BA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6858000" y="165506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196596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features joined per asset: age, works history, traffic, form, and real ERA5 weather exposure.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191256"/>
            <a:ext cx="658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BA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22783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RE-INSPECT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53872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gradient-boosted model predicts the rating from physics alone. Trained only to 2015; everything after is unseen.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3191256"/>
            <a:ext cx="658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BA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322783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CALIBRATE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353872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Split-conformal intervals: every verdict ships with ±1.4 rating steps of honest uncertainty.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64024"/>
            <a:ext cx="658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BA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80060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DISSENT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111496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channels: the record claims better than evidence; the gap is accelerating; physics alone says the asset is severe.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126480" y="4764024"/>
            <a:ext cx="658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BA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0" y="480060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DOCKET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5111496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to real capacity: 12 mandatory, 24 scheduled, 48 watched per quarter.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603504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installed hardware. Every input is free and public.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22024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3AC9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spc="120" kern="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PROOF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77240"/>
            <a:ext cx="11000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0"/>
              </a:lnSpc>
              <a:buNone/>
            </a:pPr>
            <a:r>
              <a:rPr lang="en-US" sz="30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Flagged 9 years before the record caught up.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544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3"/>
              </a:lnSpc>
              <a:buNone/>
            </a:pPr>
            <a:r>
              <a:rPr lang="en-US" sz="145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Vermont structure 101412003714121: the official rating fell from 8 to 3 in 2025. The model, frozen at 2015 and blind to everything after, had it inside the top-15% alert budget 9 years earlier, and kept it there every year since.</a:t>
            </a:r>
            <a:endParaRPr lang="en-US" sz="14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94360" y="2377440"/>
          <a:ext cx="745236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366760" y="2377440"/>
            <a:ext cx="292608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5C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49640" y="26060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6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yrs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1089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LEAD TIME BEFORE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RECORD MOVED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373989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→ 3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2428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THE RECORD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FINALLY FILED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487375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8549640" y="537667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YEAR THE PAPERWORK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CAUGHT UP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605332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federal data. The model never saw a single post-2018 filing.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22024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3AC9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spc="120" kern="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 ON THE FUTURE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77240"/>
            <a:ext cx="11000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hid the answers, then checked.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544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1,835 “the record was forced to catch up” events were mined from the trajectories: sudden drops of two or more rating steps, or closures. The 166 that happen after 2018 are pure holdout: the model was frozen in 2015 and never saw them.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" y="2514600"/>
            <a:ext cx="1978762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5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2514600"/>
            <a:ext cx="1978762" cy="82296"/>
          </a:xfrm>
          <a:prstGeom prst="rect">
            <a:avLst/>
          </a:prstGeom>
          <a:solidFill>
            <a:srgbClr val="1620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788920"/>
            <a:ext cx="17044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234,801</a:t>
            </a:r>
            <a:endParaRPr lang="en-US" sz="2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310128"/>
            <a:ext cx="170444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INSPECTION</a:t>
            </a:r>
            <a:endParaRPr lang="en-US" sz="80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FILINGS AUDITED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74290" y="2514600"/>
            <a:ext cx="1978762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5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74290" y="2514600"/>
            <a:ext cx="1978762" cy="82296"/>
          </a:xfrm>
          <a:prstGeom prst="rect">
            <a:avLst/>
          </a:prstGeom>
          <a:solidFill>
            <a:srgbClr val="1620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11450" y="2788920"/>
            <a:ext cx="17044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2911450" y="3310128"/>
            <a:ext cx="170444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RATING STEPS OF ERROR</a:t>
            </a:r>
            <a:endParaRPr lang="en-US" sz="80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UNSEEN YEARS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954219" y="2514600"/>
            <a:ext cx="1978762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5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54219" y="2514600"/>
            <a:ext cx="1978762" cy="82296"/>
          </a:xfrm>
          <a:prstGeom prst="rect">
            <a:avLst/>
          </a:prstGeom>
          <a:solidFill>
            <a:srgbClr val="1620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091379" y="2788920"/>
            <a:ext cx="17044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89%</a:t>
            </a:r>
            <a:endParaRPr lang="en-US" sz="2300" dirty="0"/>
          </a:p>
        </p:txBody>
      </p:sp>
      <p:sp>
        <p:nvSpPr>
          <p:cNvPr id="16" name="Text 14"/>
          <p:cNvSpPr txBox="1"/>
          <p:nvPr/>
        </p:nvSpPr>
        <p:spPr>
          <a:xfrm>
            <a:off x="5091379" y="3310128"/>
            <a:ext cx="170444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CONFORMAL COVERAGE</a:t>
            </a:r>
            <a:endParaRPr lang="en-US" sz="80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(TARGET 90%, REPORTED HONESTLY)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7134149" y="2514600"/>
            <a:ext cx="1978762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5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4149" y="2514600"/>
            <a:ext cx="1978762" cy="82296"/>
          </a:xfrm>
          <a:prstGeom prst="rect">
            <a:avLst/>
          </a:prstGeom>
          <a:solidFill>
            <a:srgbClr val="C6283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271309" y="2788920"/>
            <a:ext cx="17044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6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23%</a:t>
            </a:r>
            <a:endParaRPr lang="en-US" sz="2300" dirty="0"/>
          </a:p>
        </p:txBody>
      </p:sp>
      <p:sp>
        <p:nvSpPr>
          <p:cNvPr id="20" name="Text 18"/>
          <p:cNvSpPr txBox="1"/>
          <p:nvPr/>
        </p:nvSpPr>
        <p:spPr>
          <a:xfrm>
            <a:off x="7271309" y="3310128"/>
            <a:ext cx="170444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 HELD-OUT FAILURES CAUGHT EARLY</a:t>
            </a:r>
            <a:endParaRPr lang="en-US" sz="80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1.34× A RATING-MATCHED PICK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9314078" y="2514600"/>
            <a:ext cx="1978762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5C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314078" y="2514600"/>
            <a:ext cx="1978762" cy="82296"/>
          </a:xfrm>
          <a:prstGeom prst="rect">
            <a:avLst/>
          </a:prstGeom>
          <a:solidFill>
            <a:srgbClr val="C6283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451238" y="2788920"/>
            <a:ext cx="17044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6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3.5 yrs</a:t>
            </a:r>
            <a:endParaRPr lang="en-US" sz="2300" dirty="0"/>
          </a:p>
        </p:txBody>
      </p:sp>
      <p:sp>
        <p:nvSpPr>
          <p:cNvPr id="24" name="Text 22"/>
          <p:cNvSpPr txBox="1"/>
          <p:nvPr/>
        </p:nvSpPr>
        <p:spPr>
          <a:xfrm>
            <a:off x="9451238" y="3310128"/>
            <a:ext cx="170444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MEDIAN WARNING</a:t>
            </a:r>
            <a:endParaRPr lang="en-US" sz="80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THE RECORD MOVED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94360" y="4617720"/>
            <a:ext cx="1069848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2960" y="4736592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162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“Why not just sort by the worst recorded rating?”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22960" y="50292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it can only ever point at bridges you already worry about. Of the 166 held-out failures, 58 were on structures the record already called bad — worst-first finds 40 of those, because that ranking is nearly a definition of the answer. The other 108 were on structures the paperwork still called fine.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7909560" y="4992624"/>
            <a:ext cx="3337560" cy="1097280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074152" y="50749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THE 108 FAILURES THE RECORD STILL CALLED FINE</a:t>
            </a:r>
            <a:endParaRPr lang="en-US" sz="750" dirty="0"/>
          </a:p>
        </p:txBody>
      </p:sp>
      <p:sp>
        <p:nvSpPr>
          <p:cNvPr id="30" name="Text 28"/>
          <p:cNvSpPr txBox="1"/>
          <p:nvPr/>
        </p:nvSpPr>
        <p:spPr>
          <a:xfrm>
            <a:off x="8074152" y="535838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2100" b="1" dirty="0">
                <a:solidFill>
                  <a:srgbClr val="6A70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pPr indent="0" marL="0">
              <a:lnSpc>
                <a:spcPts val="1900"/>
              </a:lnSpc>
              <a:buNone/>
            </a:pPr>
            <a:r>
              <a:rPr lang="en-US" sz="85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found by worst-first
</a:t>
            </a:r>
            <a:pPr indent="0" marL="0">
              <a:lnSpc>
                <a:spcPts val="1900"/>
              </a:lnSpc>
              <a:buNone/>
            </a:pPr>
            <a:r>
              <a:rPr lang="en-US" sz="2100" b="1" dirty="0">
                <a:solidFill>
                  <a:srgbClr val="C6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pPr indent="0" marL="0">
              <a:lnSpc>
                <a:spcPts val="1900"/>
              </a:lnSpc>
              <a:buNone/>
            </a:pPr>
            <a:r>
              <a:rPr lang="en-US" sz="85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found by dissent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22024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3AC9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rockia/Downloads/dissent/pitch/national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2768" y="896112"/>
            <a:ext cx="9034272" cy="49377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F1738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94360" y="457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spc="120" kern="0" dirty="0">
                <a:solidFill>
                  <a:srgbClr val="E460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SCALE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7772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8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rated bridge in the United States, on one screen.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0" y="5806440"/>
            <a:ext cx="12188952" cy="1051560"/>
          </a:xfrm>
          <a:prstGeom prst="rect">
            <a:avLst/>
          </a:prstGeom>
          <a:solidFill>
            <a:srgbClr val="0F173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94360" y="5934456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621,137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6373368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80" kern="0" dirty="0">
                <a:solidFill>
                  <a:srgbClr val="8A9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STRUCTURES PLOTTED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5934456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46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41,319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3383280" y="6373368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80" kern="0" dirty="0">
                <a:solidFill>
                  <a:srgbClr val="8A9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RATED POOR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6172200" y="5934456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9,765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6373368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80" kern="0" dirty="0">
                <a:solidFill>
                  <a:srgbClr val="8A9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AUDITED IN DEPTH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8961120" y="5934456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9.9 MB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961120" y="6373368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80" kern="0" dirty="0">
                <a:solidFill>
                  <a:srgbClr val="8A9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BACKEND REQUIRED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22024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79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spc="120" kern="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THIS IS NEW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77240"/>
            <a:ext cx="11000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0"/>
              </a:lnSpc>
              <a:buNone/>
            </a:pPr>
            <a:r>
              <a:rPr lang="en-US" sz="30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else waits for one signal to get loud.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600200"/>
            <a:ext cx="10698480" cy="384048"/>
          </a:xfrm>
          <a:prstGeom prst="rect">
            <a:avLst/>
          </a:prstGeom>
          <a:solidFill>
            <a:srgbClr val="1620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58952" y="16733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APPROACH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3593592" y="16733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DOES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159752" y="16733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IT STOPS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94360" y="1984248"/>
            <a:ext cx="10698480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58952" y="216712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monitoring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593592" y="216712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on one bridge, alarms on a threshold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159752" y="216712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A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per channel; almost nothing is instrumented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58952" y="28986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screening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593592" y="289864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Millimetre ground movement, delivered as reports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159752" y="289864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A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modality, and no owner for the finding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94360" y="3447288"/>
            <a:ext cx="10698480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58952" y="3630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models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593592" y="363016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cohorts by age and material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159752" y="363016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A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see an individual asset drift between inspections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58952" y="43616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AI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593592" y="436168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on inspection photographs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159752" y="436168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A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Inherits the inspector’s verdict as ground truth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94360" y="5166360"/>
            <a:ext cx="10698480" cy="1234440"/>
          </a:xfrm>
          <a:prstGeom prst="rect">
            <a:avLst/>
          </a:prstGeom>
          <a:solidFill>
            <a:srgbClr val="16204A"/>
          </a:solidFill>
          <a:ln w="9525">
            <a:solidFill>
              <a:srgbClr val="16204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53309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DISSENT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569671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Audits the record itself, on 100% of an inventory, with zero installed hardware. Its output is a calibrated contradiction with a dated obligation attached, not another dashboard.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22024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3AC9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spc="120" kern="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CANNOT DO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77240"/>
            <a:ext cx="11000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0"/>
              </a:lnSpc>
              <a:buNone/>
            </a:pPr>
            <a:r>
              <a:rPr lang="en-US" sz="30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limits, stated before you ask.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516636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5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18745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abstains rather than guess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2258568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Structures newer than five years sit outside the model’s training support, so it issues no verdict on them at all: 81 of them in Rhode Island alone.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26480" y="1691640"/>
            <a:ext cx="516636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5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27648" y="18745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Coverage is reported, not tuned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327648" y="2258568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conformal intervals cover 89% of unseen cases against a 90% target. We report the shortfall rather than retune on the test years.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3657600"/>
            <a:ext cx="516636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5C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38404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Some failures have no precursor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4224528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scour in a flood, or a construction-phase error on a structure too young to have a record, is invisible to any method built on filings.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0" y="3657600"/>
            <a:ext cx="516636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5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27648" y="38404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satellite channel is not in this pilot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327648" y="4224528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free processed radar covers these states, so the replay demonstrates that detector against a published finding instead, and cites the paper that disputes it.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58064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tool that audits records has to be auditable itself.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22024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3AC9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spc="120" kern="0" dirty="0">
                <a:solidFill>
                  <a:srgbClr val="E460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 MATTERS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868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72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fixed inspection workforce,</a:t>
            </a:r>
            <a:endParaRPr lang="en-US" sz="3400" dirty="0"/>
          </a:p>
          <a:p>
            <a:pPr indent="0" marL="0">
              <a:lnSpc>
                <a:spcPts val="3672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pointed at the right bridges.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2651760"/>
            <a:ext cx="3322015" cy="1371600"/>
          </a:xfrm>
          <a:prstGeom prst="rect">
            <a:avLst/>
          </a:prstGeom>
          <a:solidFill>
            <a:srgbClr val="FAF8F4"/>
          </a:solidFill>
          <a:ln w="9525">
            <a:solidFill>
              <a:srgbClr val="FAF8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730 days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27355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TODAY: THE AVERAGE GAP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BETWEEN LOOKS AT A STRUCTURE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282135" y="2651760"/>
            <a:ext cx="3322015" cy="1371600"/>
          </a:xfrm>
          <a:prstGeom prst="rect">
            <a:avLst/>
          </a:prstGeom>
          <a:solidFill>
            <a:srgbClr val="FAF8F4"/>
          </a:solidFill>
          <a:ln w="9525">
            <a:solidFill>
              <a:srgbClr val="FAF8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65015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C6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6–12 days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4465015" y="327355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DISSENT: THE CADENCE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 A FREE SATELLITE REVISIT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7969910" y="2651760"/>
            <a:ext cx="3322015" cy="1371600"/>
          </a:xfrm>
          <a:prstGeom prst="rect">
            <a:avLst/>
          </a:prstGeom>
          <a:solidFill>
            <a:srgbClr val="FAF8F4"/>
          </a:solidFill>
          <a:ln w="9525">
            <a:solidFill>
              <a:srgbClr val="FAF8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5279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$0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8152790" y="327355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MARGINAL COST PER STRUCTURE: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INPUT IS PUBLIC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2519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3"/>
              </a:lnSpc>
              <a:buNone/>
            </a:pPr>
            <a:r>
              <a:rPr lang="en-US" sz="1450" dirty="0">
                <a:solidFill>
                  <a:srgbClr val="C8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county with five bridges and one engineer gets the same second opinion as a national railway, because there is nothing to install and nothing to buy.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94360" y="5029200"/>
            <a:ext cx="10698480" cy="1234440"/>
          </a:xfrm>
          <a:prstGeom prst="rect">
            <a:avLst/>
          </a:prstGeom>
          <a:solidFill>
            <a:srgbClr val="1E2A5C"/>
          </a:solidFill>
          <a:ln w="9525">
            <a:solidFill>
              <a:srgbClr val="1E2A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166360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460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 JURISDICTION: INDIA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46811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8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IBMS already inventories 172,517 National Highway structures on the same 0–9 idea, and MoRTH’s nationwide digital re-survey is creating exactly the fresh paper baseline this method audits. Morbi, 135 dead four days after a renovation nobody checked against the physical bridge, is that failure mode precisely.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22024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79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150876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72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Infrastructure does not fail silently.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23317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46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fails contradicted. DISSENT files that contradiction.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35661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8A9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LIVE CONSOLE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3840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dissent-nexus.netlify.app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4348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8A9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SOURCE CODE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4709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github.com/ArockiaRajamanickam/dissent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7754112" y="54406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 NEXUS NETWORK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54112" y="577900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spc="120" kern="0" dirty="0">
                <a:solidFill>
                  <a:srgbClr val="8A9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DEPARTMENT OF CSE (CYBER SECURITY)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61722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spc="120" kern="0" dirty="0">
                <a:solidFill>
                  <a:srgbClr val="8A9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234,801 REAL FILINGS  ·  621,137 STRUCTURES MAPPED  ·  NOT ONE INVENTED NUMBER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22024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79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DISSENT: the machine second opinion</dc:title>
  <dc:subject>PptxGenJS Presentation</dc:subject>
  <dc:creator>Team Nexus Network</dc:creator>
  <cp:lastModifiedBy>Team Nexus Network</cp:lastModifiedBy>
  <cp:revision>1</cp:revision>
  <dcterms:created xsi:type="dcterms:W3CDTF">2026-08-26T17:08:30Z</dcterms:created>
  <dcterms:modified xsi:type="dcterms:W3CDTF">2026-08-26T17:08:30Z</dcterms:modified>
</cp:coreProperties>
</file>